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369" r:id="rId2"/>
    <p:sldId id="406" r:id="rId3"/>
    <p:sldId id="407" r:id="rId4"/>
    <p:sldId id="408" r:id="rId5"/>
    <p:sldId id="410" r:id="rId6"/>
    <p:sldId id="409" r:id="rId7"/>
    <p:sldId id="432" r:id="rId8"/>
    <p:sldId id="415" r:id="rId9"/>
    <p:sldId id="430" r:id="rId10"/>
    <p:sldId id="428" r:id="rId11"/>
    <p:sldId id="429" r:id="rId12"/>
    <p:sldId id="412" r:id="rId13"/>
    <p:sldId id="414" r:id="rId14"/>
    <p:sldId id="411" r:id="rId15"/>
    <p:sldId id="418" r:id="rId16"/>
    <p:sldId id="419" r:id="rId17"/>
    <p:sldId id="413" r:id="rId18"/>
    <p:sldId id="417" r:id="rId19"/>
    <p:sldId id="420" r:id="rId20"/>
    <p:sldId id="424" r:id="rId21"/>
    <p:sldId id="421" r:id="rId22"/>
    <p:sldId id="422" r:id="rId23"/>
    <p:sldId id="423" r:id="rId24"/>
    <p:sldId id="425" r:id="rId25"/>
    <p:sldId id="426" r:id="rId26"/>
    <p:sldId id="427" r:id="rId27"/>
    <p:sldId id="431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54410" autoAdjust="0"/>
  </p:normalViewPr>
  <p:slideViewPr>
    <p:cSldViewPr snapToGrid="0">
      <p:cViewPr varScale="1">
        <p:scale>
          <a:sx n="63" d="100"/>
          <a:sy n="63" d="100"/>
        </p:scale>
        <p:origin x="2394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F340BA-A4A6-4B62-8E9A-2963793F1190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9E370C-008A-4A95-8FB8-7E2DBDE87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1017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E370C-008A-4A95-8FB8-7E2DBDE87C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8033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E370C-008A-4A95-8FB8-7E2DBDE87C9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6793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E370C-008A-4A95-8FB8-7E2DBDE87C9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1541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E370C-008A-4A95-8FB8-7E2DBDE87C9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6486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dirty="0"/>
          </a:p>
          <a:p>
            <a:pPr rtl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E370C-008A-4A95-8FB8-7E2DBDE87C9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6203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E370C-008A-4A95-8FB8-7E2DBDE87C9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4915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E370C-008A-4A95-8FB8-7E2DBDE87C9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1667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E370C-008A-4A95-8FB8-7E2DBDE87C9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022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E370C-008A-4A95-8FB8-7E2DBDE87C9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5653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E370C-008A-4A95-8FB8-7E2DBDE87C9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9217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E370C-008A-4A95-8FB8-7E2DBDE87C9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8477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E370C-008A-4A95-8FB8-7E2DBDE87C9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0758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E370C-008A-4A95-8FB8-7E2DBDE87C9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0731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E370C-008A-4A95-8FB8-7E2DBDE87C9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9217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E370C-008A-4A95-8FB8-7E2DBDE87C9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7644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E370C-008A-4A95-8FB8-7E2DBDE87C9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3504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E370C-008A-4A95-8FB8-7E2DBDE87C9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7019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E370C-008A-4A95-8FB8-7E2DBDE87C9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19803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E370C-008A-4A95-8FB8-7E2DBDE87C9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5558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E370C-008A-4A95-8FB8-7E2DBDE87C9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68888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E370C-008A-4A95-8FB8-7E2DBDE87C9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05838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E370C-008A-4A95-8FB8-7E2DBDE87C9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7605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55178-9412-A36A-63B8-D90329C16ED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-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1DEC2D-175B-6C03-DD10-798192449AC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  <a:endParaRPr lang="-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53A404-0BCA-53EF-A564-9E58B02EFBA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A3AFD2B-C5A7-4CA5-80AB-AF172CE58927}" type="datetime1">
              <a:rPr lang="-"/>
              <a:pPr lvl="0"/>
              <a:t>1/30/2025</a:t>
            </a:fld>
            <a:endParaRPr lang="-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2FE164-F2A8-E303-C741-4AFAA292F4F7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-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C16687-4758-EEC7-07D5-45425114401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3701ECD-7B56-4D5C-A592-647910CAF3E4}" type="slidenum">
              <a:t>‹#›</a:t>
            </a:fld>
            <a:endParaRPr lang="-"/>
          </a:p>
        </p:txBody>
      </p:sp>
    </p:spTree>
    <p:extLst>
      <p:ext uri="{BB962C8B-B14F-4D97-AF65-F5344CB8AC3E}">
        <p14:creationId xmlns:p14="http://schemas.microsoft.com/office/powerpoint/2010/main" val="1629830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938A4-8070-4277-BCD3-81B1E1438B7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-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87FB8D-5066-8415-B1F5-C9FD96B48E1B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-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FB367F-3B69-073F-D484-A5246623671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8CF1134-2455-4816-9EA1-16E48E9AE121}" type="datetime1">
              <a:rPr lang="-"/>
              <a:pPr lvl="0"/>
              <a:t>1/30/2025</a:t>
            </a:fld>
            <a:endParaRPr lang="-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46B30A-E185-E788-C9A8-3D797B9DE4B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-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E6D5EF-FCAE-4E17-FF20-6E360E496F5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3A0D4A8-D7C0-4228-9DD7-5607BFFBDAB0}" type="slidenum">
              <a:t>‹#›</a:t>
            </a:fld>
            <a:endParaRPr lang="-"/>
          </a:p>
        </p:txBody>
      </p:sp>
    </p:spTree>
    <p:extLst>
      <p:ext uri="{BB962C8B-B14F-4D97-AF65-F5344CB8AC3E}">
        <p14:creationId xmlns:p14="http://schemas.microsoft.com/office/powerpoint/2010/main" val="350986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0E5F3-535C-74C3-9EF7-29A865945F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-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2D247E-1485-0900-C42E-2C78F626A9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BD8CFE-2121-B6C8-82D2-5E0A05A0091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60A5074-BF05-4AAE-8A44-7D7BFEA6691D}" type="datetime1">
              <a:rPr lang="-"/>
              <a:pPr lvl="0"/>
              <a:t>1/30/2025</a:t>
            </a:fld>
            <a:endParaRPr lang="-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FDBF15-BB7D-9A45-F393-56CA5AF5FAB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-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983E34-5617-4A7E-0C63-BF192D464A5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28E16B0-4938-48C9-8A78-8A700CE513C6}" type="slidenum">
              <a:t>‹#›</a:t>
            </a:fld>
            <a:endParaRPr lang="-"/>
          </a:p>
        </p:txBody>
      </p:sp>
    </p:spTree>
    <p:extLst>
      <p:ext uri="{BB962C8B-B14F-4D97-AF65-F5344CB8AC3E}">
        <p14:creationId xmlns:p14="http://schemas.microsoft.com/office/powerpoint/2010/main" val="903884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208D5-6516-68D3-7917-4E31DDA34757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-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EA371-4313-D611-14BB-8C2A85ED2A77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-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DAC0C1-DFBC-2FF6-8C5F-23D7AD33B1C2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-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AAEF70-E293-EA80-A1B5-70758938605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23E531E-FE1E-4792-ACA2-2FDE04151342}" type="datetime1">
              <a:rPr lang="-"/>
              <a:pPr lvl="0"/>
              <a:t>1/30/2025</a:t>
            </a:fld>
            <a:endParaRPr lang="-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3285D9-93D3-C06D-BF2F-3CB401FA8F2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-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BD4239-C500-D79D-E7E4-B4AD787EC97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FDC3340-3468-44D3-A0E9-C05B2A53CC86}" type="slidenum">
              <a:t>‹#›</a:t>
            </a:fld>
            <a:endParaRPr lang="-"/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A7509C73-6BF5-836E-4F35-1B76A3F38B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D3EB9B6D-9528-1C27-BBCB-CD6265B3F04B}"/>
              </a:ext>
            </a:extLst>
          </p:cNvPr>
          <p:cNvSpPr txBox="1">
            <a:spLocks/>
          </p:cNvSpPr>
          <p:nvPr userDrawn="1"/>
        </p:nvSpPr>
        <p:spPr>
          <a:xfrm>
            <a:off x="643472" y="623392"/>
            <a:ext cx="3363977" cy="1607058"/>
          </a:xfrm>
          <a:prstGeom prst="rect">
            <a:avLst/>
          </a:prstGeom>
          <a:noFill/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vert="horz" wrap="square" lIns="91440" tIns="45720" rIns="91440" bIns="45720" anchor="ctr" anchorCtr="1" compatLnSpc="1">
            <a:normAutofit/>
          </a:bodyPr>
          <a:lstStyle>
            <a:lvl1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4400" b="0" i="0" u="none" strike="noStrike" kern="1200" cap="none" spc="0" baseline="0">
                <a:solidFill>
                  <a:srgbClr val="000000"/>
                </a:solidFill>
                <a:uFillTx/>
                <a:latin typeface="Calibri Light"/>
              </a:defRPr>
            </a:lvl1pPr>
          </a:lstStyle>
          <a:p>
            <a:pPr algn="ctr"/>
            <a:r>
              <a:rPr lang="en-US" sz="2800" dirty="0"/>
              <a:t> </a:t>
            </a:r>
            <a:r>
              <a:rPr lang="en-US" sz="2800" dirty="0">
                <a:latin typeface="Aptos Display"/>
              </a:rPr>
              <a:t>Iostream</a:t>
            </a:r>
          </a:p>
        </p:txBody>
      </p:sp>
    </p:spTree>
    <p:extLst>
      <p:ext uri="{BB962C8B-B14F-4D97-AF65-F5344CB8AC3E}">
        <p14:creationId xmlns:p14="http://schemas.microsoft.com/office/powerpoint/2010/main" val="263277451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2AE27-8DA0-7988-D412-BBA713BE2C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-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4A8995-7AFC-8041-453F-35FEA924E8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0857AF-8BE7-8DD2-A9D6-20AF4FFE2CFA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-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DD484C-CF58-2D9A-8A15-B45BA427ADB5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78D96B-DBA8-4D98-C035-10B8C669DE4F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-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EE8FB3-E465-33AF-70B3-FE4DFA782CD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72E426C-CF8E-4FD1-8C5F-1B6435DC126B}" type="datetime1">
              <a:rPr lang="-"/>
              <a:pPr lvl="0"/>
              <a:t>1/30/2025</a:t>
            </a:fld>
            <a:endParaRPr lang="-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B39B23-56D0-8171-E3B5-2095AE1776E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-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740C05-8DCC-28D9-023A-351FECBAF03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A3D682B-EC5F-449D-801D-C70BB8E0037E}" type="slidenum">
              <a:t>‹#›</a:t>
            </a:fld>
            <a:endParaRPr lang="-"/>
          </a:p>
        </p:txBody>
      </p:sp>
    </p:spTree>
    <p:extLst>
      <p:ext uri="{BB962C8B-B14F-4D97-AF65-F5344CB8AC3E}">
        <p14:creationId xmlns:p14="http://schemas.microsoft.com/office/powerpoint/2010/main" val="3258116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F75C1-6721-932A-FE42-93A54EC9F5B6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-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0B4D7A-6590-0E56-DE67-D45E101CBEB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6F0F782-BB4B-4AB1-BA48-1E5CD87DFAA4}" type="datetime1">
              <a:rPr lang="-"/>
              <a:pPr lvl="0"/>
              <a:t>1/30/2025</a:t>
            </a:fld>
            <a:endParaRPr lang="-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673216-B359-8115-20D2-63A214EB523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-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262C5A-0B9C-E168-6555-B78F75C4193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CEE1F0C-2E72-4E7D-9A00-D4E66D6F24B3}" type="slidenum">
              <a:t>‹#›</a:t>
            </a:fld>
            <a:endParaRPr lang="-"/>
          </a:p>
        </p:txBody>
      </p:sp>
    </p:spTree>
    <p:extLst>
      <p:ext uri="{BB962C8B-B14F-4D97-AF65-F5344CB8AC3E}">
        <p14:creationId xmlns:p14="http://schemas.microsoft.com/office/powerpoint/2010/main" val="2177631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906F9A-D967-1C62-BAAE-C6DEF5109ED3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9A62B6C-6DD8-46F4-ACC0-555BE497C716}" type="datetime1">
              <a:rPr lang="-"/>
              <a:pPr lvl="0"/>
              <a:t>1/30/2025</a:t>
            </a:fld>
            <a:endParaRPr lang="-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9D664F-7494-BF2B-41DD-D43337304E03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-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5E44DD-9F72-24FE-4D2B-EF1387CFC29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64843C4-D3F4-478E-B8C9-03546B9E8B59}" type="slidenum">
              <a:t>‹#›</a:t>
            </a:fld>
            <a:endParaRPr lang="-"/>
          </a:p>
        </p:txBody>
      </p:sp>
    </p:spTree>
    <p:extLst>
      <p:ext uri="{BB962C8B-B14F-4D97-AF65-F5344CB8AC3E}">
        <p14:creationId xmlns:p14="http://schemas.microsoft.com/office/powerpoint/2010/main" val="4029494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0A1C0-66EC-0F2F-ED19-56675122F1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-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B8635-F11A-E777-EAB6-5603EDAA8B2B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-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786442-5FC0-CB1D-C857-AAD7ED58B111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C91F80-B5D8-B200-C69C-6D92B705C68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721A70A-A8A4-48F6-AD98-F9228E14A338}" type="datetime1">
              <a:rPr lang="-"/>
              <a:pPr lvl="0"/>
              <a:t>1/30/2025</a:t>
            </a:fld>
            <a:endParaRPr lang="-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0BD3E3-51B8-B07E-E0FE-021252190E67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-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9FCE06-03FD-C903-7102-5E40D9A7612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AA7648E-7F5C-44EF-9D93-7E25EEC5EEEA}" type="slidenum">
              <a:t>‹#›</a:t>
            </a:fld>
            <a:endParaRPr lang="-"/>
          </a:p>
        </p:txBody>
      </p:sp>
    </p:spTree>
    <p:extLst>
      <p:ext uri="{BB962C8B-B14F-4D97-AF65-F5344CB8AC3E}">
        <p14:creationId xmlns:p14="http://schemas.microsoft.com/office/powerpoint/2010/main" val="2387430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B9FBE-87DC-E973-DB69-148E7D4CC1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-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57C4D4-E86B-870B-F930-3BB23F25418C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lang="-" sz="3200"/>
            </a:lvl1pPr>
          </a:lstStyle>
          <a:p>
            <a:pPr lvl="0"/>
            <a:endParaRPr lang="-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E210D9-1C94-83DB-98F1-648E17711506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63236C-2E8A-5E70-4464-E8020A581C93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999090A-6D78-4E71-A54B-BDCD6FB7B149}" type="datetime1">
              <a:rPr lang="-"/>
              <a:pPr lvl="0"/>
              <a:t>1/30/2025</a:t>
            </a:fld>
            <a:endParaRPr lang="-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935CF5-0814-D363-7711-D281198B90F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-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080902-863F-8BF1-F399-52ADA16FA4D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D8AFD22-7088-48A6-A1F6-4D958E6580CF}" type="slidenum">
              <a:t>‹#›</a:t>
            </a:fld>
            <a:endParaRPr lang="-"/>
          </a:p>
        </p:txBody>
      </p:sp>
    </p:spTree>
    <p:extLst>
      <p:ext uri="{BB962C8B-B14F-4D97-AF65-F5344CB8AC3E}">
        <p14:creationId xmlns:p14="http://schemas.microsoft.com/office/powerpoint/2010/main" val="4244968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1E12-B2DB-B677-0BD0-FAB32C8EFA14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-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CBC625-E7B9-9DD0-0787-FEBD01037C79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-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29929F-541D-96D8-5E3A-42FC013E4DD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AD90431-E18B-45DC-8E94-82E2DE1BA2B0}" type="datetime1">
              <a:rPr lang="-"/>
              <a:pPr lvl="0"/>
              <a:t>1/30/2025</a:t>
            </a:fld>
            <a:endParaRPr lang="-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B0C981-60FB-46EB-43AD-1FBC126A823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-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429288-8939-77E2-FB4E-05FBA4720A8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CF7B106-610C-4B1A-B12F-A9DD865EFC3B}" type="slidenum">
              <a:t>‹#›</a:t>
            </a:fld>
            <a:endParaRPr lang="-"/>
          </a:p>
        </p:txBody>
      </p:sp>
    </p:spTree>
    <p:extLst>
      <p:ext uri="{BB962C8B-B14F-4D97-AF65-F5344CB8AC3E}">
        <p14:creationId xmlns:p14="http://schemas.microsoft.com/office/powerpoint/2010/main" val="663994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005A46-458D-2AE1-20D4-D29A01E9D6CB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-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FFE385-7F5E-BD41-A7F1-DCCAF79D537E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-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C7B4FC-609E-8096-12E3-2FFED032565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31DE32E-84CF-4F49-BCD4-6EA239275F10}" type="datetime1">
              <a:rPr lang="-"/>
              <a:pPr lvl="0"/>
              <a:t>1/30/2025</a:t>
            </a:fld>
            <a:endParaRPr lang="-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EB1718-2464-08F0-D727-2D21CB6123D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-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D50266-4FA4-80D6-C6C9-373F22C8CD6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5DD673B-E603-40C6-8B72-9CCD5EE7753B}" type="slidenum">
              <a:t>‹#›</a:t>
            </a:fld>
            <a:endParaRPr lang="-"/>
          </a:p>
        </p:txBody>
      </p:sp>
    </p:spTree>
    <p:extLst>
      <p:ext uri="{BB962C8B-B14F-4D97-AF65-F5344CB8AC3E}">
        <p14:creationId xmlns:p14="http://schemas.microsoft.com/office/powerpoint/2010/main" val="1789153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8CFF6B-8190-5049-36D7-234CC87F2A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-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B26C16-13A4-CAB7-4568-B81A2D1639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-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250ACB-01B2-A632-C5A1-0BEAEDF894F4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-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FC5E9202-4821-441E-9788-871B6BB11989}" type="datetime1">
              <a:rPr lang="-"/>
              <a:pPr lvl="0"/>
              <a:t>1/30/2025</a:t>
            </a:fld>
            <a:endParaRPr lang="-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682CBB-330A-5DE1-E60C-B9FCB7E6D547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-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-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8BCEDF-B02C-DD9B-AB42-F222A0D9E8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-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E455E22C-86AE-4FFE-A19A-BF2CA97CF721}" type="slidenum">
              <a:t>‹#›</a:t>
            </a:fld>
            <a:endParaRPr lang="-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Calibri Light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28D23F5-66D3-231A-9038-380E435DC30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43472" y="2399056"/>
            <a:ext cx="3363977" cy="3415622"/>
          </a:xfrm>
        </p:spPr>
        <p:txBody>
          <a:bodyPr/>
          <a:lstStyle/>
          <a:p>
            <a:pPr marL="0" lvl="0" indent="0">
              <a:buNone/>
            </a:pPr>
            <a:endParaRPr lang="en-US" sz="4400" b="1" dirty="0"/>
          </a:p>
          <a:p>
            <a:pPr marL="0" lvl="0" indent="0">
              <a:buNone/>
            </a:pPr>
            <a:endParaRPr lang="en-US" sz="4400" b="1" dirty="0"/>
          </a:p>
          <a:p>
            <a:pPr lvl="0"/>
            <a:endParaRPr lang="en-US" sz="4400" b="1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E003A6FF-15C2-3D3C-070E-06F6A2A720D9}"/>
              </a:ext>
            </a:extLst>
          </p:cNvPr>
          <p:cNvPicPr>
            <a:picLocks noGrp="1" noChangeAspect="1"/>
          </p:cNvPicPr>
          <p:nvPr>
            <p:ph idx="2"/>
          </p:nvPr>
        </p:nvPicPr>
        <p:blipFill>
          <a:blip r:embed="rId3"/>
          <a:stretch>
            <a:fillRect/>
          </a:stretch>
        </p:blipFill>
        <p:spPr>
          <a:xfrm>
            <a:off x="4520682" y="3093634"/>
            <a:ext cx="5181603" cy="2026465"/>
          </a:xfrm>
        </p:spPr>
      </p:pic>
      <p:cxnSp>
        <p:nvCxnSpPr>
          <p:cNvPr id="2" name="Straight Connector 9">
            <a:extLst>
              <a:ext uri="{FF2B5EF4-FFF2-40B4-BE49-F238E27FC236}">
                <a16:creationId xmlns:a16="http://schemas.microsoft.com/office/drawing/2014/main" id="{E3CA8FCF-698B-139B-1BA4-34C4A87CD0EE}"/>
              </a:ext>
            </a:extLst>
          </p:cNvPr>
          <p:cNvCxnSpPr/>
          <p:nvPr/>
        </p:nvCxnSpPr>
        <p:spPr>
          <a:xfrm>
            <a:off x="4079165" y="2253794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5" name="Straight Connector 12">
            <a:extLst>
              <a:ext uri="{FF2B5EF4-FFF2-40B4-BE49-F238E27FC236}">
                <a16:creationId xmlns:a16="http://schemas.microsoft.com/office/drawing/2014/main" id="{97CE9E53-6AB6-B8B9-9D90-D8EC50AB266E}"/>
              </a:ext>
            </a:extLst>
          </p:cNvPr>
          <p:cNvCxnSpPr/>
          <p:nvPr/>
        </p:nvCxnSpPr>
        <p:spPr>
          <a:xfrm>
            <a:off x="4201411" y="6059929"/>
            <a:ext cx="6585125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7D48283-1C22-8BDD-712C-C33951570D41}"/>
              </a:ext>
            </a:extLst>
          </p:cNvPr>
          <p:cNvSpPr/>
          <p:nvPr/>
        </p:nvSpPr>
        <p:spPr>
          <a:xfrm>
            <a:off x="1302562" y="3429000"/>
            <a:ext cx="2373325" cy="46166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latin typeface="Aptos" panose="020B0004020202020204" pitchFamily="34" charset="0"/>
                <a:cs typeface="Aparajita" panose="020B0502040204020203" pitchFamily="18" charset="0"/>
              </a:rPr>
              <a:t>Iostream</a:t>
            </a:r>
            <a:r>
              <a:rPr lang="en-US" sz="2400" b="0" i="0" u="none" strike="noStrike" kern="1200" cap="none" spc="0" baseline="0" dirty="0">
                <a:solidFill>
                  <a:srgbClr val="000000"/>
                </a:solidFill>
                <a:uFillTx/>
                <a:latin typeface="Aptos Display"/>
              </a:rPr>
              <a:t> </a:t>
            </a:r>
            <a:endParaRPr lang="en-US" sz="2400" b="0" i="0" u="none" strike="noStrike" kern="1200" cap="none" spc="0" baseline="0" dirty="0">
              <a:solidFill>
                <a:srgbClr val="0D0D0D"/>
              </a:solidFill>
              <a:highlight>
                <a:srgbClr val="FFFFFF"/>
              </a:highlight>
              <a:uFillTx/>
              <a:latin typeface="ui-sans-serif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2">
            <a:extLst>
              <a:ext uri="{FF2B5EF4-FFF2-40B4-BE49-F238E27FC236}">
                <a16:creationId xmlns:a16="http://schemas.microsoft.com/office/drawing/2014/main" id="{93CAE9E0-BB1A-C667-C9E8-4523636DEF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9165" y="2894798"/>
            <a:ext cx="6601081" cy="2524128"/>
          </a:xfrm>
          <a:prstGeom prst="rect">
            <a:avLst/>
          </a:prstGeom>
          <a:noFill/>
          <a:ln w="9528" cap="flat">
            <a:solidFill>
              <a:srgbClr val="002060"/>
            </a:solidFill>
            <a:prstDash val="solid"/>
            <a:miter/>
          </a:ln>
        </p:spPr>
      </p:pic>
      <p:cxnSp>
        <p:nvCxnSpPr>
          <p:cNvPr id="2" name="Straight Connector 9">
            <a:extLst>
              <a:ext uri="{FF2B5EF4-FFF2-40B4-BE49-F238E27FC236}">
                <a16:creationId xmlns:a16="http://schemas.microsoft.com/office/drawing/2014/main" id="{AE34FD9A-2FF2-4E56-CD8D-164EDC034FCF}"/>
              </a:ext>
            </a:extLst>
          </p:cNvPr>
          <p:cNvCxnSpPr/>
          <p:nvPr/>
        </p:nvCxnSpPr>
        <p:spPr>
          <a:xfrm>
            <a:off x="4079165" y="2253794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5" name="Straight Connector 12">
            <a:extLst>
              <a:ext uri="{FF2B5EF4-FFF2-40B4-BE49-F238E27FC236}">
                <a16:creationId xmlns:a16="http://schemas.microsoft.com/office/drawing/2014/main" id="{6D512EA1-A243-316D-36C6-4565061D3445}"/>
              </a:ext>
            </a:extLst>
          </p:cNvPr>
          <p:cNvCxnSpPr/>
          <p:nvPr/>
        </p:nvCxnSpPr>
        <p:spPr>
          <a:xfrm>
            <a:off x="4201411" y="6059929"/>
            <a:ext cx="6585125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3" name="TextBox 10">
            <a:extLst>
              <a:ext uri="{FF2B5EF4-FFF2-40B4-BE49-F238E27FC236}">
                <a16:creationId xmlns:a16="http://schemas.microsoft.com/office/drawing/2014/main" id="{2020382A-E0E3-2192-6B60-4E66A8102E78}"/>
              </a:ext>
            </a:extLst>
          </p:cNvPr>
          <p:cNvSpPr txBox="1"/>
          <p:nvPr/>
        </p:nvSpPr>
        <p:spPr>
          <a:xfrm>
            <a:off x="4079165" y="1884468"/>
            <a:ext cx="2393350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1200" cap="none" spc="0" baseline="0" dirty="0">
                <a:solidFill>
                  <a:srgbClr val="E97132"/>
                </a:solidFill>
                <a:uFillTx/>
                <a:latin typeface="Aptos"/>
              </a:rPr>
              <a:t>Streaming Data</a:t>
            </a:r>
            <a:endParaRPr lang="-" sz="1800" b="1" i="0" u="none" strike="noStrike" kern="1200" cap="none" spc="0" baseline="0" dirty="0">
              <a:solidFill>
                <a:srgbClr val="E97132"/>
              </a:solidFill>
              <a:uFillTx/>
              <a:latin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BC4941-CBB8-2B6C-AFE2-724D5490632D}"/>
              </a:ext>
            </a:extLst>
          </p:cNvPr>
          <p:cNvSpPr/>
          <p:nvPr/>
        </p:nvSpPr>
        <p:spPr>
          <a:xfrm>
            <a:off x="1302562" y="3429000"/>
            <a:ext cx="2373325" cy="369332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lvl="0" algn="ctr" hangingPunct="0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Aptos" panose="020B0004020202020204" pitchFamily="34" charset="0"/>
              </a:rPr>
              <a:t>Streaming Data</a:t>
            </a:r>
            <a:endParaRPr lang="-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">
            <a:extLst>
              <a:ext uri="{FF2B5EF4-FFF2-40B4-BE49-F238E27FC236}">
                <a16:creationId xmlns:a16="http://schemas.microsoft.com/office/drawing/2014/main" id="{40D4B956-04CF-0A30-C998-4CCFF1A52267}"/>
              </a:ext>
            </a:extLst>
          </p:cNvPr>
          <p:cNvSpPr txBox="1"/>
          <p:nvPr/>
        </p:nvSpPr>
        <p:spPr>
          <a:xfrm>
            <a:off x="4140150" y="2613109"/>
            <a:ext cx="6749288" cy="3200876"/>
          </a:xfrm>
          <a:prstGeom prst="rect">
            <a:avLst/>
          </a:prstGeom>
          <a:noFill/>
          <a:ln w="9528" cap="flat">
            <a:solidFill>
              <a:srgbClr val="00206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Streaming data </a:t>
            </a: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– a stream is a sequence of data read or written, one item at a time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b="0" i="0" u="none" strike="noStrike" kern="1200" cap="none" spc="0" baseline="0" dirty="0">
              <a:solidFill>
                <a:srgbClr val="000000"/>
              </a:solidFill>
              <a:uFillTx/>
              <a:latin typeface="Aptos" panose="020B0004020202020204" pitchFamily="34" charset="0"/>
            </a:endParaRPr>
          </a:p>
          <a:p>
            <a:pPr marL="742950" marR="0" lvl="1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Blocking: </a:t>
            </a:r>
            <a:r>
              <a:rPr lang="en-US" b="0" i="0" u="none" strike="noStrike" kern="1200" cap="none" spc="0" baseline="0" dirty="0">
                <a:solidFill>
                  <a:srgbClr val="C00000"/>
                </a:solidFill>
                <a:uFillTx/>
                <a:latin typeface="Aptos" panose="020B0004020202020204" pitchFamily="34" charset="0"/>
              </a:rPr>
              <a:t>java.io package </a:t>
            </a:r>
          </a:p>
          <a:p>
            <a:pPr marL="742950" marR="0" lvl="1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 Non-blocking: </a:t>
            </a:r>
            <a:r>
              <a:rPr lang="en-US" b="0" i="0" u="none" strike="noStrike" kern="1200" cap="none" spc="0" baseline="0" dirty="0" err="1">
                <a:solidFill>
                  <a:srgbClr val="C00000"/>
                </a:solidFill>
                <a:uFillTx/>
                <a:latin typeface="Aptos" panose="020B0004020202020204" pitchFamily="34" charset="0"/>
              </a:rPr>
              <a:t>java.nio</a:t>
            </a:r>
            <a:r>
              <a:rPr lang="en-US" b="0" i="0" u="none" strike="noStrike" kern="1200" cap="none" spc="0" baseline="0" dirty="0">
                <a:solidFill>
                  <a:srgbClr val="C00000"/>
                </a:solidFill>
                <a:uFillTx/>
                <a:latin typeface="Aptos" panose="020B0004020202020204" pitchFamily="34" charset="0"/>
              </a:rPr>
              <a:t> package</a:t>
            </a:r>
            <a:endParaRPr lang="en-US" b="0" i="0" u="none" strike="noStrike" kern="1200" cap="none" spc="0" baseline="0" dirty="0">
              <a:solidFill>
                <a:srgbClr val="000000"/>
              </a:solidFill>
              <a:uFillTx/>
              <a:latin typeface="Aptos" panose="020B0004020202020204" pitchFamily="34" charset="0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b="0" i="0" u="none" strike="noStrike" kern="1200" cap="none" spc="0" baseline="0" dirty="0">
              <a:solidFill>
                <a:srgbClr val="000000"/>
              </a:solidFill>
              <a:uFillTx/>
              <a:latin typeface="Aptos" panose="020B0004020202020204" pitchFamily="34" charset="0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b="0" i="0" u="none" strike="noStrike" kern="1200" cap="none" spc="0" baseline="0" dirty="0">
              <a:solidFill>
                <a:srgbClr val="000000"/>
              </a:solidFill>
              <a:uFillTx/>
              <a:latin typeface="Aptos" panose="020B0004020202020204" pitchFamily="34" charset="0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Random access </a:t>
            </a: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– reading and writing data can be done in a non sequential order 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b="0" i="0" u="none" strike="noStrike" kern="1200" cap="none" spc="0" baseline="0" dirty="0">
              <a:solidFill>
                <a:srgbClr val="000000"/>
              </a:solidFill>
              <a:uFillTx/>
              <a:latin typeface="Aptos" panose="020B0004020202020204" pitchFamily="34" charset="0"/>
            </a:endParaRPr>
          </a:p>
          <a:p>
            <a:pPr marL="742950" marR="0" lvl="1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C00000"/>
                </a:solidFill>
                <a:uFillTx/>
                <a:latin typeface="Aptos" panose="020B0004020202020204" pitchFamily="34" charset="0"/>
              </a:rPr>
              <a:t>java.io.RandomAccessFile</a:t>
            </a:r>
            <a:endParaRPr lang="-" b="0" i="0" u="none" strike="noStrike" kern="1200" cap="none" spc="0" baseline="0" dirty="0">
              <a:solidFill>
                <a:srgbClr val="C00000"/>
              </a:solidFill>
              <a:uFillTx/>
              <a:latin typeface="Aptos" panose="020B0004020202020204" pitchFamily="34" charset="0"/>
            </a:endParaRPr>
          </a:p>
        </p:txBody>
      </p:sp>
      <p:cxnSp>
        <p:nvCxnSpPr>
          <p:cNvPr id="2" name="Straight Connector 9">
            <a:extLst>
              <a:ext uri="{FF2B5EF4-FFF2-40B4-BE49-F238E27FC236}">
                <a16:creationId xmlns:a16="http://schemas.microsoft.com/office/drawing/2014/main" id="{5C0571D1-C650-732E-1599-89B82131DD0D}"/>
              </a:ext>
            </a:extLst>
          </p:cNvPr>
          <p:cNvCxnSpPr/>
          <p:nvPr/>
        </p:nvCxnSpPr>
        <p:spPr>
          <a:xfrm>
            <a:off x="4079165" y="2253794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5" name="Straight Connector 12">
            <a:extLst>
              <a:ext uri="{FF2B5EF4-FFF2-40B4-BE49-F238E27FC236}">
                <a16:creationId xmlns:a16="http://schemas.microsoft.com/office/drawing/2014/main" id="{40FF8587-B038-B11C-E771-D211EE0B3F31}"/>
              </a:ext>
            </a:extLst>
          </p:cNvPr>
          <p:cNvCxnSpPr/>
          <p:nvPr/>
        </p:nvCxnSpPr>
        <p:spPr>
          <a:xfrm>
            <a:off x="4095121" y="6259523"/>
            <a:ext cx="6585125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3" name="TextBox 10">
            <a:extLst>
              <a:ext uri="{FF2B5EF4-FFF2-40B4-BE49-F238E27FC236}">
                <a16:creationId xmlns:a16="http://schemas.microsoft.com/office/drawing/2014/main" id="{00D02C14-DC5C-A3A5-F0A1-B156D9CF8A92}"/>
              </a:ext>
            </a:extLst>
          </p:cNvPr>
          <p:cNvSpPr txBox="1"/>
          <p:nvPr/>
        </p:nvSpPr>
        <p:spPr>
          <a:xfrm>
            <a:off x="4079165" y="1884468"/>
            <a:ext cx="4006502" cy="36933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1200" cap="none" spc="0" baseline="0" dirty="0">
                <a:solidFill>
                  <a:srgbClr val="E97132"/>
                </a:solidFill>
                <a:uFillTx/>
                <a:latin typeface="Aptos"/>
              </a:rPr>
              <a:t>Streaming Data VS. Random Access</a:t>
            </a:r>
            <a:endParaRPr lang="-" sz="1800" b="1" i="0" u="none" strike="noStrike" kern="1200" cap="none" spc="0" baseline="0" dirty="0">
              <a:solidFill>
                <a:srgbClr val="E97132"/>
              </a:solidFill>
              <a:uFillTx/>
              <a:latin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F28F6E-5EBC-B959-BB80-15814C924511}"/>
              </a:ext>
            </a:extLst>
          </p:cNvPr>
          <p:cNvSpPr/>
          <p:nvPr/>
        </p:nvSpPr>
        <p:spPr>
          <a:xfrm>
            <a:off x="1244184" y="3429000"/>
            <a:ext cx="2431703" cy="369332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  <a:cs typeface="Aparajita" panose="02020603050405020304" pitchFamily="18" charset="0"/>
              </a:rPr>
              <a:t>Streaming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">
            <a:extLst>
              <a:ext uri="{FF2B5EF4-FFF2-40B4-BE49-F238E27FC236}">
                <a16:creationId xmlns:a16="http://schemas.microsoft.com/office/drawing/2014/main" id="{66CE3371-14E3-8B2D-6B6A-7C7612AC09AD}"/>
              </a:ext>
            </a:extLst>
          </p:cNvPr>
          <p:cNvSpPr txBox="1"/>
          <p:nvPr/>
        </p:nvSpPr>
        <p:spPr>
          <a:xfrm>
            <a:off x="4389470" y="4304968"/>
            <a:ext cx="6490197" cy="1015663"/>
          </a:xfrm>
          <a:prstGeom prst="rect">
            <a:avLst/>
          </a:prstGeom>
          <a:noFill/>
          <a:ln w="9528" cap="flat">
            <a:solidFill>
              <a:srgbClr val="00206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A stream can come to the program from a source or can be generated by the program to a sink. Sources and sinks are both node streams:</a:t>
            </a:r>
            <a:endParaRPr lang="-" sz="2000" b="0" i="0" u="none" strike="noStrike" kern="1200" cap="none" spc="0" baseline="0" dirty="0">
              <a:solidFill>
                <a:srgbClr val="C00000"/>
              </a:solidFill>
              <a:uFillTx/>
              <a:latin typeface="Aptos" panose="020B0004020202020204" pitchFamily="34" charset="0"/>
            </a:endParaRP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B35F22B5-0604-3A11-0BFB-2A5BF3DC07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3610" y="2658329"/>
            <a:ext cx="5800725" cy="1295403"/>
          </a:xfrm>
          <a:prstGeom prst="rect">
            <a:avLst/>
          </a:prstGeom>
          <a:noFill/>
          <a:ln w="25402" cap="sq">
            <a:solidFill>
              <a:srgbClr val="002060"/>
            </a:solidFill>
            <a:prstDash val="solid"/>
            <a:miter/>
          </a:ln>
          <a:effectLst>
            <a:outerShdw dir="16200000" algn="tl">
              <a:srgbClr val="000000">
                <a:alpha val="43000"/>
              </a:srgbClr>
            </a:outerShdw>
          </a:effectLst>
        </p:spPr>
      </p:pic>
      <p:cxnSp>
        <p:nvCxnSpPr>
          <p:cNvPr id="2" name="Straight Connector 9">
            <a:extLst>
              <a:ext uri="{FF2B5EF4-FFF2-40B4-BE49-F238E27FC236}">
                <a16:creationId xmlns:a16="http://schemas.microsoft.com/office/drawing/2014/main" id="{ED296A8B-0A4A-F8B9-6F5F-FBB8D37574F3}"/>
              </a:ext>
            </a:extLst>
          </p:cNvPr>
          <p:cNvCxnSpPr/>
          <p:nvPr/>
        </p:nvCxnSpPr>
        <p:spPr>
          <a:xfrm>
            <a:off x="4079165" y="2253794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6" name="Straight Connector 12">
            <a:extLst>
              <a:ext uri="{FF2B5EF4-FFF2-40B4-BE49-F238E27FC236}">
                <a16:creationId xmlns:a16="http://schemas.microsoft.com/office/drawing/2014/main" id="{C1B00130-6894-C520-F280-36A2541D9D00}"/>
              </a:ext>
            </a:extLst>
          </p:cNvPr>
          <p:cNvCxnSpPr/>
          <p:nvPr/>
        </p:nvCxnSpPr>
        <p:spPr>
          <a:xfrm>
            <a:off x="4201411" y="5861590"/>
            <a:ext cx="6585125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10" name="TextBox 10">
            <a:extLst>
              <a:ext uri="{FF2B5EF4-FFF2-40B4-BE49-F238E27FC236}">
                <a16:creationId xmlns:a16="http://schemas.microsoft.com/office/drawing/2014/main" id="{B7805961-F0C5-9947-3C67-C525DCC6D1C6}"/>
              </a:ext>
            </a:extLst>
          </p:cNvPr>
          <p:cNvSpPr txBox="1"/>
          <p:nvPr/>
        </p:nvSpPr>
        <p:spPr>
          <a:xfrm>
            <a:off x="4079165" y="1884468"/>
            <a:ext cx="2393350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1200" cap="none" spc="0" baseline="0" dirty="0">
                <a:solidFill>
                  <a:srgbClr val="E97132"/>
                </a:solidFill>
                <a:uFillTx/>
                <a:latin typeface="Aptos"/>
              </a:rPr>
              <a:t>Source &amp; Sink</a:t>
            </a:r>
            <a:endParaRPr lang="-" sz="1800" b="1" i="0" u="none" strike="noStrike" kern="1200" cap="none" spc="0" baseline="0" dirty="0">
              <a:solidFill>
                <a:srgbClr val="E97132"/>
              </a:solidFill>
              <a:uFillTx/>
              <a:latin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234DF5-80C1-9F1F-15CD-C5B9FB6F30DD}"/>
              </a:ext>
            </a:extLst>
          </p:cNvPr>
          <p:cNvSpPr/>
          <p:nvPr/>
        </p:nvSpPr>
        <p:spPr>
          <a:xfrm>
            <a:off x="1244184" y="3429000"/>
            <a:ext cx="2431703" cy="369332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  <a:cs typeface="Aparajita" panose="02020603050405020304" pitchFamily="18" charset="0"/>
              </a:rPr>
              <a:t>Streaming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8D34052-04BE-899D-DE5E-26F78F8733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5124" y="2623121"/>
            <a:ext cx="6585122" cy="3684654"/>
          </a:xfrm>
          <a:prstGeom prst="rect">
            <a:avLst/>
          </a:prstGeom>
          <a:noFill/>
          <a:ln w="9528" cap="flat">
            <a:solidFill>
              <a:srgbClr val="002060"/>
            </a:solidFill>
            <a:prstDash val="solid"/>
            <a:miter/>
          </a:ln>
        </p:spPr>
      </p:pic>
      <p:cxnSp>
        <p:nvCxnSpPr>
          <p:cNvPr id="6" name="Straight Connector 9">
            <a:extLst>
              <a:ext uri="{FF2B5EF4-FFF2-40B4-BE49-F238E27FC236}">
                <a16:creationId xmlns:a16="http://schemas.microsoft.com/office/drawing/2014/main" id="{D1AAD737-54FC-2DA9-61DC-15FCED62FF35}"/>
              </a:ext>
            </a:extLst>
          </p:cNvPr>
          <p:cNvCxnSpPr/>
          <p:nvPr/>
        </p:nvCxnSpPr>
        <p:spPr>
          <a:xfrm>
            <a:off x="4079165" y="2253794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7" name="Straight Connector 12">
            <a:extLst>
              <a:ext uri="{FF2B5EF4-FFF2-40B4-BE49-F238E27FC236}">
                <a16:creationId xmlns:a16="http://schemas.microsoft.com/office/drawing/2014/main" id="{9718BAB0-2319-E949-B145-2CC37AF4B57D}"/>
              </a:ext>
            </a:extLst>
          </p:cNvPr>
          <p:cNvCxnSpPr/>
          <p:nvPr/>
        </p:nvCxnSpPr>
        <p:spPr>
          <a:xfrm>
            <a:off x="4087142" y="6709633"/>
            <a:ext cx="6585125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DEDFF3DE-460C-35F1-D139-82B3C7A5C849}"/>
              </a:ext>
            </a:extLst>
          </p:cNvPr>
          <p:cNvSpPr/>
          <p:nvPr/>
        </p:nvSpPr>
        <p:spPr>
          <a:xfrm>
            <a:off x="1302562" y="3429000"/>
            <a:ext cx="2373325" cy="369332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lvl="0" algn="ctr" hangingPunct="0">
              <a:lnSpc>
                <a:spcPct val="100000"/>
              </a:lnSpc>
              <a:spcBef>
                <a:spcPts val="0"/>
              </a:spcBef>
            </a:pPr>
            <a:r>
              <a:rPr lang="-" dirty="0">
                <a:latin typeface="Aptos" panose="020B0004020202020204" pitchFamily="34" charset="0"/>
              </a:rPr>
              <a:t>Streaming Data </a:t>
            </a: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CE107929-716E-6D5D-8613-5750B7C2FC45}"/>
              </a:ext>
            </a:extLst>
          </p:cNvPr>
          <p:cNvSpPr txBox="1"/>
          <p:nvPr/>
        </p:nvSpPr>
        <p:spPr>
          <a:xfrm>
            <a:off x="4079165" y="1884468"/>
            <a:ext cx="2393350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1200" cap="none" spc="0" baseline="0" dirty="0">
                <a:solidFill>
                  <a:srgbClr val="E97132"/>
                </a:solidFill>
                <a:uFillTx/>
                <a:latin typeface="Aptos"/>
              </a:rPr>
              <a:t>IO Stream</a:t>
            </a:r>
            <a:endParaRPr lang="-" sz="1800" b="1" i="0" u="none" strike="noStrike" kern="1200" cap="none" spc="0" baseline="0" dirty="0">
              <a:solidFill>
                <a:srgbClr val="E97132"/>
              </a:solidFill>
              <a:uFillTx/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">
            <a:extLst>
              <a:ext uri="{FF2B5EF4-FFF2-40B4-BE49-F238E27FC236}">
                <a16:creationId xmlns:a16="http://schemas.microsoft.com/office/drawing/2014/main" id="{7C9F0B6E-C9C0-4F4C-A338-36419ED68E07}"/>
              </a:ext>
            </a:extLst>
          </p:cNvPr>
          <p:cNvSpPr txBox="1"/>
          <p:nvPr/>
        </p:nvSpPr>
        <p:spPr>
          <a:xfrm>
            <a:off x="4113579" y="2672120"/>
            <a:ext cx="6402022" cy="830997"/>
          </a:xfrm>
          <a:prstGeom prst="rect">
            <a:avLst/>
          </a:prstGeom>
          <a:noFill/>
          <a:ln w="9528" cap="flat">
            <a:solidFill>
              <a:srgbClr val="00206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The basic abstract classes for the different types of streams are: </a:t>
            </a:r>
            <a:endParaRPr lang="-" sz="2400" b="0" i="0" u="none" strike="noStrike" kern="1200" cap="none" spc="0" baseline="0" dirty="0">
              <a:solidFill>
                <a:srgbClr val="C00000"/>
              </a:solidFill>
              <a:uFillTx/>
              <a:latin typeface="Calibri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835AF39E-F431-DDCB-3A2C-4AAE6B7671A4}"/>
              </a:ext>
            </a:extLst>
          </p:cNvPr>
          <p:cNvSpPr txBox="1"/>
          <p:nvPr/>
        </p:nvSpPr>
        <p:spPr>
          <a:xfrm>
            <a:off x="4158653" y="3921443"/>
            <a:ext cx="2587380" cy="1015663"/>
          </a:xfrm>
          <a:prstGeom prst="rect">
            <a:avLst/>
          </a:prstGeom>
          <a:noFill/>
          <a:ln w="9528" cap="flat">
            <a:solidFill>
              <a:srgbClr val="00206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Character streams: </a:t>
            </a:r>
          </a:p>
          <a:p>
            <a:pPr marL="457200" marR="0" lvl="0" indent="-4572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Reader</a:t>
            </a:r>
          </a:p>
          <a:p>
            <a:pPr marL="457200" marR="0" lvl="0" indent="-4572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Writer</a:t>
            </a:r>
            <a:endParaRPr lang="-" sz="2000" b="0" i="0" u="none" strike="noStrike" kern="1200" cap="none" spc="0" baseline="0" dirty="0">
              <a:solidFill>
                <a:srgbClr val="000000"/>
              </a:solidFill>
              <a:uFillTx/>
              <a:latin typeface="Aptos" panose="020B0004020202020204" pitchFamily="34" charset="0"/>
            </a:endParaRPr>
          </a:p>
        </p:txBody>
      </p:sp>
      <p:cxnSp>
        <p:nvCxnSpPr>
          <p:cNvPr id="7" name="Straight Connector 9">
            <a:extLst>
              <a:ext uri="{FF2B5EF4-FFF2-40B4-BE49-F238E27FC236}">
                <a16:creationId xmlns:a16="http://schemas.microsoft.com/office/drawing/2014/main" id="{1B8D895F-49B0-E859-3C9E-461BD31C5AB3}"/>
              </a:ext>
            </a:extLst>
          </p:cNvPr>
          <p:cNvCxnSpPr/>
          <p:nvPr/>
        </p:nvCxnSpPr>
        <p:spPr>
          <a:xfrm>
            <a:off x="4079165" y="2253794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8" name="Straight Connector 12">
            <a:extLst>
              <a:ext uri="{FF2B5EF4-FFF2-40B4-BE49-F238E27FC236}">
                <a16:creationId xmlns:a16="http://schemas.microsoft.com/office/drawing/2014/main" id="{1E9B025E-374C-1DB8-3660-062FA9CD2C40}"/>
              </a:ext>
            </a:extLst>
          </p:cNvPr>
          <p:cNvCxnSpPr/>
          <p:nvPr/>
        </p:nvCxnSpPr>
        <p:spPr>
          <a:xfrm>
            <a:off x="4158653" y="5455012"/>
            <a:ext cx="6585125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10" name="TextBox 10">
            <a:extLst>
              <a:ext uri="{FF2B5EF4-FFF2-40B4-BE49-F238E27FC236}">
                <a16:creationId xmlns:a16="http://schemas.microsoft.com/office/drawing/2014/main" id="{02D8C578-04CB-B130-F198-D11F12B0865A}"/>
              </a:ext>
            </a:extLst>
          </p:cNvPr>
          <p:cNvSpPr txBox="1"/>
          <p:nvPr/>
        </p:nvSpPr>
        <p:spPr>
          <a:xfrm>
            <a:off x="4079164" y="1884468"/>
            <a:ext cx="3907839" cy="36933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1200" cap="none" spc="0" baseline="0" dirty="0">
                <a:solidFill>
                  <a:srgbClr val="E97132"/>
                </a:solidFill>
                <a:uFillTx/>
                <a:latin typeface="Aptos"/>
              </a:rPr>
              <a:t>Byte Stream VS. Character Stream</a:t>
            </a:r>
            <a:endParaRPr lang="-" sz="1800" b="1" i="0" u="none" strike="noStrike" kern="1200" cap="none" spc="0" baseline="0" dirty="0">
              <a:solidFill>
                <a:srgbClr val="E97132"/>
              </a:solidFill>
              <a:uFillTx/>
              <a:latin typeface="Apto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70CC1F-BC7A-508F-A025-35DB6772AC49}"/>
              </a:ext>
            </a:extLst>
          </p:cNvPr>
          <p:cNvSpPr txBox="1"/>
          <p:nvPr/>
        </p:nvSpPr>
        <p:spPr>
          <a:xfrm>
            <a:off x="7533024" y="3917275"/>
            <a:ext cx="2419434" cy="101566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dirty="0">
                <a:solidFill>
                  <a:srgbClr val="000000"/>
                </a:solidFill>
                <a:latin typeface="Aptos" panose="020B0004020202020204" pitchFamily="34" charset="0"/>
              </a:rPr>
              <a:t>Byte streams:  </a:t>
            </a:r>
          </a:p>
          <a:p>
            <a:pPr marL="457200" marR="0" lvl="0" indent="-4572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dirty="0">
                <a:solidFill>
                  <a:srgbClr val="000000"/>
                </a:solidFill>
                <a:latin typeface="Aptos" panose="020B0004020202020204" pitchFamily="34" charset="0"/>
              </a:rPr>
              <a:t>InputStream </a:t>
            </a:r>
          </a:p>
          <a:p>
            <a:pPr marL="457200" marR="0" lvl="0" indent="-4572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dirty="0">
                <a:solidFill>
                  <a:srgbClr val="000000"/>
                </a:solidFill>
                <a:latin typeface="Aptos" panose="020B0004020202020204" pitchFamily="34" charset="0"/>
              </a:rPr>
              <a:t>OutputStream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AE56E1-15C3-A9D4-7502-C8FD5AC9510F}"/>
              </a:ext>
            </a:extLst>
          </p:cNvPr>
          <p:cNvSpPr/>
          <p:nvPr/>
        </p:nvSpPr>
        <p:spPr>
          <a:xfrm>
            <a:off x="1302562" y="3429000"/>
            <a:ext cx="2373325" cy="369332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lvl="0" algn="ctr" hangingPunct="0">
              <a:lnSpc>
                <a:spcPct val="100000"/>
              </a:lnSpc>
              <a:spcBef>
                <a:spcPts val="0"/>
              </a:spcBef>
            </a:pPr>
            <a:r>
              <a:rPr lang="-" dirty="0">
                <a:latin typeface="Aptos" panose="020B0004020202020204" pitchFamily="34" charset="0"/>
              </a:rPr>
              <a:t>Streaming Data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9">
            <a:extLst>
              <a:ext uri="{FF2B5EF4-FFF2-40B4-BE49-F238E27FC236}">
                <a16:creationId xmlns:a16="http://schemas.microsoft.com/office/drawing/2014/main" id="{1B8D895F-49B0-E859-3C9E-461BD31C5AB3}"/>
              </a:ext>
            </a:extLst>
          </p:cNvPr>
          <p:cNvCxnSpPr/>
          <p:nvPr/>
        </p:nvCxnSpPr>
        <p:spPr>
          <a:xfrm>
            <a:off x="4079165" y="2253794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8" name="Straight Connector 12">
            <a:extLst>
              <a:ext uri="{FF2B5EF4-FFF2-40B4-BE49-F238E27FC236}">
                <a16:creationId xmlns:a16="http://schemas.microsoft.com/office/drawing/2014/main" id="{1E9B025E-374C-1DB8-3660-062FA9CD2C40}"/>
              </a:ext>
            </a:extLst>
          </p:cNvPr>
          <p:cNvCxnSpPr/>
          <p:nvPr/>
        </p:nvCxnSpPr>
        <p:spPr>
          <a:xfrm>
            <a:off x="4238471" y="6691323"/>
            <a:ext cx="6585125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10" name="TextBox 10">
            <a:extLst>
              <a:ext uri="{FF2B5EF4-FFF2-40B4-BE49-F238E27FC236}">
                <a16:creationId xmlns:a16="http://schemas.microsoft.com/office/drawing/2014/main" id="{02D8C578-04CB-B130-F198-D11F12B0865A}"/>
              </a:ext>
            </a:extLst>
          </p:cNvPr>
          <p:cNvSpPr txBox="1"/>
          <p:nvPr/>
        </p:nvSpPr>
        <p:spPr>
          <a:xfrm>
            <a:off x="4079165" y="1884468"/>
            <a:ext cx="3767880" cy="36933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1" dirty="0">
                <a:solidFill>
                  <a:srgbClr val="E97132"/>
                </a:solidFill>
                <a:latin typeface="Aptos"/>
              </a:rPr>
              <a:t>InputStream VS. Reader</a:t>
            </a:r>
            <a:endParaRPr lang="-" sz="1800" b="1" i="0" u="none" strike="noStrike" kern="1200" cap="none" spc="0" baseline="0" dirty="0">
              <a:solidFill>
                <a:srgbClr val="E97132"/>
              </a:solidFill>
              <a:uFillTx/>
              <a:latin typeface="Aptos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79F8E2F-6651-FCCD-EF82-5B3E871830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770547"/>
              </p:ext>
            </p:extLst>
          </p:nvPr>
        </p:nvGraphicFramePr>
        <p:xfrm>
          <a:off x="3947378" y="2363543"/>
          <a:ext cx="8083755" cy="4275899"/>
        </p:xfrm>
        <a:graphic>
          <a:graphicData uri="http://schemas.openxmlformats.org/drawingml/2006/table">
            <a:tbl>
              <a:tblPr/>
              <a:tblGrid>
                <a:gridCol w="1496054">
                  <a:extLst>
                    <a:ext uri="{9D8B030D-6E8A-4147-A177-3AD203B41FA5}">
                      <a16:colId xmlns:a16="http://schemas.microsoft.com/office/drawing/2014/main" val="4041018350"/>
                    </a:ext>
                  </a:extLst>
                </a:gridCol>
                <a:gridCol w="3059498">
                  <a:extLst>
                    <a:ext uri="{9D8B030D-6E8A-4147-A177-3AD203B41FA5}">
                      <a16:colId xmlns:a16="http://schemas.microsoft.com/office/drawing/2014/main" val="2079999497"/>
                    </a:ext>
                  </a:extLst>
                </a:gridCol>
                <a:gridCol w="3528203">
                  <a:extLst>
                    <a:ext uri="{9D8B030D-6E8A-4147-A177-3AD203B41FA5}">
                      <a16:colId xmlns:a16="http://schemas.microsoft.com/office/drawing/2014/main" val="3083271506"/>
                    </a:ext>
                  </a:extLst>
                </a:gridCol>
              </a:tblGrid>
              <a:tr h="280833"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Aptos" panose="020B0004020202020204" pitchFamily="34" charset="0"/>
                        </a:rPr>
                        <a:t>Feature</a:t>
                      </a:r>
                    </a:p>
                  </a:txBody>
                  <a:tcPr marL="96903" marR="96903" marT="48452" marB="484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Aptos" panose="020B0004020202020204" pitchFamily="34" charset="0"/>
                        </a:rPr>
                        <a:t>InputStream</a:t>
                      </a:r>
                    </a:p>
                  </a:txBody>
                  <a:tcPr marL="96903" marR="96903" marT="48452" marB="484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Aptos" panose="020B0004020202020204" pitchFamily="34" charset="0"/>
                        </a:rPr>
                        <a:t>Reader</a:t>
                      </a:r>
                    </a:p>
                  </a:txBody>
                  <a:tcPr marL="96903" marR="96903" marT="48452" marB="484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6859935"/>
                  </a:ext>
                </a:extLst>
              </a:tr>
              <a:tr h="580051"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rgbClr val="C00000"/>
                          </a:solidFill>
                          <a:latin typeface="Aptos" panose="020B0004020202020204" pitchFamily="34" charset="0"/>
                        </a:rPr>
                        <a:t>Data Type</a:t>
                      </a:r>
                    </a:p>
                  </a:txBody>
                  <a:tcPr marL="96903" marR="96903" marT="48452" marB="484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ptos" panose="020B0004020202020204" pitchFamily="34" charset="0"/>
                        </a:rPr>
                        <a:t>Byte-oriented (binary data)</a:t>
                      </a:r>
                    </a:p>
                  </a:txBody>
                  <a:tcPr marL="96903" marR="96903" marT="48452" marB="484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ptos" panose="020B0004020202020204" pitchFamily="34" charset="0"/>
                        </a:rPr>
                        <a:t>Character-oriented (text data)</a:t>
                      </a:r>
                    </a:p>
                  </a:txBody>
                  <a:tcPr marL="96903" marR="96903" marT="48452" marB="484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8679890"/>
                  </a:ext>
                </a:extLst>
              </a:tr>
              <a:tr h="336014"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rgbClr val="C00000"/>
                          </a:solidFill>
                          <a:latin typeface="Aptos" panose="020B0004020202020204" pitchFamily="34" charset="0"/>
                        </a:rPr>
                        <a:t>Superclass</a:t>
                      </a:r>
                    </a:p>
                  </a:txBody>
                  <a:tcPr marL="96903" marR="96903" marT="48452" marB="484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ptos" panose="020B0004020202020204" pitchFamily="34" charset="0"/>
                        </a:rPr>
                        <a:t>InputStream</a:t>
                      </a:r>
                    </a:p>
                  </a:txBody>
                  <a:tcPr marL="96903" marR="96903" marT="48452" marB="484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Aptos" panose="020B0004020202020204" pitchFamily="34" charset="0"/>
                        </a:rPr>
                        <a:t>Reader</a:t>
                      </a:r>
                    </a:p>
                  </a:txBody>
                  <a:tcPr marL="96903" marR="96903" marT="48452" marB="484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970633"/>
                  </a:ext>
                </a:extLst>
              </a:tr>
              <a:tr h="336014"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rgbClr val="C00000"/>
                          </a:solidFill>
                          <a:latin typeface="Aptos" panose="020B0004020202020204" pitchFamily="34" charset="0"/>
                        </a:rPr>
                        <a:t>Read Method</a:t>
                      </a:r>
                    </a:p>
                  </a:txBody>
                  <a:tcPr marL="96903" marR="96903" marT="48452" marB="484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ptos" panose="020B0004020202020204" pitchFamily="34" charset="0"/>
                        </a:rPr>
                        <a:t>read() (reads byte)</a:t>
                      </a:r>
                    </a:p>
                  </a:txBody>
                  <a:tcPr marL="96903" marR="96903" marT="48452" marB="484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ptos" panose="020B0004020202020204" pitchFamily="34" charset="0"/>
                        </a:rPr>
                        <a:t>read() (reads character)</a:t>
                      </a:r>
                    </a:p>
                  </a:txBody>
                  <a:tcPr marL="96903" marR="96903" marT="48452" marB="484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741374"/>
                  </a:ext>
                </a:extLst>
              </a:tr>
              <a:tr h="336014"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rgbClr val="C00000"/>
                          </a:solidFill>
                          <a:latin typeface="Aptos" panose="020B0004020202020204" pitchFamily="34" charset="0"/>
                        </a:rPr>
                        <a:t>Buffering</a:t>
                      </a:r>
                    </a:p>
                  </a:txBody>
                  <a:tcPr marL="96903" marR="96903" marT="48452" marB="484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ptos" panose="020B0004020202020204" pitchFamily="34" charset="0"/>
                        </a:rPr>
                        <a:t>BufferedInputStream</a:t>
                      </a:r>
                    </a:p>
                  </a:txBody>
                  <a:tcPr marL="96903" marR="96903" marT="48452" marB="484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ptos" panose="020B0004020202020204" pitchFamily="34" charset="0"/>
                        </a:rPr>
                        <a:t>BufferedReader</a:t>
                      </a:r>
                    </a:p>
                  </a:txBody>
                  <a:tcPr marL="96903" marR="96903" marT="48452" marB="484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3736972"/>
                  </a:ext>
                </a:extLst>
              </a:tr>
              <a:tr h="336014"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rgbClr val="C00000"/>
                          </a:solidFill>
                          <a:latin typeface="Aptos" panose="020B0004020202020204" pitchFamily="34" charset="0"/>
                        </a:rPr>
                        <a:t>File Handling</a:t>
                      </a:r>
                    </a:p>
                  </a:txBody>
                  <a:tcPr marL="96903" marR="96903" marT="48452" marB="484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ptos" panose="020B0004020202020204" pitchFamily="34" charset="0"/>
                        </a:rPr>
                        <a:t>FileInputStream</a:t>
                      </a:r>
                    </a:p>
                  </a:txBody>
                  <a:tcPr marL="96903" marR="96903" marT="48452" marB="484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ptos" panose="020B0004020202020204" pitchFamily="34" charset="0"/>
                        </a:rPr>
                        <a:t>FileReader</a:t>
                      </a:r>
                    </a:p>
                  </a:txBody>
                  <a:tcPr marL="96903" marR="96903" marT="48452" marB="484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6167155"/>
                  </a:ext>
                </a:extLst>
              </a:tr>
              <a:tr h="584315"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rgbClr val="C00000"/>
                          </a:solidFill>
                          <a:latin typeface="Aptos" panose="020B0004020202020204" pitchFamily="34" charset="0"/>
                        </a:rPr>
                        <a:t>Common Use Cases</a:t>
                      </a:r>
                    </a:p>
                  </a:txBody>
                  <a:tcPr marL="96903" marR="96903" marT="48452" marB="484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ptos" panose="020B0004020202020204" pitchFamily="34" charset="0"/>
                        </a:rPr>
                        <a:t>Binary files (e.g., images, audio)</a:t>
                      </a:r>
                    </a:p>
                  </a:txBody>
                  <a:tcPr marL="96903" marR="96903" marT="48452" marB="484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Aptos" panose="020B0004020202020204" pitchFamily="34" charset="0"/>
                        </a:rPr>
                        <a:t>Text files (e.g., plain text, JSON)</a:t>
                      </a:r>
                    </a:p>
                  </a:txBody>
                  <a:tcPr marL="96903" marR="96903" marT="48452" marB="484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5973953"/>
                  </a:ext>
                </a:extLst>
              </a:tr>
              <a:tr h="828503"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rgbClr val="C00000"/>
                          </a:solidFill>
                          <a:latin typeface="Aptos" panose="020B0004020202020204" pitchFamily="34" charset="0"/>
                        </a:rPr>
                        <a:t>Conversion Bridging</a:t>
                      </a:r>
                    </a:p>
                  </a:txBody>
                  <a:tcPr marL="96903" marR="96903" marT="48452" marB="484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ptos" panose="020B0004020202020204" pitchFamily="34" charset="0"/>
                        </a:rPr>
                        <a:t>N/A</a:t>
                      </a:r>
                    </a:p>
                  </a:txBody>
                  <a:tcPr marL="96903" marR="96903" marT="48452" marB="484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ptos" panose="020B0004020202020204" pitchFamily="34" charset="0"/>
                        </a:rPr>
                        <a:t>InputStreamReader (converts byte streams to character streams)</a:t>
                      </a:r>
                    </a:p>
                  </a:txBody>
                  <a:tcPr marL="96903" marR="96903" marT="48452" marB="484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6893228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E1B0D6F2-A6A2-8ADC-8398-B8FD6B334457}"/>
              </a:ext>
            </a:extLst>
          </p:cNvPr>
          <p:cNvSpPr/>
          <p:nvPr/>
        </p:nvSpPr>
        <p:spPr>
          <a:xfrm>
            <a:off x="1244184" y="3429000"/>
            <a:ext cx="2431703" cy="369332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  <a:cs typeface="Aparajita" panose="02020603050405020304" pitchFamily="18" charset="0"/>
              </a:rPr>
              <a:t>Streaming Data</a:t>
            </a:r>
          </a:p>
        </p:txBody>
      </p:sp>
    </p:spTree>
    <p:extLst>
      <p:ext uri="{BB962C8B-B14F-4D97-AF65-F5344CB8AC3E}">
        <p14:creationId xmlns:p14="http://schemas.microsoft.com/office/powerpoint/2010/main" val="16548042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6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3">
            <a:extLst>
              <a:ext uri="{FF2B5EF4-FFF2-40B4-BE49-F238E27FC236}">
                <a16:creationId xmlns:a16="http://schemas.microsoft.com/office/drawing/2014/main" id="{FE8A6972-09B9-5412-BAA3-6ADBCF78AB16}"/>
              </a:ext>
            </a:extLst>
          </p:cNvPr>
          <p:cNvSpPr txBox="1"/>
          <p:nvPr/>
        </p:nvSpPr>
        <p:spPr>
          <a:xfrm>
            <a:off x="4269144" y="2231379"/>
            <a:ext cx="7702722" cy="4524315"/>
          </a:xfrm>
          <a:prstGeom prst="rect">
            <a:avLst/>
          </a:prstGeom>
          <a:noFill/>
          <a:ln w="9528" cap="flat">
            <a:noFill/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Use : 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When dealing with text-based data, such as plain text files, configuration files, or any file that contains human-readable characters.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000" b="0" i="0" u="none" strike="noStrike" kern="0" cap="none" spc="0" baseline="0" dirty="0">
              <a:solidFill>
                <a:srgbClr val="000000"/>
              </a:solidFill>
              <a:uFillTx/>
              <a:latin typeface="Aptos" panose="020B0004020202020204" pitchFamily="34" charset="0"/>
            </a:endParaRPr>
          </a:p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-" sz="2000" b="1" i="0" u="none" strike="noStrike" kern="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Advantages:</a:t>
            </a:r>
          </a:p>
          <a:p>
            <a:pPr marL="457200" marR="0" lvl="0" indent="-45720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-" b="0" i="0" u="none" strike="noStrike" kern="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Character streams automatically handle character encoding and decoding, making them suitable for dealing with text in different character sets.</a:t>
            </a:r>
            <a:endParaRPr lang="en-US" b="0" i="0" u="none" strike="noStrike" kern="0" cap="none" spc="0" baseline="0" dirty="0">
              <a:solidFill>
                <a:srgbClr val="000000"/>
              </a:solidFill>
              <a:uFillTx/>
              <a:latin typeface="Aptos" panose="020B0004020202020204" pitchFamily="34" charset="0"/>
            </a:endParaRPr>
          </a:p>
          <a:p>
            <a:pPr marL="457200" marR="0" lvl="0" indent="-45720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-" b="0" i="0" u="none" strike="noStrike" kern="0" cap="none" spc="0" baseline="0" dirty="0">
              <a:solidFill>
                <a:srgbClr val="000000"/>
              </a:solidFill>
              <a:uFillTx/>
              <a:latin typeface="Aptos" panose="020B0004020202020204" pitchFamily="34" charset="0"/>
            </a:endParaRPr>
          </a:p>
          <a:p>
            <a:pPr marL="457200" marR="0" lvl="0" indent="-45720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-" b="0" i="0" u="none" strike="noStrike" kern="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They provide higher-level abstractions like Reader and Writer, which work with characters rather than bytes.</a:t>
            </a:r>
          </a:p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-" sz="2400" b="0" i="0" u="none" strike="noStrike" kern="0" cap="none" spc="0" baseline="0" dirty="0">
              <a:solidFill>
                <a:srgbClr val="000000"/>
              </a:solidFill>
              <a:uFillTx/>
              <a:latin typeface="Aptos" panose="020B0004020202020204" pitchFamily="34" charset="0"/>
            </a:endParaRPr>
          </a:p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-" sz="2000" b="1" i="0" u="none" strike="noStrike" kern="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Example</a:t>
            </a:r>
            <a:r>
              <a:rPr lang="-" sz="2400" b="1" i="0" u="none" strike="noStrike" kern="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: </a:t>
            </a:r>
          </a:p>
          <a:p>
            <a:pPr marL="1371600" marR="0" lvl="3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3B3838"/>
                </a:solidFill>
                <a:uFillTx/>
                <a:latin typeface="Aptos" panose="020B0004020202020204" pitchFamily="34" charset="0"/>
              </a:rPr>
              <a:t>FileReader reader = new FileReader("textFile.txt"); </a:t>
            </a:r>
          </a:p>
          <a:p>
            <a:pPr marL="1371600" marR="0" lvl="3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3B3838"/>
                </a:solidFill>
                <a:uFillTx/>
                <a:latin typeface="Aptos" panose="020B0004020202020204" pitchFamily="34" charset="0"/>
              </a:rPr>
              <a:t>FileWriter writer = new FileWriter("output.txt");</a:t>
            </a:r>
            <a:endParaRPr lang="-" b="0" i="0" u="none" strike="noStrike" kern="0" cap="none" spc="0" baseline="0" dirty="0">
              <a:solidFill>
                <a:srgbClr val="3B3838"/>
              </a:solidFill>
              <a:uFillTx/>
              <a:latin typeface="Aptos" panose="020B0004020202020204" pitchFamily="34" charset="0"/>
            </a:endParaRPr>
          </a:p>
        </p:txBody>
      </p:sp>
      <p:cxnSp>
        <p:nvCxnSpPr>
          <p:cNvPr id="7" name="Straight Connector 9">
            <a:extLst>
              <a:ext uri="{FF2B5EF4-FFF2-40B4-BE49-F238E27FC236}">
                <a16:creationId xmlns:a16="http://schemas.microsoft.com/office/drawing/2014/main" id="{E6FA28F8-5778-EE44-350A-F5DB486F089E}"/>
              </a:ext>
            </a:extLst>
          </p:cNvPr>
          <p:cNvCxnSpPr/>
          <p:nvPr/>
        </p:nvCxnSpPr>
        <p:spPr>
          <a:xfrm>
            <a:off x="4079165" y="2203478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10" name="TextBox 10">
            <a:extLst>
              <a:ext uri="{FF2B5EF4-FFF2-40B4-BE49-F238E27FC236}">
                <a16:creationId xmlns:a16="http://schemas.microsoft.com/office/drawing/2014/main" id="{7CD2AA4C-3014-40B9-92B0-90A6D8134C77}"/>
              </a:ext>
            </a:extLst>
          </p:cNvPr>
          <p:cNvSpPr txBox="1"/>
          <p:nvPr/>
        </p:nvSpPr>
        <p:spPr>
          <a:xfrm>
            <a:off x="4079165" y="1834143"/>
            <a:ext cx="2393350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1200" cap="none" spc="0" baseline="0" dirty="0">
                <a:solidFill>
                  <a:srgbClr val="E97132"/>
                </a:solidFill>
                <a:uFillTx/>
                <a:latin typeface="Aptos"/>
              </a:rPr>
              <a:t>Character Stream</a:t>
            </a:r>
            <a:endParaRPr lang="-" sz="1800" b="1" i="0" u="none" strike="noStrike" kern="1200" cap="none" spc="0" baseline="0" dirty="0">
              <a:solidFill>
                <a:srgbClr val="E97132"/>
              </a:solidFill>
              <a:uFillTx/>
              <a:latin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A3E2747-8F11-2DAF-409F-C3509E4A55FF}"/>
              </a:ext>
            </a:extLst>
          </p:cNvPr>
          <p:cNvSpPr/>
          <p:nvPr/>
        </p:nvSpPr>
        <p:spPr>
          <a:xfrm>
            <a:off x="1244184" y="3429000"/>
            <a:ext cx="2431703" cy="369332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  <a:cs typeface="Aparajita" panose="02020603050405020304" pitchFamily="18" charset="0"/>
              </a:rPr>
              <a:t>Streaming Data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7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3">
            <a:extLst>
              <a:ext uri="{FF2B5EF4-FFF2-40B4-BE49-F238E27FC236}">
                <a16:creationId xmlns:a16="http://schemas.microsoft.com/office/drawing/2014/main" id="{7333C94E-D8AE-41D6-DAA4-36BCD1039EB5}"/>
              </a:ext>
            </a:extLst>
          </p:cNvPr>
          <p:cNvSpPr txBox="1"/>
          <p:nvPr/>
        </p:nvSpPr>
        <p:spPr>
          <a:xfrm>
            <a:off x="4138432" y="2305170"/>
            <a:ext cx="7130246" cy="4524315"/>
          </a:xfrm>
          <a:prstGeom prst="rect">
            <a:avLst/>
          </a:prstGeom>
          <a:noFill/>
          <a:ln w="9528" cap="flat">
            <a:noFill/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Use : 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When working with binary data, such as image files, audio files, or any non-text data.</a:t>
            </a:r>
          </a:p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-" sz="2800" b="0" i="0" u="none" strike="noStrike" kern="0" cap="none" spc="0" baseline="0" dirty="0">
              <a:solidFill>
                <a:srgbClr val="000000"/>
              </a:solidFill>
              <a:uFillTx/>
              <a:latin typeface="Aptos" panose="020B0004020202020204" pitchFamily="34" charset="0"/>
            </a:endParaRPr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-" sz="2000" b="1" kern="0" dirty="0">
                <a:solidFill>
                  <a:srgbClr val="000000"/>
                </a:solidFill>
                <a:latin typeface="Aptos" panose="020B0004020202020204" pitchFamily="34" charset="0"/>
              </a:rPr>
              <a:t>Advantages: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kern="0" dirty="0">
                <a:solidFill>
                  <a:srgbClr val="000000"/>
                </a:solidFill>
                <a:latin typeface="Aptos" panose="020B0004020202020204" pitchFamily="34" charset="0"/>
              </a:rPr>
              <a:t>Byte streams are low-level and handle data in its raw form, making them suitable for binary data or when you need to work with the actual bytes of a file.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kern="0" dirty="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pPr marL="285750" indent="-285750">
              <a:buSzPct val="100000"/>
              <a:buFont typeface="Arial" panose="020B0604020202020204" pitchFamily="34" charset="0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kern="0" dirty="0">
                <a:solidFill>
                  <a:srgbClr val="000000"/>
                </a:solidFill>
                <a:latin typeface="Aptos" panose="020B0004020202020204" pitchFamily="34" charset="0"/>
              </a:rPr>
              <a:t>They are more suitable for network operations where data is transmitted in binary form.</a:t>
            </a:r>
          </a:p>
          <a:p>
            <a:pPr marL="457200" marR="0" lvl="0" indent="-4572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0" cap="none" spc="0" baseline="0" dirty="0">
              <a:solidFill>
                <a:srgbClr val="000000"/>
              </a:solidFill>
              <a:uFillTx/>
              <a:latin typeface="Aptos" panose="020B0004020202020204" pitchFamily="34" charset="0"/>
            </a:endParaRPr>
          </a:p>
          <a:p>
            <a: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kern="0" dirty="0">
                <a:solidFill>
                  <a:srgbClr val="000000"/>
                </a:solidFill>
                <a:latin typeface="Aptos" panose="020B0004020202020204" pitchFamily="34" charset="0"/>
              </a:rPr>
              <a:t>Example: 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0" i="0" u="none" strike="noStrike" kern="1200" cap="none" spc="0" baseline="0" dirty="0">
                <a:solidFill>
                  <a:srgbClr val="3B3838"/>
                </a:solidFill>
                <a:uFillTx/>
                <a:latin typeface="Aptos" panose="020B0004020202020204" pitchFamily="34" charset="0"/>
              </a:rPr>
              <a:t>FileInputStream inputStream = new FileInputStream("binaryFile.bin"); 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0" i="0" u="none" strike="noStrike" kern="1200" cap="none" spc="0" baseline="0" dirty="0">
                <a:solidFill>
                  <a:srgbClr val="3B3838"/>
                </a:solidFill>
                <a:uFillTx/>
                <a:latin typeface="Aptos" panose="020B0004020202020204" pitchFamily="34" charset="0"/>
              </a:rPr>
              <a:t>FileOutputStream outputStream = new FileOutputStream("output.bin");</a:t>
            </a:r>
            <a:endParaRPr lang="en-US" sz="1600" b="0" i="0" u="none" strike="noStrike" kern="0" cap="none" spc="0" baseline="0" dirty="0">
              <a:solidFill>
                <a:srgbClr val="3B3838"/>
              </a:solidFill>
              <a:uFillTx/>
              <a:latin typeface="Aptos" panose="020B0004020202020204" pitchFamily="34" charset="0"/>
            </a:endParaRPr>
          </a:p>
        </p:txBody>
      </p:sp>
      <p:cxnSp>
        <p:nvCxnSpPr>
          <p:cNvPr id="7" name="Straight Connector 9">
            <a:extLst>
              <a:ext uri="{FF2B5EF4-FFF2-40B4-BE49-F238E27FC236}">
                <a16:creationId xmlns:a16="http://schemas.microsoft.com/office/drawing/2014/main" id="{3C8E44D8-6640-0DB2-CB72-C39F18D53B08}"/>
              </a:ext>
            </a:extLst>
          </p:cNvPr>
          <p:cNvCxnSpPr/>
          <p:nvPr/>
        </p:nvCxnSpPr>
        <p:spPr>
          <a:xfrm>
            <a:off x="4138432" y="2249641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12" name="TextBox 10">
            <a:extLst>
              <a:ext uri="{FF2B5EF4-FFF2-40B4-BE49-F238E27FC236}">
                <a16:creationId xmlns:a16="http://schemas.microsoft.com/office/drawing/2014/main" id="{351561F7-7D65-4D40-A63A-079D4FC192C4}"/>
              </a:ext>
            </a:extLst>
          </p:cNvPr>
          <p:cNvSpPr txBox="1"/>
          <p:nvPr/>
        </p:nvSpPr>
        <p:spPr>
          <a:xfrm>
            <a:off x="4019898" y="1880306"/>
            <a:ext cx="2393350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1200" cap="none" spc="0" baseline="0" dirty="0">
                <a:solidFill>
                  <a:srgbClr val="E97132"/>
                </a:solidFill>
                <a:uFillTx/>
                <a:latin typeface="Aptos"/>
              </a:rPr>
              <a:t>Byte Stream</a:t>
            </a:r>
            <a:endParaRPr lang="-" sz="1800" b="1" i="0" u="none" strike="noStrike" kern="1200" cap="none" spc="0" baseline="0" dirty="0">
              <a:solidFill>
                <a:srgbClr val="E97132"/>
              </a:solidFill>
              <a:uFillTx/>
              <a:latin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78B4A5-1BAE-3FC8-3485-733CF92EF5F9}"/>
              </a:ext>
            </a:extLst>
          </p:cNvPr>
          <p:cNvSpPr/>
          <p:nvPr/>
        </p:nvSpPr>
        <p:spPr>
          <a:xfrm>
            <a:off x="1244184" y="3429000"/>
            <a:ext cx="2431703" cy="369332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  <a:cs typeface="Aparajita" panose="02020603050405020304" pitchFamily="18" charset="0"/>
              </a:rPr>
              <a:t>Streaming Data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7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>
            <a:extLst>
              <a:ext uri="{FF2B5EF4-FFF2-40B4-BE49-F238E27FC236}">
                <a16:creationId xmlns:a16="http://schemas.microsoft.com/office/drawing/2014/main" id="{C3CAC747-28E2-3DAB-A83A-E393E7F107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329" y="2335512"/>
            <a:ext cx="5248766" cy="4354529"/>
          </a:xfrm>
          <a:prstGeom prst="rect">
            <a:avLst/>
          </a:prstGeom>
          <a:noFill/>
          <a:ln cap="flat">
            <a:noFill/>
          </a:ln>
        </p:spPr>
      </p:pic>
      <p:cxnSp>
        <p:nvCxnSpPr>
          <p:cNvPr id="7" name="Straight Connector 9">
            <a:extLst>
              <a:ext uri="{FF2B5EF4-FFF2-40B4-BE49-F238E27FC236}">
                <a16:creationId xmlns:a16="http://schemas.microsoft.com/office/drawing/2014/main" id="{9428CCB4-4262-142A-E83B-2A395BF04275}"/>
              </a:ext>
            </a:extLst>
          </p:cNvPr>
          <p:cNvCxnSpPr/>
          <p:nvPr/>
        </p:nvCxnSpPr>
        <p:spPr>
          <a:xfrm>
            <a:off x="4079165" y="2201942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8" name="Straight Connector 12">
            <a:extLst>
              <a:ext uri="{FF2B5EF4-FFF2-40B4-BE49-F238E27FC236}">
                <a16:creationId xmlns:a16="http://schemas.microsoft.com/office/drawing/2014/main" id="{1926C71C-5114-C1E8-4AD6-B29C2FD64941}"/>
              </a:ext>
            </a:extLst>
          </p:cNvPr>
          <p:cNvCxnSpPr/>
          <p:nvPr/>
        </p:nvCxnSpPr>
        <p:spPr>
          <a:xfrm>
            <a:off x="4210741" y="6769424"/>
            <a:ext cx="6585125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10" name="TextBox 10">
            <a:extLst>
              <a:ext uri="{FF2B5EF4-FFF2-40B4-BE49-F238E27FC236}">
                <a16:creationId xmlns:a16="http://schemas.microsoft.com/office/drawing/2014/main" id="{D8866108-5EC8-723B-8EB7-C7E73DD1DC30}"/>
              </a:ext>
            </a:extLst>
          </p:cNvPr>
          <p:cNvSpPr txBox="1"/>
          <p:nvPr/>
        </p:nvSpPr>
        <p:spPr>
          <a:xfrm>
            <a:off x="4004520" y="1926489"/>
            <a:ext cx="2797496" cy="36933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1200" cap="none" spc="0" baseline="0" dirty="0">
                <a:solidFill>
                  <a:srgbClr val="E97132"/>
                </a:solidFill>
                <a:uFillTx/>
                <a:latin typeface="Aptos"/>
              </a:rPr>
              <a:t>Byte Streaming Methods</a:t>
            </a:r>
            <a:endParaRPr lang="-" sz="1800" b="1" i="0" u="none" strike="noStrike" kern="1200" cap="none" spc="0" baseline="0" dirty="0">
              <a:solidFill>
                <a:srgbClr val="E97132"/>
              </a:solidFill>
              <a:uFillTx/>
              <a:latin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4F43D4-75C4-0D71-18F9-C3897EEFC897}"/>
              </a:ext>
            </a:extLst>
          </p:cNvPr>
          <p:cNvSpPr/>
          <p:nvPr/>
        </p:nvSpPr>
        <p:spPr>
          <a:xfrm>
            <a:off x="1244184" y="3429000"/>
            <a:ext cx="2431703" cy="369332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  <a:cs typeface="Aparajita" panose="02020603050405020304" pitchFamily="18" charset="0"/>
              </a:rPr>
              <a:t>Streaming Data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7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>
            <a:extLst>
              <a:ext uri="{FF2B5EF4-FFF2-40B4-BE49-F238E27FC236}">
                <a16:creationId xmlns:a16="http://schemas.microsoft.com/office/drawing/2014/main" id="{FE538A36-95D4-3235-C88F-631D4DA385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0425" y="2486010"/>
            <a:ext cx="4928242" cy="4036189"/>
          </a:xfrm>
          <a:prstGeom prst="rect">
            <a:avLst/>
          </a:prstGeom>
          <a:noFill/>
          <a:ln cap="flat">
            <a:solidFill>
              <a:schemeClr val="accent1"/>
            </a:solidFill>
          </a:ln>
        </p:spPr>
      </p:pic>
      <p:cxnSp>
        <p:nvCxnSpPr>
          <p:cNvPr id="7" name="Straight Connector 9">
            <a:extLst>
              <a:ext uri="{FF2B5EF4-FFF2-40B4-BE49-F238E27FC236}">
                <a16:creationId xmlns:a16="http://schemas.microsoft.com/office/drawing/2014/main" id="{B85DABB6-7D54-42E7-EA25-17B194A450CF}"/>
              </a:ext>
            </a:extLst>
          </p:cNvPr>
          <p:cNvCxnSpPr/>
          <p:nvPr/>
        </p:nvCxnSpPr>
        <p:spPr>
          <a:xfrm>
            <a:off x="4079164" y="2234296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8" name="Straight Connector 12">
            <a:extLst>
              <a:ext uri="{FF2B5EF4-FFF2-40B4-BE49-F238E27FC236}">
                <a16:creationId xmlns:a16="http://schemas.microsoft.com/office/drawing/2014/main" id="{E39712C9-A52A-C095-6F00-980B7D1FDC45}"/>
              </a:ext>
            </a:extLst>
          </p:cNvPr>
          <p:cNvCxnSpPr/>
          <p:nvPr/>
        </p:nvCxnSpPr>
        <p:spPr>
          <a:xfrm>
            <a:off x="4095120" y="6750590"/>
            <a:ext cx="6585125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10" name="TextBox 10">
            <a:extLst>
              <a:ext uri="{FF2B5EF4-FFF2-40B4-BE49-F238E27FC236}">
                <a16:creationId xmlns:a16="http://schemas.microsoft.com/office/drawing/2014/main" id="{5C8C940B-7794-56C5-C0EC-6F9E6FDBBD76}"/>
              </a:ext>
            </a:extLst>
          </p:cNvPr>
          <p:cNvSpPr txBox="1"/>
          <p:nvPr/>
        </p:nvSpPr>
        <p:spPr>
          <a:xfrm>
            <a:off x="3977565" y="1876626"/>
            <a:ext cx="3058235" cy="36933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1" dirty="0">
                <a:solidFill>
                  <a:srgbClr val="E97132"/>
                </a:solidFill>
                <a:latin typeface="Aptos"/>
              </a:rPr>
              <a:t>Character Stream methods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A62A7DD-223C-13B0-EAE8-E6722193DF7C}"/>
              </a:ext>
            </a:extLst>
          </p:cNvPr>
          <p:cNvSpPr/>
          <p:nvPr/>
        </p:nvSpPr>
        <p:spPr>
          <a:xfrm>
            <a:off x="1244184" y="3429000"/>
            <a:ext cx="2431703" cy="369332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  <a:cs typeface="Aparajita" panose="02020603050405020304" pitchFamily="18" charset="0"/>
              </a:rPr>
              <a:t>Streaming Data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">
            <a:extLst>
              <a:ext uri="{FF2B5EF4-FFF2-40B4-BE49-F238E27FC236}">
                <a16:creationId xmlns:a16="http://schemas.microsoft.com/office/drawing/2014/main" id="{5DB207CE-493D-9CB9-57E9-2EB550ED7F21}"/>
              </a:ext>
            </a:extLst>
          </p:cNvPr>
          <p:cNvSpPr txBox="1"/>
          <p:nvPr/>
        </p:nvSpPr>
        <p:spPr>
          <a:xfrm>
            <a:off x="4079165" y="2464906"/>
            <a:ext cx="7503235" cy="2893100"/>
          </a:xfrm>
          <a:prstGeom prst="rect">
            <a:avLst/>
          </a:prstGeom>
          <a:noFill/>
          <a:ln w="9528" cap="flat">
            <a:solidFill>
              <a:srgbClr val="00206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Main IO endpoints (sources and sinks): 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b="0" i="0" u="none" strike="noStrike" kern="1200" cap="none" spc="0" baseline="0" dirty="0">
              <a:solidFill>
                <a:srgbClr val="000000"/>
              </a:solidFill>
              <a:uFillTx/>
              <a:latin typeface="Aptos" panose="020B0004020202020204" pitchFamily="34" charset="0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1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File System: 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	• </a:t>
            </a:r>
            <a:r>
              <a:rPr lang="en-US" b="0" i="0" u="none" strike="noStrike" kern="1200" cap="none" spc="0" baseline="0" dirty="0">
                <a:solidFill>
                  <a:srgbClr val="C00000"/>
                </a:solidFill>
                <a:uFillTx/>
                <a:latin typeface="Aptos" panose="020B0004020202020204" pitchFamily="34" charset="0"/>
              </a:rPr>
              <a:t>FileReader </a:t>
            </a: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/ </a:t>
            </a:r>
            <a:r>
              <a:rPr lang="en-US" b="0" i="0" u="none" strike="noStrike" kern="1200" cap="none" spc="0" baseline="0" dirty="0">
                <a:solidFill>
                  <a:srgbClr val="C00000"/>
                </a:solidFill>
                <a:uFillTx/>
                <a:latin typeface="Aptos" panose="020B0004020202020204" pitchFamily="34" charset="0"/>
              </a:rPr>
              <a:t>FileWriter</a:t>
            </a: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 / 	</a:t>
            </a:r>
            <a:r>
              <a:rPr lang="en-US" b="0" i="0" u="none" strike="noStrike" kern="1200" cap="none" spc="0" baseline="0" dirty="0">
                <a:solidFill>
                  <a:srgbClr val="C00000"/>
                </a:solidFill>
                <a:uFillTx/>
                <a:latin typeface="Aptos" panose="020B0004020202020204" pitchFamily="34" charset="0"/>
              </a:rPr>
              <a:t>FileInputStream</a:t>
            </a: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 / </a:t>
            </a:r>
            <a:r>
              <a:rPr lang="en-US" b="0" i="0" u="none" strike="noStrike" kern="1200" cap="none" spc="0" baseline="0" dirty="0">
                <a:solidFill>
                  <a:srgbClr val="C00000"/>
                </a:solidFill>
                <a:uFillTx/>
                <a:latin typeface="Aptos" panose="020B0004020202020204" pitchFamily="34" charset="0"/>
              </a:rPr>
              <a:t>FileOutputStream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b="0" i="0" u="none" strike="noStrike" kern="1200" cap="none" spc="0" baseline="0" dirty="0">
              <a:solidFill>
                <a:srgbClr val="000000"/>
              </a:solidFill>
              <a:uFillTx/>
              <a:latin typeface="Aptos" panose="020B0004020202020204" pitchFamily="34" charset="0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1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 Networking: 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	• </a:t>
            </a:r>
            <a:r>
              <a:rPr lang="en-US" b="0" i="0" u="none" strike="noStrike" kern="1200" cap="none" spc="0" baseline="0" dirty="0">
                <a:solidFill>
                  <a:srgbClr val="C00000"/>
                </a:solidFill>
                <a:uFillTx/>
                <a:latin typeface="Aptos" panose="020B0004020202020204" pitchFamily="34" charset="0"/>
              </a:rPr>
              <a:t>Socket</a:t>
            </a: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 / </a:t>
            </a:r>
            <a:r>
              <a:rPr lang="en-US" b="0" i="0" u="none" strike="noStrike" kern="1200" cap="none" spc="0" baseline="0" dirty="0">
                <a:solidFill>
                  <a:srgbClr val="C00000"/>
                </a:solidFill>
                <a:uFillTx/>
                <a:latin typeface="Aptos" panose="020B0004020202020204" pitchFamily="34" charset="0"/>
              </a:rPr>
              <a:t>ServerSocket</a:t>
            </a: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 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b="0" i="0" u="none" strike="noStrike" kern="1200" cap="none" spc="0" baseline="0" dirty="0">
              <a:solidFill>
                <a:srgbClr val="000000"/>
              </a:solidFill>
              <a:uFillTx/>
              <a:latin typeface="Aptos" panose="020B0004020202020204" pitchFamily="34" charset="0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1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Threads communication (pipes): 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	• </a:t>
            </a:r>
            <a:r>
              <a:rPr lang="en-US" b="0" i="0" u="none" strike="noStrike" kern="1200" cap="none" spc="0" baseline="0" dirty="0">
                <a:solidFill>
                  <a:srgbClr val="C00000"/>
                </a:solidFill>
                <a:uFillTx/>
                <a:latin typeface="Aptos" panose="020B0004020202020204" pitchFamily="34" charset="0"/>
              </a:rPr>
              <a:t>PipedInputStream</a:t>
            </a: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 / </a:t>
            </a:r>
            <a:r>
              <a:rPr lang="en-US" b="0" i="0" u="none" strike="noStrike" kern="1200" cap="none" spc="0" baseline="0" dirty="0">
                <a:solidFill>
                  <a:srgbClr val="C00000"/>
                </a:solidFill>
                <a:uFillTx/>
                <a:latin typeface="Aptos" panose="020B0004020202020204" pitchFamily="34" charset="0"/>
              </a:rPr>
              <a:t>PipedOutputStream</a:t>
            </a:r>
            <a:endParaRPr lang="-" b="0" i="0" u="none" strike="noStrike" kern="1200" cap="none" spc="0" baseline="0" dirty="0">
              <a:solidFill>
                <a:srgbClr val="C00000"/>
              </a:solidFill>
              <a:uFillTx/>
              <a:latin typeface="Aptos" panose="020B0004020202020204" pitchFamily="34" charset="0"/>
            </a:endParaRPr>
          </a:p>
        </p:txBody>
      </p:sp>
      <p:cxnSp>
        <p:nvCxnSpPr>
          <p:cNvPr id="6" name="Straight Connector 9">
            <a:extLst>
              <a:ext uri="{FF2B5EF4-FFF2-40B4-BE49-F238E27FC236}">
                <a16:creationId xmlns:a16="http://schemas.microsoft.com/office/drawing/2014/main" id="{D4923AEC-C6C5-C4B5-CD97-9F165D8FBEA1}"/>
              </a:ext>
            </a:extLst>
          </p:cNvPr>
          <p:cNvCxnSpPr/>
          <p:nvPr/>
        </p:nvCxnSpPr>
        <p:spPr>
          <a:xfrm>
            <a:off x="4079165" y="2241165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7" name="Straight Connector 12">
            <a:extLst>
              <a:ext uri="{FF2B5EF4-FFF2-40B4-BE49-F238E27FC236}">
                <a16:creationId xmlns:a16="http://schemas.microsoft.com/office/drawing/2014/main" id="{B2617B71-6A50-413F-99B9-872108596AAA}"/>
              </a:ext>
            </a:extLst>
          </p:cNvPr>
          <p:cNvCxnSpPr/>
          <p:nvPr/>
        </p:nvCxnSpPr>
        <p:spPr>
          <a:xfrm>
            <a:off x="4079165" y="5734591"/>
            <a:ext cx="6585125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9" name="TextBox 10">
            <a:extLst>
              <a:ext uri="{FF2B5EF4-FFF2-40B4-BE49-F238E27FC236}">
                <a16:creationId xmlns:a16="http://schemas.microsoft.com/office/drawing/2014/main" id="{3B5F247D-15B8-4228-D68F-33A4E4A1BCF6}"/>
              </a:ext>
            </a:extLst>
          </p:cNvPr>
          <p:cNvSpPr txBox="1"/>
          <p:nvPr/>
        </p:nvSpPr>
        <p:spPr>
          <a:xfrm>
            <a:off x="3994498" y="1871830"/>
            <a:ext cx="2393350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1200" cap="none" spc="0" baseline="0" dirty="0">
                <a:solidFill>
                  <a:srgbClr val="E97132"/>
                </a:solidFill>
                <a:uFillTx/>
                <a:latin typeface="Aptos"/>
              </a:rPr>
              <a:t>IO endpoints</a:t>
            </a:r>
            <a:endParaRPr lang="-" sz="1800" b="1" i="0" u="none" strike="noStrike" kern="1200" cap="none" spc="0" baseline="0" dirty="0">
              <a:solidFill>
                <a:srgbClr val="E97132"/>
              </a:solidFill>
              <a:uFillTx/>
              <a:latin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B68EA77-8089-8E79-D3D7-475DBBEFD96B}"/>
              </a:ext>
            </a:extLst>
          </p:cNvPr>
          <p:cNvSpPr/>
          <p:nvPr/>
        </p:nvSpPr>
        <p:spPr>
          <a:xfrm>
            <a:off x="1244184" y="3429000"/>
            <a:ext cx="2431703" cy="369332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  <a:cs typeface="Aparajita" panose="02020603050405020304" pitchFamily="18" charset="0"/>
              </a:rPr>
              <a:t>Streaming Data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">
            <a:extLst>
              <a:ext uri="{FF2B5EF4-FFF2-40B4-BE49-F238E27FC236}">
                <a16:creationId xmlns:a16="http://schemas.microsoft.com/office/drawing/2014/main" id="{C7EC0EBB-F750-B0F6-8149-E64613316CDC}"/>
              </a:ext>
            </a:extLst>
          </p:cNvPr>
          <p:cNvSpPr txBox="1"/>
          <p:nvPr/>
        </p:nvSpPr>
        <p:spPr>
          <a:xfrm>
            <a:off x="4140287" y="2623121"/>
            <a:ext cx="6707371" cy="2031325"/>
          </a:xfrm>
          <a:prstGeom prst="rect">
            <a:avLst/>
          </a:prstGeom>
          <a:noFill/>
          <a:ln w="9528" cap="flat">
            <a:solidFill>
              <a:srgbClr val="00206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Three default accessed streams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b="0" i="0" u="none" strike="noStrike" kern="1200" cap="none" spc="0" baseline="0" dirty="0">
              <a:solidFill>
                <a:srgbClr val="C00000"/>
              </a:solidFill>
              <a:uFillTx/>
              <a:latin typeface="Aptos" panose="020B0004020202020204" pitchFamily="34" charset="0"/>
            </a:endParaRPr>
          </a:p>
          <a:p>
            <a:pPr marL="457200" marR="0" lvl="0" indent="-4572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System.in – InputStream</a:t>
            </a:r>
          </a:p>
          <a:p>
            <a:pPr marL="457200" marR="0" lvl="0" indent="-4572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b="0" i="0" u="none" strike="noStrike" kern="1200" cap="none" spc="0" baseline="0" dirty="0">
              <a:solidFill>
                <a:srgbClr val="000000"/>
              </a:solidFill>
              <a:uFillTx/>
              <a:latin typeface="Aptos" panose="020B0004020202020204" pitchFamily="34" charset="0"/>
            </a:endParaRPr>
          </a:p>
          <a:p>
            <a:pPr marL="457200" marR="0" lvl="0" indent="-4572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System.out - PrintStream (OutputStream) </a:t>
            </a:r>
          </a:p>
          <a:p>
            <a:pPr marL="457200" marR="0" lvl="0" indent="-4572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b="0" i="0" u="none" strike="noStrike" kern="1200" cap="none" spc="0" baseline="0" dirty="0">
              <a:solidFill>
                <a:srgbClr val="000000"/>
              </a:solidFill>
              <a:uFillTx/>
              <a:latin typeface="Aptos" panose="020B0004020202020204" pitchFamily="34" charset="0"/>
            </a:endParaRPr>
          </a:p>
          <a:p>
            <a:pPr marL="457200" marR="0" lvl="0" indent="-4572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System.err - PrintStream</a:t>
            </a:r>
            <a:endParaRPr lang="-" b="0" i="0" u="none" strike="noStrike" kern="1200" cap="none" spc="0" baseline="0" dirty="0">
              <a:solidFill>
                <a:srgbClr val="C00000"/>
              </a:solidFill>
              <a:uFillTx/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28BD521-F574-E94F-977B-9A47F272E96C}"/>
              </a:ext>
            </a:extLst>
          </p:cNvPr>
          <p:cNvSpPr/>
          <p:nvPr/>
        </p:nvSpPr>
        <p:spPr>
          <a:xfrm>
            <a:off x="1244184" y="3429000"/>
            <a:ext cx="2431703" cy="369332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  <a:cs typeface="Aparajita" panose="02020603050405020304" pitchFamily="18" charset="0"/>
              </a:rPr>
              <a:t>Streaming Data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466A462-C593-E8EF-84AF-CD7B4595CB08}"/>
              </a:ext>
            </a:extLst>
          </p:cNvPr>
          <p:cNvCxnSpPr/>
          <p:nvPr/>
        </p:nvCxnSpPr>
        <p:spPr>
          <a:xfrm>
            <a:off x="4079165" y="2253794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11" name="Straight Connector 12">
            <a:extLst>
              <a:ext uri="{FF2B5EF4-FFF2-40B4-BE49-F238E27FC236}">
                <a16:creationId xmlns:a16="http://schemas.microsoft.com/office/drawing/2014/main" id="{39AF0C6B-7B72-84A7-DD2F-E2A0C25846CA}"/>
              </a:ext>
            </a:extLst>
          </p:cNvPr>
          <p:cNvCxnSpPr/>
          <p:nvPr/>
        </p:nvCxnSpPr>
        <p:spPr>
          <a:xfrm>
            <a:off x="4201409" y="5116523"/>
            <a:ext cx="6585125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12" name="TextBox 10">
            <a:extLst>
              <a:ext uri="{FF2B5EF4-FFF2-40B4-BE49-F238E27FC236}">
                <a16:creationId xmlns:a16="http://schemas.microsoft.com/office/drawing/2014/main" id="{92876213-AFF0-D902-1A91-0A6C51BC0F92}"/>
              </a:ext>
            </a:extLst>
          </p:cNvPr>
          <p:cNvSpPr txBox="1"/>
          <p:nvPr/>
        </p:nvSpPr>
        <p:spPr>
          <a:xfrm>
            <a:off x="4079165" y="1884468"/>
            <a:ext cx="2393350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1200" cap="none" spc="0" baseline="0" dirty="0">
                <a:solidFill>
                  <a:srgbClr val="E97132"/>
                </a:solidFill>
                <a:uFillTx/>
                <a:latin typeface="Aptos"/>
              </a:rPr>
              <a:t>Streams</a:t>
            </a:r>
            <a:endParaRPr lang="-" sz="1800" b="1" i="0" u="none" strike="noStrike" kern="1200" cap="none" spc="0" baseline="0" dirty="0">
              <a:solidFill>
                <a:srgbClr val="E97132"/>
              </a:solidFill>
              <a:uFillTx/>
              <a:latin typeface="Apto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">
            <a:extLst>
              <a:ext uri="{FF2B5EF4-FFF2-40B4-BE49-F238E27FC236}">
                <a16:creationId xmlns:a16="http://schemas.microsoft.com/office/drawing/2014/main" id="{5E641FFA-F543-1FE6-4FF3-29AB613F27FE}"/>
              </a:ext>
            </a:extLst>
          </p:cNvPr>
          <p:cNvSpPr txBox="1"/>
          <p:nvPr/>
        </p:nvSpPr>
        <p:spPr>
          <a:xfrm>
            <a:off x="4111603" y="2634569"/>
            <a:ext cx="6568644" cy="400110"/>
          </a:xfrm>
          <a:prstGeom prst="rect">
            <a:avLst/>
          </a:prstGeom>
          <a:noFill/>
          <a:ln w="9528" cap="flat">
            <a:solidFill>
              <a:srgbClr val="00206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Basic input and output stream functionality</a:t>
            </a: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37E315F7-F30C-E485-5034-CE96AAF396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1603" y="3823322"/>
            <a:ext cx="6566013" cy="2307830"/>
          </a:xfrm>
          <a:prstGeom prst="rect">
            <a:avLst/>
          </a:prstGeom>
          <a:solidFill>
            <a:srgbClr val="FFFFFF">
              <a:alpha val="96000"/>
            </a:srgbClr>
          </a:solidFill>
          <a:ln w="9528" cap="flat">
            <a:solidFill>
              <a:srgbClr val="002060"/>
            </a:solidFill>
            <a:prstDash val="solid"/>
            <a:miter/>
          </a:ln>
        </p:spPr>
      </p:pic>
      <p:cxnSp>
        <p:nvCxnSpPr>
          <p:cNvPr id="8" name="Straight Connector 9">
            <a:extLst>
              <a:ext uri="{FF2B5EF4-FFF2-40B4-BE49-F238E27FC236}">
                <a16:creationId xmlns:a16="http://schemas.microsoft.com/office/drawing/2014/main" id="{CC963335-7033-858E-BB6D-01E4C08628C7}"/>
              </a:ext>
            </a:extLst>
          </p:cNvPr>
          <p:cNvCxnSpPr/>
          <p:nvPr/>
        </p:nvCxnSpPr>
        <p:spPr>
          <a:xfrm>
            <a:off x="4079165" y="2253794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9" name="Straight Connector 12">
            <a:extLst>
              <a:ext uri="{FF2B5EF4-FFF2-40B4-BE49-F238E27FC236}">
                <a16:creationId xmlns:a16="http://schemas.microsoft.com/office/drawing/2014/main" id="{DD99D774-05DB-9FC0-048C-215B71A87B59}"/>
              </a:ext>
            </a:extLst>
          </p:cNvPr>
          <p:cNvCxnSpPr/>
          <p:nvPr/>
        </p:nvCxnSpPr>
        <p:spPr>
          <a:xfrm>
            <a:off x="4201411" y="6489506"/>
            <a:ext cx="6585125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10" name="TextBox 10">
            <a:extLst>
              <a:ext uri="{FF2B5EF4-FFF2-40B4-BE49-F238E27FC236}">
                <a16:creationId xmlns:a16="http://schemas.microsoft.com/office/drawing/2014/main" id="{0156404D-E0E4-F8CB-CE6A-F6938D80AC74}"/>
              </a:ext>
            </a:extLst>
          </p:cNvPr>
          <p:cNvSpPr txBox="1"/>
          <p:nvPr/>
        </p:nvSpPr>
        <p:spPr>
          <a:xfrm>
            <a:off x="4079165" y="1884468"/>
            <a:ext cx="2393350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1200" cap="none" spc="0" baseline="0" dirty="0">
                <a:solidFill>
                  <a:srgbClr val="E97132"/>
                </a:solidFill>
                <a:uFillTx/>
                <a:latin typeface="Aptos"/>
              </a:rPr>
              <a:t>IO Stream Func</a:t>
            </a:r>
            <a:endParaRPr lang="-" sz="1800" b="1" i="0" u="none" strike="noStrike" kern="1200" cap="none" spc="0" baseline="0" dirty="0">
              <a:solidFill>
                <a:srgbClr val="E97132"/>
              </a:solidFill>
              <a:uFillTx/>
              <a:latin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2958099-06DD-499D-CE81-DFA73430C505}"/>
              </a:ext>
            </a:extLst>
          </p:cNvPr>
          <p:cNvSpPr/>
          <p:nvPr/>
        </p:nvSpPr>
        <p:spPr>
          <a:xfrm>
            <a:off x="1244184" y="3429000"/>
            <a:ext cx="2431703" cy="369332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  <a:cs typeface="Aparajita" panose="02020603050405020304" pitchFamily="18" charset="0"/>
              </a:rPr>
              <a:t>Streaming Data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6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3">
            <a:extLst>
              <a:ext uri="{FF2B5EF4-FFF2-40B4-BE49-F238E27FC236}">
                <a16:creationId xmlns:a16="http://schemas.microsoft.com/office/drawing/2014/main" id="{71D3ED2F-1B58-BB5F-300D-063743834EB8}"/>
              </a:ext>
            </a:extLst>
          </p:cNvPr>
          <p:cNvSpPr txBox="1"/>
          <p:nvPr/>
        </p:nvSpPr>
        <p:spPr>
          <a:xfrm>
            <a:off x="4201411" y="2907776"/>
            <a:ext cx="3664295" cy="2862322"/>
          </a:xfrm>
          <a:prstGeom prst="rect">
            <a:avLst/>
          </a:prstGeom>
          <a:noFill/>
          <a:ln w="9528" cap="flat">
            <a:solidFill>
              <a:srgbClr val="00206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457200" marR="0" lvl="0" indent="-4572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int available()</a:t>
            </a:r>
          </a:p>
          <a:p>
            <a:pPr marL="457200" marR="0" lvl="0" indent="-4572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b="0" i="0" u="none" strike="noStrike" kern="1200" cap="none" spc="0" baseline="0" dirty="0">
              <a:solidFill>
                <a:srgbClr val="000000"/>
              </a:solidFill>
              <a:uFillTx/>
              <a:latin typeface="Aptos" panose="020B0004020202020204" pitchFamily="34" charset="0"/>
            </a:endParaRPr>
          </a:p>
          <a:p>
            <a:pPr marL="457200" marR="0" lvl="0" indent="-4572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int read()</a:t>
            </a:r>
          </a:p>
          <a:p>
            <a:pPr marL="457200" marR="0" lvl="0" indent="-4572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b="0" i="0" u="none" strike="noStrike" kern="1200" cap="none" spc="0" baseline="0" dirty="0">
              <a:solidFill>
                <a:srgbClr val="000000"/>
              </a:solidFill>
              <a:uFillTx/>
              <a:latin typeface="Aptos" panose="020B0004020202020204" pitchFamily="34" charset="0"/>
            </a:endParaRPr>
          </a:p>
          <a:p>
            <a:pPr marL="457200" marR="0" lvl="0" indent="-4572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int read(byte[] b)</a:t>
            </a:r>
          </a:p>
          <a:p>
            <a:pPr marL="457200" marR="0" lvl="0" indent="-4572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b="0" i="0" u="none" strike="noStrike" kern="1200" cap="none" spc="0" baseline="0" dirty="0">
              <a:solidFill>
                <a:srgbClr val="000000"/>
              </a:solidFill>
              <a:uFillTx/>
              <a:latin typeface="Aptos" panose="020B0004020202020204" pitchFamily="34" charset="0"/>
            </a:endParaRPr>
          </a:p>
          <a:p>
            <a:pPr marL="457200" marR="0" lvl="0" indent="-4572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int read(byte[] b, int off, int len)</a:t>
            </a:r>
          </a:p>
          <a:p>
            <a:pPr marL="457200" marR="0" lvl="0" indent="-4572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b="0" i="0" u="none" strike="noStrike" kern="1200" cap="none" spc="0" baseline="0" dirty="0">
              <a:solidFill>
                <a:srgbClr val="000000"/>
              </a:solidFill>
              <a:uFillTx/>
              <a:latin typeface="Aptos" panose="020B0004020202020204" pitchFamily="34" charset="0"/>
            </a:endParaRPr>
          </a:p>
          <a:p>
            <a:pPr marL="457200" marR="0" lvl="0" indent="-4572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long skip(long n) </a:t>
            </a:r>
          </a:p>
          <a:p>
            <a:pPr marL="457200" marR="0" lvl="0" indent="-4572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b="0" i="0" u="none" strike="noStrike" kern="1200" cap="none" spc="0" baseline="0" dirty="0">
              <a:solidFill>
                <a:srgbClr val="000000"/>
              </a:solidFill>
              <a:uFillTx/>
              <a:latin typeface="Aptos" panose="020B0004020202020204" pitchFamily="34" charset="0"/>
            </a:endParaRPr>
          </a:p>
        </p:txBody>
      </p:sp>
      <p:cxnSp>
        <p:nvCxnSpPr>
          <p:cNvPr id="7" name="Straight Connector 9">
            <a:extLst>
              <a:ext uri="{FF2B5EF4-FFF2-40B4-BE49-F238E27FC236}">
                <a16:creationId xmlns:a16="http://schemas.microsoft.com/office/drawing/2014/main" id="{24097B1C-F511-5EF5-AEA2-5C1EAE92ED70}"/>
              </a:ext>
            </a:extLst>
          </p:cNvPr>
          <p:cNvCxnSpPr/>
          <p:nvPr/>
        </p:nvCxnSpPr>
        <p:spPr>
          <a:xfrm>
            <a:off x="4060504" y="2257926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8" name="Straight Connector 12">
            <a:extLst>
              <a:ext uri="{FF2B5EF4-FFF2-40B4-BE49-F238E27FC236}">
                <a16:creationId xmlns:a16="http://schemas.microsoft.com/office/drawing/2014/main" id="{8D9E709A-F1B1-108B-B936-7A318A4D25F3}"/>
              </a:ext>
            </a:extLst>
          </p:cNvPr>
          <p:cNvCxnSpPr/>
          <p:nvPr/>
        </p:nvCxnSpPr>
        <p:spPr>
          <a:xfrm>
            <a:off x="4285387" y="6162934"/>
            <a:ext cx="6585125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10" name="TextBox 10">
            <a:extLst>
              <a:ext uri="{FF2B5EF4-FFF2-40B4-BE49-F238E27FC236}">
                <a16:creationId xmlns:a16="http://schemas.microsoft.com/office/drawing/2014/main" id="{B12725CF-A50D-7D37-6A52-4B5B97D6CF3B}"/>
              </a:ext>
            </a:extLst>
          </p:cNvPr>
          <p:cNvSpPr txBox="1"/>
          <p:nvPr/>
        </p:nvSpPr>
        <p:spPr>
          <a:xfrm>
            <a:off x="3948536" y="1930564"/>
            <a:ext cx="2769504" cy="36933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1200" cap="none" spc="0" baseline="0" dirty="0">
                <a:solidFill>
                  <a:srgbClr val="E97132"/>
                </a:solidFill>
                <a:uFillTx/>
                <a:latin typeface="Aptos"/>
              </a:rPr>
              <a:t>InputStream methods</a:t>
            </a:r>
            <a:endParaRPr lang="-" sz="1800" b="1" i="0" u="none" strike="noStrike" kern="1200" cap="none" spc="0" baseline="0" dirty="0">
              <a:solidFill>
                <a:srgbClr val="E97132"/>
              </a:solidFill>
              <a:uFillTx/>
              <a:latin typeface="Apto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19BB44-1261-6DD3-F905-74F78D292A88}"/>
              </a:ext>
            </a:extLst>
          </p:cNvPr>
          <p:cNvSpPr txBox="1"/>
          <p:nvPr/>
        </p:nvSpPr>
        <p:spPr>
          <a:xfrm>
            <a:off x="8103015" y="2915848"/>
            <a:ext cx="3364307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457200" marR="0" lvl="0" indent="-4572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void close()</a:t>
            </a:r>
          </a:p>
          <a:p>
            <a:pPr marL="457200" marR="0" lvl="0" indent="-4572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b="0" i="0" u="none" strike="noStrike" kern="1200" cap="none" spc="0" baseline="0" dirty="0">
              <a:solidFill>
                <a:srgbClr val="000000"/>
              </a:solidFill>
              <a:uFillTx/>
              <a:latin typeface="Aptos" panose="020B0004020202020204" pitchFamily="34" charset="0"/>
            </a:endParaRPr>
          </a:p>
          <a:p>
            <a:pPr marL="457200" marR="0" lvl="0" indent="-4572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void mark(int readlimit)</a:t>
            </a:r>
          </a:p>
          <a:p>
            <a:pPr marL="457200" marR="0" lvl="0" indent="-4572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b="0" i="0" u="none" strike="noStrike" kern="1200" cap="none" spc="0" baseline="0" dirty="0">
              <a:solidFill>
                <a:srgbClr val="000000"/>
              </a:solidFill>
              <a:uFillTx/>
              <a:latin typeface="Aptos" panose="020B0004020202020204" pitchFamily="34" charset="0"/>
            </a:endParaRPr>
          </a:p>
          <a:p>
            <a:pPr marL="457200" marR="0" lvl="0" indent="-4572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boolean markSupported()</a:t>
            </a:r>
          </a:p>
          <a:p>
            <a:pPr marL="457200" marR="0" lvl="0" indent="-4572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b="0" i="0" u="none" strike="noStrike" kern="1200" cap="none" spc="0" baseline="0" dirty="0">
              <a:solidFill>
                <a:srgbClr val="000000"/>
              </a:solidFill>
              <a:uFillTx/>
              <a:latin typeface="Aptos" panose="020B0004020202020204" pitchFamily="34" charset="0"/>
            </a:endParaRPr>
          </a:p>
          <a:p>
            <a:pPr marL="457200" marR="0" lvl="0" indent="-4572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void reset()</a:t>
            </a:r>
            <a:endParaRPr lang="-" b="0" i="0" u="none" strike="noStrike" kern="1200" cap="none" spc="0" baseline="0" dirty="0">
              <a:solidFill>
                <a:srgbClr val="000000"/>
              </a:solidFill>
              <a:uFillTx/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CAB99F-F0B3-F7EC-F3A9-B1BE1CD1CF8A}"/>
              </a:ext>
            </a:extLst>
          </p:cNvPr>
          <p:cNvSpPr/>
          <p:nvPr/>
        </p:nvSpPr>
        <p:spPr>
          <a:xfrm>
            <a:off x="1244184" y="3429000"/>
            <a:ext cx="2431703" cy="369332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  <a:cs typeface="Aparajita" panose="02020603050405020304" pitchFamily="18" charset="0"/>
              </a:rPr>
              <a:t>Streaming Data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3">
            <a:extLst>
              <a:ext uri="{FF2B5EF4-FFF2-40B4-BE49-F238E27FC236}">
                <a16:creationId xmlns:a16="http://schemas.microsoft.com/office/drawing/2014/main" id="{0E390FCE-7E65-ACE8-4E12-AEB07D222B74}"/>
              </a:ext>
            </a:extLst>
          </p:cNvPr>
          <p:cNvSpPr txBox="1"/>
          <p:nvPr/>
        </p:nvSpPr>
        <p:spPr>
          <a:xfrm>
            <a:off x="4079165" y="2508987"/>
            <a:ext cx="6391715" cy="2862322"/>
          </a:xfrm>
          <a:prstGeom prst="rect">
            <a:avLst/>
          </a:prstGeom>
          <a:noFill/>
          <a:ln w="9528" cap="flat">
            <a:solidFill>
              <a:srgbClr val="00206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457200" marR="0" lvl="0" indent="-4572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void write(byte[] b)</a:t>
            </a:r>
          </a:p>
          <a:p>
            <a:pPr marL="457200" marR="0" lvl="0" indent="-4572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000" b="0" i="0" u="none" strike="noStrike" kern="1200" cap="none" spc="0" baseline="0" dirty="0">
              <a:solidFill>
                <a:srgbClr val="000000"/>
              </a:solidFill>
              <a:uFillTx/>
              <a:latin typeface="Aptos" panose="020B0004020202020204" pitchFamily="34" charset="0"/>
            </a:endParaRPr>
          </a:p>
          <a:p>
            <a:pPr marL="457200" marR="0" lvl="0" indent="-4572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void write(byte[] b, int off, int len)</a:t>
            </a:r>
          </a:p>
          <a:p>
            <a:pPr marL="457200" marR="0" lvl="0" indent="-4572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000" b="0" i="0" u="none" strike="noStrike" kern="1200" cap="none" spc="0" baseline="0" dirty="0">
              <a:solidFill>
                <a:srgbClr val="000000"/>
              </a:solidFill>
              <a:uFillTx/>
              <a:latin typeface="Aptos" panose="020B0004020202020204" pitchFamily="34" charset="0"/>
            </a:endParaRPr>
          </a:p>
          <a:p>
            <a:pPr marL="457200" marR="0" lvl="0" indent="-4572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void write(int b)</a:t>
            </a:r>
          </a:p>
          <a:p>
            <a:pPr marL="457200" marR="0" lvl="0" indent="-4572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000" b="0" i="0" u="none" strike="noStrike" kern="1200" cap="none" spc="0" baseline="0" dirty="0">
              <a:solidFill>
                <a:srgbClr val="000000"/>
              </a:solidFill>
              <a:uFillTx/>
              <a:latin typeface="Aptos" panose="020B0004020202020204" pitchFamily="34" charset="0"/>
            </a:endParaRPr>
          </a:p>
          <a:p>
            <a:pPr marL="457200" marR="0" lvl="0" indent="-4572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void flush()</a:t>
            </a:r>
          </a:p>
          <a:p>
            <a:pPr marL="457200" marR="0" lvl="0" indent="-4572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000" b="0" i="0" u="none" strike="noStrike" kern="1200" cap="none" spc="0" baseline="0" dirty="0">
              <a:solidFill>
                <a:srgbClr val="000000"/>
              </a:solidFill>
              <a:uFillTx/>
              <a:latin typeface="Aptos" panose="020B0004020202020204" pitchFamily="34" charset="0"/>
            </a:endParaRPr>
          </a:p>
          <a:p>
            <a:pPr marL="457200" marR="0" lvl="0" indent="-4572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void close() </a:t>
            </a:r>
            <a:endParaRPr lang="-" sz="2000" b="0" i="0" u="none" strike="noStrike" kern="1200" cap="none" spc="0" baseline="0" dirty="0">
              <a:solidFill>
                <a:srgbClr val="000000"/>
              </a:solidFill>
              <a:uFillTx/>
              <a:latin typeface="Aptos" panose="020B0004020202020204" pitchFamily="34" charset="0"/>
            </a:endParaRPr>
          </a:p>
        </p:txBody>
      </p:sp>
      <p:cxnSp>
        <p:nvCxnSpPr>
          <p:cNvPr id="12" name="Straight Connector 9">
            <a:extLst>
              <a:ext uri="{FF2B5EF4-FFF2-40B4-BE49-F238E27FC236}">
                <a16:creationId xmlns:a16="http://schemas.microsoft.com/office/drawing/2014/main" id="{23B9D8DC-640F-C0DA-AFE8-AC62A59FED3F}"/>
              </a:ext>
            </a:extLst>
          </p:cNvPr>
          <p:cNvCxnSpPr/>
          <p:nvPr/>
        </p:nvCxnSpPr>
        <p:spPr>
          <a:xfrm>
            <a:off x="4079165" y="2253794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363C33F-BC82-135E-48C3-6FD6924E0B73}"/>
              </a:ext>
            </a:extLst>
          </p:cNvPr>
          <p:cNvCxnSpPr/>
          <p:nvPr/>
        </p:nvCxnSpPr>
        <p:spPr>
          <a:xfrm>
            <a:off x="4095121" y="5780379"/>
            <a:ext cx="6585125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14" name="TextBox 10">
            <a:extLst>
              <a:ext uri="{FF2B5EF4-FFF2-40B4-BE49-F238E27FC236}">
                <a16:creationId xmlns:a16="http://schemas.microsoft.com/office/drawing/2014/main" id="{144568BE-2191-3D90-D18D-985BC2519EE2}"/>
              </a:ext>
            </a:extLst>
          </p:cNvPr>
          <p:cNvSpPr txBox="1"/>
          <p:nvPr/>
        </p:nvSpPr>
        <p:spPr>
          <a:xfrm>
            <a:off x="4013850" y="1884462"/>
            <a:ext cx="2750843" cy="36933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1200" cap="none" spc="0" baseline="0" dirty="0">
                <a:solidFill>
                  <a:srgbClr val="E97132"/>
                </a:solidFill>
                <a:uFillTx/>
                <a:latin typeface="Aptos"/>
              </a:rPr>
              <a:t>OutputStream methods</a:t>
            </a:r>
            <a:endParaRPr lang="-" sz="1800" b="1" i="0" u="none" strike="noStrike" kern="1200" cap="none" spc="0" baseline="0" dirty="0">
              <a:solidFill>
                <a:srgbClr val="E97132"/>
              </a:solidFill>
              <a:uFillTx/>
              <a:latin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9049AE-9756-3548-7683-8CF361610EF3}"/>
              </a:ext>
            </a:extLst>
          </p:cNvPr>
          <p:cNvSpPr/>
          <p:nvPr/>
        </p:nvSpPr>
        <p:spPr>
          <a:xfrm>
            <a:off x="1244184" y="3429000"/>
            <a:ext cx="2431703" cy="369332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  <a:cs typeface="Aparajita" panose="02020603050405020304" pitchFamily="18" charset="0"/>
              </a:rPr>
              <a:t>Streaming Data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">
            <a:extLst>
              <a:ext uri="{FF2B5EF4-FFF2-40B4-BE49-F238E27FC236}">
                <a16:creationId xmlns:a16="http://schemas.microsoft.com/office/drawing/2014/main" id="{88293EF0-A8DA-7A40-98E9-BB847DCCFA1D}"/>
              </a:ext>
            </a:extLst>
          </p:cNvPr>
          <p:cNvSpPr txBox="1"/>
          <p:nvPr/>
        </p:nvSpPr>
        <p:spPr>
          <a:xfrm>
            <a:off x="4079165" y="2521216"/>
            <a:ext cx="6408751" cy="400110"/>
          </a:xfrm>
          <a:prstGeom prst="rect">
            <a:avLst/>
          </a:prstGeom>
          <a:noFill/>
          <a:ln w="9528" cap="flat">
            <a:solidFill>
              <a:srgbClr val="00206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Basic input and output stream functionality</a:t>
            </a: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30BB2C08-8FC4-27CF-3B57-D91BE8E51E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9165" y="3219055"/>
            <a:ext cx="6355562" cy="3112667"/>
          </a:xfrm>
          <a:prstGeom prst="rect">
            <a:avLst/>
          </a:prstGeom>
          <a:noFill/>
          <a:ln w="9528" cap="flat">
            <a:solidFill>
              <a:srgbClr val="002060"/>
            </a:solidFill>
            <a:prstDash val="solid"/>
            <a:miter/>
          </a:ln>
        </p:spPr>
      </p:pic>
      <p:cxnSp>
        <p:nvCxnSpPr>
          <p:cNvPr id="8" name="Straight Connector 9">
            <a:extLst>
              <a:ext uri="{FF2B5EF4-FFF2-40B4-BE49-F238E27FC236}">
                <a16:creationId xmlns:a16="http://schemas.microsoft.com/office/drawing/2014/main" id="{E22DB048-9BA1-DACE-C200-240F45F3B507}"/>
              </a:ext>
            </a:extLst>
          </p:cNvPr>
          <p:cNvCxnSpPr/>
          <p:nvPr/>
        </p:nvCxnSpPr>
        <p:spPr>
          <a:xfrm>
            <a:off x="4079165" y="2253794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9" name="Straight Connector 12">
            <a:extLst>
              <a:ext uri="{FF2B5EF4-FFF2-40B4-BE49-F238E27FC236}">
                <a16:creationId xmlns:a16="http://schemas.microsoft.com/office/drawing/2014/main" id="{C7394DD8-7508-3B95-CB3D-3687E9FEDA89}"/>
              </a:ext>
            </a:extLst>
          </p:cNvPr>
          <p:cNvCxnSpPr/>
          <p:nvPr/>
        </p:nvCxnSpPr>
        <p:spPr>
          <a:xfrm>
            <a:off x="4079165" y="6638795"/>
            <a:ext cx="6585125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10" name="TextBox 10">
            <a:extLst>
              <a:ext uri="{FF2B5EF4-FFF2-40B4-BE49-F238E27FC236}">
                <a16:creationId xmlns:a16="http://schemas.microsoft.com/office/drawing/2014/main" id="{27762665-272B-FB5D-46B4-EA17EB01CD46}"/>
              </a:ext>
            </a:extLst>
          </p:cNvPr>
          <p:cNvSpPr txBox="1"/>
          <p:nvPr/>
        </p:nvSpPr>
        <p:spPr>
          <a:xfrm>
            <a:off x="4079165" y="1884468"/>
            <a:ext cx="2393350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1200" cap="none" spc="0" baseline="0" dirty="0">
                <a:solidFill>
                  <a:srgbClr val="E97132"/>
                </a:solidFill>
                <a:uFillTx/>
                <a:latin typeface="Aptos"/>
              </a:rPr>
              <a:t>IOStream Func</a:t>
            </a:r>
            <a:endParaRPr lang="-" sz="1800" b="1" i="0" u="none" strike="noStrike" kern="1200" cap="none" spc="0" baseline="0" dirty="0">
              <a:solidFill>
                <a:srgbClr val="E97132"/>
              </a:solidFill>
              <a:uFillTx/>
              <a:latin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FCBC7A-FB4C-952A-024D-C20FA3EB93B2}"/>
              </a:ext>
            </a:extLst>
          </p:cNvPr>
          <p:cNvSpPr/>
          <p:nvPr/>
        </p:nvSpPr>
        <p:spPr>
          <a:xfrm>
            <a:off x="1244184" y="3429000"/>
            <a:ext cx="2431703" cy="369332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  <a:cs typeface="Aparajita" panose="02020603050405020304" pitchFamily="18" charset="0"/>
              </a:rPr>
              <a:t>Streaming Data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65239941-C8E9-2434-7BAA-E87452FA7F3E}"/>
              </a:ext>
            </a:extLst>
          </p:cNvPr>
          <p:cNvSpPr txBox="1"/>
          <p:nvPr/>
        </p:nvSpPr>
        <p:spPr>
          <a:xfrm>
            <a:off x="4079165" y="2527657"/>
            <a:ext cx="6478835" cy="3200876"/>
          </a:xfrm>
          <a:prstGeom prst="rect">
            <a:avLst/>
          </a:prstGeom>
          <a:noFill/>
          <a:ln w="9528" cap="flat">
            <a:solidFill>
              <a:srgbClr val="00206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457200" marR="0" lvl="0" indent="-4572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+mj-lt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Stream created over another stream</a:t>
            </a:r>
          </a:p>
          <a:p>
            <a:pPr marL="457200" marR="0" lvl="0" indent="-4572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+mj-lt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Subclasses of:</a:t>
            </a:r>
          </a:p>
          <a:p>
            <a:pPr marL="742950" marR="0" lvl="1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FilterInputStream</a:t>
            </a:r>
          </a:p>
          <a:p>
            <a:pPr marL="742950" marR="0" lvl="1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FilterOutputStream</a:t>
            </a:r>
          </a:p>
          <a:p>
            <a:pPr marL="742950" marR="0" lvl="1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FilterReader</a:t>
            </a:r>
          </a:p>
          <a:p>
            <a:pPr marL="742950" marR="0" lvl="1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FilterWriter</a:t>
            </a:r>
          </a:p>
          <a:p>
            <a:pPr marL="457200" marR="0" lvl="0" indent="-4572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+mj-lt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used frequently to decorate IO into: </a:t>
            </a:r>
          </a:p>
          <a:p>
            <a:pPr marL="742950" marR="0" lvl="1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Text </a:t>
            </a:r>
          </a:p>
          <a:p>
            <a:pPr marL="742950" marR="0" lvl="1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Primitives</a:t>
            </a:r>
          </a:p>
          <a:p>
            <a:pPr marL="742950" marR="0" lvl="1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Objects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-" sz="18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cxnSp>
        <p:nvCxnSpPr>
          <p:cNvPr id="7" name="Straight Connector 9">
            <a:extLst>
              <a:ext uri="{FF2B5EF4-FFF2-40B4-BE49-F238E27FC236}">
                <a16:creationId xmlns:a16="http://schemas.microsoft.com/office/drawing/2014/main" id="{4D4E90F3-F476-B846-4CC7-1BEF6C7D90E0}"/>
              </a:ext>
            </a:extLst>
          </p:cNvPr>
          <p:cNvCxnSpPr/>
          <p:nvPr/>
        </p:nvCxnSpPr>
        <p:spPr>
          <a:xfrm>
            <a:off x="4079165" y="2241166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8" name="Straight Connector 12">
            <a:extLst>
              <a:ext uri="{FF2B5EF4-FFF2-40B4-BE49-F238E27FC236}">
                <a16:creationId xmlns:a16="http://schemas.microsoft.com/office/drawing/2014/main" id="{74E03CA3-BB73-DCAB-212D-C625A3E3A79E}"/>
              </a:ext>
            </a:extLst>
          </p:cNvPr>
          <p:cNvCxnSpPr/>
          <p:nvPr/>
        </p:nvCxnSpPr>
        <p:spPr>
          <a:xfrm>
            <a:off x="4095121" y="6140991"/>
            <a:ext cx="6585125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9" name="TextBox 10">
            <a:extLst>
              <a:ext uri="{FF2B5EF4-FFF2-40B4-BE49-F238E27FC236}">
                <a16:creationId xmlns:a16="http://schemas.microsoft.com/office/drawing/2014/main" id="{91292825-BD0D-8326-311F-08EE2A052E83}"/>
              </a:ext>
            </a:extLst>
          </p:cNvPr>
          <p:cNvSpPr txBox="1"/>
          <p:nvPr/>
        </p:nvSpPr>
        <p:spPr>
          <a:xfrm>
            <a:off x="3986031" y="1871831"/>
            <a:ext cx="3431806" cy="36933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1" dirty="0">
                <a:solidFill>
                  <a:srgbClr val="E97132"/>
                </a:solidFill>
                <a:latin typeface="Aptos"/>
              </a:rPr>
              <a:t>Filter Streams Decorators</a:t>
            </a:r>
            <a:endParaRPr lang="-" sz="1800" b="1" i="0" u="none" strike="noStrike" kern="1200" cap="none" spc="0" baseline="0" dirty="0">
              <a:solidFill>
                <a:srgbClr val="E97132"/>
              </a:solidFill>
              <a:uFillTx/>
              <a:latin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4BC409-4BD7-7E16-329C-9FB9B0FB84E6}"/>
              </a:ext>
            </a:extLst>
          </p:cNvPr>
          <p:cNvSpPr/>
          <p:nvPr/>
        </p:nvSpPr>
        <p:spPr>
          <a:xfrm>
            <a:off x="1244184" y="3429000"/>
            <a:ext cx="2431703" cy="369332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Stream Decoration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>
            <a:extLst>
              <a:ext uri="{FF2B5EF4-FFF2-40B4-BE49-F238E27FC236}">
                <a16:creationId xmlns:a16="http://schemas.microsoft.com/office/drawing/2014/main" id="{6A867876-CF7C-D10B-FBDC-52DAC7BF4C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6373" y="2619707"/>
            <a:ext cx="6921331" cy="3460171"/>
          </a:xfrm>
          <a:prstGeom prst="rect">
            <a:avLst/>
          </a:prstGeom>
          <a:noFill/>
          <a:ln cap="flat">
            <a:noFill/>
          </a:ln>
          <a:effectLst>
            <a:outerShdw dir="16200000" algn="tl">
              <a:srgbClr val="000000">
                <a:alpha val="70000"/>
              </a:srgbClr>
            </a:outerShdw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370665A-1282-C013-0981-A17BBCDB1810}"/>
              </a:ext>
            </a:extLst>
          </p:cNvPr>
          <p:cNvSpPr/>
          <p:nvPr/>
        </p:nvSpPr>
        <p:spPr>
          <a:xfrm>
            <a:off x="1244184" y="3429000"/>
            <a:ext cx="2431703" cy="369332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Stream Decoration</a:t>
            </a:r>
          </a:p>
        </p:txBody>
      </p:sp>
      <p:cxnSp>
        <p:nvCxnSpPr>
          <p:cNvPr id="11" name="Straight Connector 9">
            <a:extLst>
              <a:ext uri="{FF2B5EF4-FFF2-40B4-BE49-F238E27FC236}">
                <a16:creationId xmlns:a16="http://schemas.microsoft.com/office/drawing/2014/main" id="{D4791501-3FEA-9A88-4D36-70CA41C17421}"/>
              </a:ext>
            </a:extLst>
          </p:cNvPr>
          <p:cNvCxnSpPr/>
          <p:nvPr/>
        </p:nvCxnSpPr>
        <p:spPr>
          <a:xfrm>
            <a:off x="4079165" y="2253794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12" name="Straight Connector 12">
            <a:extLst>
              <a:ext uri="{FF2B5EF4-FFF2-40B4-BE49-F238E27FC236}">
                <a16:creationId xmlns:a16="http://schemas.microsoft.com/office/drawing/2014/main" id="{1A3B3A4E-5425-E210-685E-DF1877BDA6B7}"/>
              </a:ext>
            </a:extLst>
          </p:cNvPr>
          <p:cNvCxnSpPr/>
          <p:nvPr/>
        </p:nvCxnSpPr>
        <p:spPr>
          <a:xfrm>
            <a:off x="4184477" y="6445790"/>
            <a:ext cx="6585125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13" name="TextBox 10">
            <a:extLst>
              <a:ext uri="{FF2B5EF4-FFF2-40B4-BE49-F238E27FC236}">
                <a16:creationId xmlns:a16="http://schemas.microsoft.com/office/drawing/2014/main" id="{43185539-7981-1042-D07E-300509B760AF}"/>
              </a:ext>
            </a:extLst>
          </p:cNvPr>
          <p:cNvSpPr txBox="1"/>
          <p:nvPr/>
        </p:nvSpPr>
        <p:spPr>
          <a:xfrm>
            <a:off x="4079165" y="1884468"/>
            <a:ext cx="2393350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1" kern="0" dirty="0">
                <a:solidFill>
                  <a:srgbClr val="E97132"/>
                </a:solidFill>
                <a:latin typeface="Aptos"/>
              </a:rPr>
              <a:t>Chaining Decorators</a:t>
            </a:r>
            <a:endParaRPr lang="-" b="1" kern="0" dirty="0">
              <a:solidFill>
                <a:srgbClr val="E97132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">
            <a:extLst>
              <a:ext uri="{FF2B5EF4-FFF2-40B4-BE49-F238E27FC236}">
                <a16:creationId xmlns:a16="http://schemas.microsoft.com/office/drawing/2014/main" id="{F9D8B43F-3562-F63B-C4F0-62CA523698AA}"/>
              </a:ext>
            </a:extLst>
          </p:cNvPr>
          <p:cNvSpPr txBox="1"/>
          <p:nvPr/>
        </p:nvSpPr>
        <p:spPr>
          <a:xfrm>
            <a:off x="4172753" y="2630880"/>
            <a:ext cx="6507494" cy="369332"/>
          </a:xfrm>
          <a:prstGeom prst="rect">
            <a:avLst/>
          </a:prstGeom>
          <a:noFill/>
          <a:ln w="9528" cap="flat">
            <a:solidFill>
              <a:srgbClr val="00206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Switch between binary &lt;-&gt; text IO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446F966B-F771-670B-CD56-489027E1F3B4}"/>
              </a:ext>
            </a:extLst>
          </p:cNvPr>
          <p:cNvSpPr txBox="1"/>
          <p:nvPr/>
        </p:nvSpPr>
        <p:spPr>
          <a:xfrm>
            <a:off x="4172751" y="3233384"/>
            <a:ext cx="6613785" cy="2092881"/>
          </a:xfrm>
          <a:prstGeom prst="rect">
            <a:avLst/>
          </a:prstGeom>
          <a:noFill/>
          <a:ln w="9528" cap="flat">
            <a:solidFill>
              <a:srgbClr val="00206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i="1" dirty="0">
                <a:latin typeface="Aptos" panose="020B0004020202020204" pitchFamily="34" charset="0"/>
              </a:rPr>
              <a:t>InputStreamReader</a:t>
            </a:r>
            <a:r>
              <a:rPr lang="en-US" dirty="0">
                <a:latin typeface="Aptos" panose="020B0004020202020204" pitchFamily="34" charset="0"/>
              </a:rPr>
              <a:t>: 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Converts bytes read from an InputStream into characters using a specified charset.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b="0" i="0" u="none" strike="noStrike" kern="1200" cap="none" spc="0" baseline="0" dirty="0">
              <a:solidFill>
                <a:srgbClr val="000000"/>
              </a:solidFill>
              <a:uFillTx/>
              <a:latin typeface="Aptos" panose="020B0004020202020204" pitchFamily="34" charset="0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i="1" u="none" strike="noStrike" kern="1200" cap="none" spc="0" baseline="0" dirty="0">
                <a:uFillTx/>
                <a:latin typeface="Aptos" panose="020B0004020202020204" pitchFamily="34" charset="0"/>
              </a:rPr>
              <a:t>OutputStreamReader</a:t>
            </a:r>
            <a:r>
              <a:rPr lang="en-US" sz="2000" b="1" i="1" u="none" strike="noStrike" kern="1200" cap="none" spc="0" baseline="0" dirty="0">
                <a:solidFill>
                  <a:srgbClr val="C00000"/>
                </a:solidFill>
                <a:uFillTx/>
                <a:latin typeface="Aptos" panose="020B0004020202020204" pitchFamily="34" charset="0"/>
              </a:rPr>
              <a:t>: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Converts characters to bytes according to the character coding before writing</a:t>
            </a:r>
          </a:p>
        </p:txBody>
      </p:sp>
      <p:cxnSp>
        <p:nvCxnSpPr>
          <p:cNvPr id="8" name="Straight Connector 9">
            <a:extLst>
              <a:ext uri="{FF2B5EF4-FFF2-40B4-BE49-F238E27FC236}">
                <a16:creationId xmlns:a16="http://schemas.microsoft.com/office/drawing/2014/main" id="{2E22E466-4046-D06D-02A7-00A07A4A6E56}"/>
              </a:ext>
            </a:extLst>
          </p:cNvPr>
          <p:cNvCxnSpPr/>
          <p:nvPr/>
        </p:nvCxnSpPr>
        <p:spPr>
          <a:xfrm>
            <a:off x="4079165" y="2253794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9" name="Straight Connector 12">
            <a:extLst>
              <a:ext uri="{FF2B5EF4-FFF2-40B4-BE49-F238E27FC236}">
                <a16:creationId xmlns:a16="http://schemas.microsoft.com/office/drawing/2014/main" id="{9E9F35F2-335C-0207-E201-DDCC66B721D5}"/>
              </a:ext>
            </a:extLst>
          </p:cNvPr>
          <p:cNvCxnSpPr/>
          <p:nvPr/>
        </p:nvCxnSpPr>
        <p:spPr>
          <a:xfrm>
            <a:off x="4201411" y="5683791"/>
            <a:ext cx="6585125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10" name="TextBox 10">
            <a:extLst>
              <a:ext uri="{FF2B5EF4-FFF2-40B4-BE49-F238E27FC236}">
                <a16:creationId xmlns:a16="http://schemas.microsoft.com/office/drawing/2014/main" id="{49564AE2-0164-963A-DDDA-4084A8FD0E65}"/>
              </a:ext>
            </a:extLst>
          </p:cNvPr>
          <p:cNvSpPr txBox="1"/>
          <p:nvPr/>
        </p:nvSpPr>
        <p:spPr>
          <a:xfrm>
            <a:off x="4079165" y="1884468"/>
            <a:ext cx="2393350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1" dirty="0">
                <a:solidFill>
                  <a:srgbClr val="E97132"/>
                </a:solidFill>
                <a:latin typeface="Aptos"/>
              </a:rPr>
              <a:t>Switch Stream Type</a:t>
            </a:r>
            <a:endParaRPr lang="-" sz="1800" b="1" i="0" u="none" strike="noStrike" kern="1200" cap="none" spc="0" baseline="0" dirty="0">
              <a:solidFill>
                <a:srgbClr val="E97132"/>
              </a:solidFill>
              <a:uFillTx/>
              <a:latin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40AA1C7-7F45-E2AE-B6BE-3CA4C185955D}"/>
              </a:ext>
            </a:extLst>
          </p:cNvPr>
          <p:cNvSpPr/>
          <p:nvPr/>
        </p:nvSpPr>
        <p:spPr>
          <a:xfrm>
            <a:off x="1244184" y="3429000"/>
            <a:ext cx="2431703" cy="369332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Stream Decoration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63B3620E-EBEA-3A5E-4E11-B11345B37E79}"/>
              </a:ext>
            </a:extLst>
          </p:cNvPr>
          <p:cNvSpPr txBox="1"/>
          <p:nvPr/>
        </p:nvSpPr>
        <p:spPr>
          <a:xfrm>
            <a:off x="4142144" y="2613392"/>
            <a:ext cx="6805671" cy="2800767"/>
          </a:xfrm>
          <a:prstGeom prst="rect">
            <a:avLst/>
          </a:prstGeom>
          <a:noFill/>
          <a:ln w="9528" cap="flat">
            <a:solidFill>
              <a:srgbClr val="00206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BufferedReader / BufferedWriter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000" b="0" i="0" u="none" strike="noStrike" kern="1200" cap="none" spc="0" baseline="0" dirty="0">
              <a:solidFill>
                <a:srgbClr val="000000"/>
              </a:solidFill>
              <a:uFillTx/>
              <a:latin typeface="Aptos" panose="020B0004020202020204" pitchFamily="34" charset="0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Provides Line based reading and writing:</a:t>
            </a:r>
          </a:p>
          <a:p>
            <a:pPr marL="914400" marR="0" lvl="1" indent="-4572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Reading: </a:t>
            </a:r>
          </a:p>
          <a:p>
            <a:pPr marL="457200" marR="0" lvl="1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C00000"/>
                </a:solidFill>
                <a:uFillTx/>
                <a:latin typeface="Aptos" panose="020B0004020202020204" pitchFamily="34" charset="0"/>
              </a:rPr>
              <a:t>BufferedReader.readLine() returns String (or null on end of file).</a:t>
            </a:r>
          </a:p>
          <a:p>
            <a:pPr marL="914400" marR="0" lvl="1" indent="-4572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000" b="0" i="0" u="none" strike="noStrike" kern="1200" cap="none" spc="0" baseline="0" dirty="0">
              <a:solidFill>
                <a:srgbClr val="000000"/>
              </a:solidFill>
              <a:uFillTx/>
              <a:latin typeface="Aptos" panose="020B0004020202020204" pitchFamily="34" charset="0"/>
            </a:endParaRPr>
          </a:p>
          <a:p>
            <a:pPr marL="914400" marR="0" lvl="1" indent="-4572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Writing: </a:t>
            </a:r>
          </a:p>
          <a:p>
            <a:pPr marL="457200" marR="0" lvl="1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C00000"/>
                </a:solidFill>
                <a:uFillTx/>
                <a:latin typeface="Aptos" panose="020B0004020202020204" pitchFamily="34" charset="0"/>
              </a:rPr>
              <a:t>BufferedWriter.write(String line) &amp; BufferedWriter.newline() 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-" sz="2000" b="0" i="0" u="none" strike="noStrike" kern="1200" cap="none" spc="0" baseline="0" dirty="0">
              <a:solidFill>
                <a:srgbClr val="000000"/>
              </a:solidFill>
              <a:uFillTx/>
              <a:latin typeface="Aptos" panose="020B0004020202020204" pitchFamily="34" charset="0"/>
            </a:endParaRPr>
          </a:p>
        </p:txBody>
      </p:sp>
      <p:cxnSp>
        <p:nvCxnSpPr>
          <p:cNvPr id="7" name="Straight Connector 9">
            <a:extLst>
              <a:ext uri="{FF2B5EF4-FFF2-40B4-BE49-F238E27FC236}">
                <a16:creationId xmlns:a16="http://schemas.microsoft.com/office/drawing/2014/main" id="{8DA6994F-37FC-2999-BD5E-13545226FE3C}"/>
              </a:ext>
            </a:extLst>
          </p:cNvPr>
          <p:cNvCxnSpPr/>
          <p:nvPr/>
        </p:nvCxnSpPr>
        <p:spPr>
          <a:xfrm>
            <a:off x="4079165" y="2207299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8" name="Straight Connector 12">
            <a:extLst>
              <a:ext uri="{FF2B5EF4-FFF2-40B4-BE49-F238E27FC236}">
                <a16:creationId xmlns:a16="http://schemas.microsoft.com/office/drawing/2014/main" id="{1EC0EC08-8BB9-5A80-7349-CDBF207E59C5}"/>
              </a:ext>
            </a:extLst>
          </p:cNvPr>
          <p:cNvCxnSpPr/>
          <p:nvPr/>
        </p:nvCxnSpPr>
        <p:spPr>
          <a:xfrm>
            <a:off x="4095121" y="6217190"/>
            <a:ext cx="6585125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9" name="TextBox 10">
            <a:extLst>
              <a:ext uri="{FF2B5EF4-FFF2-40B4-BE49-F238E27FC236}">
                <a16:creationId xmlns:a16="http://schemas.microsoft.com/office/drawing/2014/main" id="{6AFF5BF3-0CF1-861F-D817-4C408D02B2A8}"/>
              </a:ext>
            </a:extLst>
          </p:cNvPr>
          <p:cNvSpPr txBox="1"/>
          <p:nvPr/>
        </p:nvSpPr>
        <p:spPr>
          <a:xfrm>
            <a:off x="3977565" y="1912573"/>
            <a:ext cx="2393350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1" dirty="0">
                <a:solidFill>
                  <a:srgbClr val="E97132"/>
                </a:solidFill>
                <a:latin typeface="Aptos"/>
              </a:rPr>
              <a:t>Text Decorators</a:t>
            </a:r>
            <a:endParaRPr lang="-" sz="1800" b="1" i="0" u="none" strike="noStrike" kern="1200" cap="none" spc="0" baseline="0" dirty="0">
              <a:solidFill>
                <a:srgbClr val="E97132"/>
              </a:solidFill>
              <a:uFillTx/>
              <a:latin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66AB800-1B77-E3CD-D815-DB4A8C90472A}"/>
              </a:ext>
            </a:extLst>
          </p:cNvPr>
          <p:cNvSpPr/>
          <p:nvPr/>
        </p:nvSpPr>
        <p:spPr>
          <a:xfrm>
            <a:off x="1244184" y="3429000"/>
            <a:ext cx="2431703" cy="369332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Stream Decoration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C418C076-A392-A745-C7E5-268727DF2CB2}"/>
              </a:ext>
            </a:extLst>
          </p:cNvPr>
          <p:cNvSpPr txBox="1"/>
          <p:nvPr/>
        </p:nvSpPr>
        <p:spPr>
          <a:xfrm>
            <a:off x="4079165" y="2425252"/>
            <a:ext cx="6601081" cy="3785652"/>
          </a:xfrm>
          <a:prstGeom prst="rect">
            <a:avLst/>
          </a:prstGeom>
          <a:noFill/>
          <a:ln w="9528" cap="flat">
            <a:solidFill>
              <a:srgbClr val="00206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DataInputStream / DataOutputStream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000" b="1" i="0" u="none" strike="noStrike" kern="1200" cap="none" spc="0" baseline="0" dirty="0">
              <a:solidFill>
                <a:srgbClr val="000000"/>
              </a:solidFill>
              <a:uFillTx/>
              <a:latin typeface="Aptos" panose="020B0004020202020204" pitchFamily="34" charset="0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Provides primitive based reading and writing: 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Reading</a:t>
            </a:r>
            <a:r>
              <a:rPr lang="en-US" sz="2000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: 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	</a:t>
            </a:r>
            <a:r>
              <a:rPr lang="en-US" sz="2000" b="0" i="0" u="none" strike="noStrike" kern="1200" cap="none" spc="0" baseline="0" dirty="0">
                <a:solidFill>
                  <a:srgbClr val="C00000"/>
                </a:solidFill>
                <a:uFillTx/>
                <a:latin typeface="Aptos" panose="020B0004020202020204" pitchFamily="34" charset="0"/>
              </a:rPr>
              <a:t>• readUTF() : String 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 dirty="0">
                <a:solidFill>
                  <a:srgbClr val="C00000"/>
                </a:solidFill>
                <a:uFillTx/>
                <a:latin typeface="Aptos" panose="020B0004020202020204" pitchFamily="34" charset="0"/>
              </a:rPr>
              <a:t>	• readInt() : int 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 dirty="0">
                <a:solidFill>
                  <a:srgbClr val="C00000"/>
                </a:solidFill>
                <a:uFillTx/>
                <a:latin typeface="Aptos" panose="020B0004020202020204" pitchFamily="34" charset="0"/>
              </a:rPr>
              <a:t>	• readBoolean() : boolean …. 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000" b="0" i="0" u="none" strike="noStrike" kern="1200" cap="none" spc="0" baseline="0" dirty="0">
              <a:solidFill>
                <a:srgbClr val="000000"/>
              </a:solidFill>
              <a:uFillTx/>
              <a:latin typeface="Aptos" panose="020B0004020202020204" pitchFamily="34" charset="0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Writing</a:t>
            </a:r>
            <a:r>
              <a:rPr lang="en-US" sz="2000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: 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	</a:t>
            </a:r>
            <a:r>
              <a:rPr lang="en-US" sz="2000" b="0" i="0" u="none" strike="noStrike" kern="1200" cap="none" spc="0" baseline="0" dirty="0">
                <a:solidFill>
                  <a:srgbClr val="C00000"/>
                </a:solidFill>
                <a:uFillTx/>
                <a:latin typeface="Aptos" panose="020B0004020202020204" pitchFamily="34" charset="0"/>
              </a:rPr>
              <a:t>• writeUTF(String) 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 dirty="0">
                <a:solidFill>
                  <a:srgbClr val="C00000"/>
                </a:solidFill>
                <a:uFillTx/>
                <a:latin typeface="Aptos" panose="020B0004020202020204" pitchFamily="34" charset="0"/>
              </a:rPr>
              <a:t>	• writeInt(int) 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 dirty="0">
                <a:solidFill>
                  <a:srgbClr val="C00000"/>
                </a:solidFill>
                <a:uFillTx/>
                <a:latin typeface="Aptos" panose="020B0004020202020204" pitchFamily="34" charset="0"/>
              </a:rPr>
              <a:t>	• writeBoolean(boolean)</a:t>
            </a:r>
            <a:endParaRPr lang="-" sz="2000" b="0" i="0" u="none" strike="noStrike" kern="1200" cap="none" spc="0" baseline="0" dirty="0">
              <a:solidFill>
                <a:srgbClr val="C00000"/>
              </a:solidFill>
              <a:uFillTx/>
              <a:latin typeface="Aptos" panose="020B0004020202020204" pitchFamily="34" charset="0"/>
            </a:endParaRPr>
          </a:p>
        </p:txBody>
      </p:sp>
      <p:cxnSp>
        <p:nvCxnSpPr>
          <p:cNvPr id="7" name="Straight Connector 9">
            <a:extLst>
              <a:ext uri="{FF2B5EF4-FFF2-40B4-BE49-F238E27FC236}">
                <a16:creationId xmlns:a16="http://schemas.microsoft.com/office/drawing/2014/main" id="{D8885B66-66A8-CF15-14BE-BA46E18D1A62}"/>
              </a:ext>
            </a:extLst>
          </p:cNvPr>
          <p:cNvCxnSpPr/>
          <p:nvPr/>
        </p:nvCxnSpPr>
        <p:spPr>
          <a:xfrm>
            <a:off x="4079165" y="2215766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8" name="Straight Connector 12">
            <a:extLst>
              <a:ext uri="{FF2B5EF4-FFF2-40B4-BE49-F238E27FC236}">
                <a16:creationId xmlns:a16="http://schemas.microsoft.com/office/drawing/2014/main" id="{702EF1A1-4FC6-3651-5965-0D2EA2EE9025}"/>
              </a:ext>
            </a:extLst>
          </p:cNvPr>
          <p:cNvCxnSpPr/>
          <p:nvPr/>
        </p:nvCxnSpPr>
        <p:spPr>
          <a:xfrm>
            <a:off x="4219451" y="6420391"/>
            <a:ext cx="6585125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9" name="TextBox 10">
            <a:extLst>
              <a:ext uri="{FF2B5EF4-FFF2-40B4-BE49-F238E27FC236}">
                <a16:creationId xmlns:a16="http://schemas.microsoft.com/office/drawing/2014/main" id="{F18A685C-E7BD-12D1-E4C5-0A0367A5B706}"/>
              </a:ext>
            </a:extLst>
          </p:cNvPr>
          <p:cNvSpPr txBox="1"/>
          <p:nvPr/>
        </p:nvSpPr>
        <p:spPr>
          <a:xfrm>
            <a:off x="4079164" y="1846431"/>
            <a:ext cx="3021431" cy="36933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1" dirty="0">
                <a:solidFill>
                  <a:srgbClr val="E97132"/>
                </a:solidFill>
                <a:latin typeface="Aptos"/>
              </a:rPr>
              <a:t>Primitives Decorators</a:t>
            </a:r>
            <a:endParaRPr lang="-" sz="1800" b="1" i="0" u="none" strike="noStrike" kern="1200" cap="none" spc="0" baseline="0" dirty="0">
              <a:solidFill>
                <a:srgbClr val="E97132"/>
              </a:solidFill>
              <a:uFillTx/>
              <a:latin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6E94BAF-7961-9411-C64D-BFABB55EE518}"/>
              </a:ext>
            </a:extLst>
          </p:cNvPr>
          <p:cNvSpPr/>
          <p:nvPr/>
        </p:nvSpPr>
        <p:spPr>
          <a:xfrm>
            <a:off x="1244184" y="3429000"/>
            <a:ext cx="2431703" cy="369332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Stream Decoration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C0F78AE5-546E-E3AD-07B6-43C18BD1D05F}"/>
              </a:ext>
            </a:extLst>
          </p:cNvPr>
          <p:cNvSpPr txBox="1"/>
          <p:nvPr/>
        </p:nvSpPr>
        <p:spPr>
          <a:xfrm>
            <a:off x="4136770" y="2482824"/>
            <a:ext cx="6393646" cy="3600986"/>
          </a:xfrm>
          <a:prstGeom prst="rect">
            <a:avLst/>
          </a:prstGeom>
          <a:noFill/>
          <a:ln w="9528" cap="flat">
            <a:solidFill>
              <a:srgbClr val="00206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ObjectInputStream / ObjectOutputStream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000" b="0" i="0" u="none" strike="noStrike" kern="1200" cap="none" spc="0" baseline="0" dirty="0">
              <a:solidFill>
                <a:srgbClr val="000000"/>
              </a:solidFill>
              <a:uFillTx/>
              <a:latin typeface="Aptos" panose="020B0004020202020204" pitchFamily="34" charset="0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All objects must implement Serializable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Provides Objects based reading and writing: 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000" b="1" i="0" u="none" strike="noStrike" kern="1200" cap="none" spc="0" baseline="0" dirty="0">
              <a:solidFill>
                <a:srgbClr val="000000"/>
              </a:solidFill>
              <a:uFillTx/>
              <a:latin typeface="Aptos" panose="020B0004020202020204" pitchFamily="34" charset="0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Reading</a:t>
            </a:r>
            <a:r>
              <a:rPr lang="en-US" sz="2000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: 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	</a:t>
            </a:r>
            <a:r>
              <a:rPr lang="en-US" sz="2000" b="0" i="0" u="none" strike="noStrike" kern="1200" cap="none" spc="0" baseline="0" dirty="0">
                <a:solidFill>
                  <a:srgbClr val="C00000"/>
                </a:solidFill>
                <a:uFillTx/>
                <a:latin typeface="Aptos" panose="020B0004020202020204" pitchFamily="34" charset="0"/>
              </a:rPr>
              <a:t>• readObject() : Object 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000" b="0" i="0" u="none" strike="noStrike" kern="1200" cap="none" spc="0" baseline="0" dirty="0">
              <a:solidFill>
                <a:srgbClr val="000000"/>
              </a:solidFill>
              <a:uFillTx/>
              <a:latin typeface="Aptos" panose="020B0004020202020204" pitchFamily="34" charset="0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Writing</a:t>
            </a:r>
            <a:r>
              <a:rPr lang="en-US" sz="2000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: 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	</a:t>
            </a:r>
            <a:r>
              <a:rPr lang="en-US" sz="2000" b="0" i="0" u="none" strike="noStrike" kern="1200" cap="none" spc="0" baseline="0" dirty="0">
                <a:solidFill>
                  <a:srgbClr val="C00000"/>
                </a:solidFill>
                <a:uFillTx/>
                <a:latin typeface="Aptos" panose="020B0004020202020204" pitchFamily="34" charset="0"/>
              </a:rPr>
              <a:t>• writeObject(Object) 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0" i="0" u="none" strike="noStrike" kern="1200" cap="none" spc="0" baseline="0" dirty="0">
                <a:solidFill>
                  <a:srgbClr val="C00000"/>
                </a:solidFill>
                <a:uFillTx/>
                <a:latin typeface="Calibri"/>
              </a:rPr>
              <a:t>	</a:t>
            </a:r>
            <a:endParaRPr lang="-" sz="1800" b="0" i="0" u="none" strike="noStrike" kern="1200" cap="none" spc="0" baseline="0" dirty="0">
              <a:solidFill>
                <a:srgbClr val="C00000"/>
              </a:solidFill>
              <a:uFillTx/>
              <a:latin typeface="Calibri"/>
            </a:endParaRPr>
          </a:p>
        </p:txBody>
      </p:sp>
      <p:cxnSp>
        <p:nvCxnSpPr>
          <p:cNvPr id="7" name="Straight Connector 9">
            <a:extLst>
              <a:ext uri="{FF2B5EF4-FFF2-40B4-BE49-F238E27FC236}">
                <a16:creationId xmlns:a16="http://schemas.microsoft.com/office/drawing/2014/main" id="{F24B6347-1BBA-4D15-E6C8-C1D3E0553686}"/>
              </a:ext>
            </a:extLst>
          </p:cNvPr>
          <p:cNvCxnSpPr/>
          <p:nvPr/>
        </p:nvCxnSpPr>
        <p:spPr>
          <a:xfrm>
            <a:off x="4136770" y="2266565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8" name="Straight Connector 12">
            <a:extLst>
              <a:ext uri="{FF2B5EF4-FFF2-40B4-BE49-F238E27FC236}">
                <a16:creationId xmlns:a16="http://schemas.microsoft.com/office/drawing/2014/main" id="{EED93A45-17E3-5B15-24C8-2D79340A275F}"/>
              </a:ext>
            </a:extLst>
          </p:cNvPr>
          <p:cNvCxnSpPr/>
          <p:nvPr/>
        </p:nvCxnSpPr>
        <p:spPr>
          <a:xfrm>
            <a:off x="4152726" y="6403458"/>
            <a:ext cx="6585125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9" name="TextBox 10">
            <a:extLst>
              <a:ext uri="{FF2B5EF4-FFF2-40B4-BE49-F238E27FC236}">
                <a16:creationId xmlns:a16="http://schemas.microsoft.com/office/drawing/2014/main" id="{2BF3B73C-ACFE-84AE-9400-2C5113DBAFC3}"/>
              </a:ext>
            </a:extLst>
          </p:cNvPr>
          <p:cNvSpPr txBox="1"/>
          <p:nvPr/>
        </p:nvSpPr>
        <p:spPr>
          <a:xfrm>
            <a:off x="4046862" y="1897230"/>
            <a:ext cx="2393350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1" dirty="0">
                <a:solidFill>
                  <a:srgbClr val="E97132"/>
                </a:solidFill>
                <a:latin typeface="Aptos"/>
              </a:rPr>
              <a:t>Object Decorators</a:t>
            </a:r>
            <a:endParaRPr lang="-" sz="1800" b="1" i="0" u="none" strike="noStrike" kern="1200" cap="none" spc="0" baseline="0" dirty="0">
              <a:solidFill>
                <a:srgbClr val="E97132"/>
              </a:solidFill>
              <a:uFillTx/>
              <a:latin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E4599BF-193B-5CC9-E571-3877F5E6BDAD}"/>
              </a:ext>
            </a:extLst>
          </p:cNvPr>
          <p:cNvSpPr/>
          <p:nvPr/>
        </p:nvSpPr>
        <p:spPr>
          <a:xfrm>
            <a:off x="1244184" y="3429000"/>
            <a:ext cx="2431703" cy="369332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Stream Decoration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2B69871E-5FEB-69B6-DD5A-C7705AD4C99B}"/>
              </a:ext>
            </a:extLst>
          </p:cNvPr>
          <p:cNvSpPr txBox="1"/>
          <p:nvPr/>
        </p:nvSpPr>
        <p:spPr>
          <a:xfrm>
            <a:off x="4099813" y="2508894"/>
            <a:ext cx="6686722" cy="3477875"/>
          </a:xfrm>
          <a:prstGeom prst="rect">
            <a:avLst/>
          </a:prstGeom>
          <a:noFill/>
          <a:ln w="9528" cap="flat">
            <a:solidFill>
              <a:srgbClr val="00206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457200" marR="0" lvl="0" indent="-4572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Only the object's data are serialized </a:t>
            </a:r>
          </a:p>
          <a:p>
            <a:pPr marL="457200" marR="0" lvl="0" indent="-4572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000" b="0" i="0" u="none" strike="noStrike" kern="1200" cap="none" spc="0" baseline="0" dirty="0">
              <a:solidFill>
                <a:srgbClr val="000000"/>
              </a:solidFill>
              <a:uFillTx/>
              <a:latin typeface="Aptos" panose="020B0004020202020204" pitchFamily="34" charset="0"/>
            </a:endParaRPr>
          </a:p>
          <a:p>
            <a:pPr marL="457200" marR="0" lvl="0" indent="-4572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 Data marked with the transient keyword are not serialized.</a:t>
            </a:r>
          </a:p>
          <a:p>
            <a:pPr marL="457200" marR="0" lvl="0" indent="-4572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000" b="0" i="0" u="none" strike="noStrike" kern="1200" cap="none" spc="0" baseline="0" dirty="0">
              <a:solidFill>
                <a:srgbClr val="C00000"/>
              </a:solidFill>
              <a:uFillTx/>
              <a:latin typeface="Aptos" panose="020B0004020202020204" pitchFamily="34" charset="0"/>
            </a:endParaRPr>
          </a:p>
          <a:p>
            <a:pPr marL="457200" marR="0" lvl="0" indent="-4572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Serialization stores the state of an object to a file</a:t>
            </a:r>
          </a:p>
          <a:p>
            <a:pPr marL="457200" marR="0" lvl="0" indent="-4572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000" b="0" i="0" u="none" strike="noStrike" kern="1200" cap="none" spc="0" baseline="0" dirty="0">
              <a:solidFill>
                <a:srgbClr val="000000"/>
              </a:solidFill>
              <a:uFillTx/>
              <a:latin typeface="Aptos" panose="020B0004020202020204" pitchFamily="34" charset="0"/>
            </a:endParaRPr>
          </a:p>
          <a:p>
            <a:pPr marL="457200" marR="0" lvl="0" indent="-4572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Serializable objects can be stored and loaded from object streams: </a:t>
            </a:r>
          </a:p>
          <a:p>
            <a:pPr marL="914400" marR="0" lvl="1" indent="-4572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 dirty="0">
                <a:solidFill>
                  <a:srgbClr val="C00000"/>
                </a:solidFill>
                <a:uFillTx/>
                <a:latin typeface="Aptos" panose="020B0004020202020204" pitchFamily="34" charset="0"/>
              </a:rPr>
              <a:t>ObjectInputStream </a:t>
            </a:r>
          </a:p>
          <a:p>
            <a:pPr marL="914400" marR="0" lvl="1" indent="-4572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 dirty="0">
                <a:solidFill>
                  <a:srgbClr val="C00000"/>
                </a:solidFill>
                <a:uFillTx/>
                <a:latin typeface="Aptos" panose="020B0004020202020204" pitchFamily="34" charset="0"/>
              </a:rPr>
              <a:t>ObjectOutputStream</a:t>
            </a:r>
            <a:endParaRPr lang="-" sz="2000" b="0" i="0" u="none" strike="noStrike" kern="1200" cap="none" spc="0" baseline="0" dirty="0">
              <a:solidFill>
                <a:srgbClr val="C00000"/>
              </a:solidFill>
              <a:uFillTx/>
              <a:latin typeface="Aptos" panose="020B0004020202020204" pitchFamily="34" charset="0"/>
            </a:endParaRPr>
          </a:p>
        </p:txBody>
      </p:sp>
      <p:cxnSp>
        <p:nvCxnSpPr>
          <p:cNvPr id="7" name="Straight Connector 9">
            <a:extLst>
              <a:ext uri="{FF2B5EF4-FFF2-40B4-BE49-F238E27FC236}">
                <a16:creationId xmlns:a16="http://schemas.microsoft.com/office/drawing/2014/main" id="{20351F94-16F8-9CCB-94A6-3BC236DC2DC5}"/>
              </a:ext>
            </a:extLst>
          </p:cNvPr>
          <p:cNvCxnSpPr/>
          <p:nvPr/>
        </p:nvCxnSpPr>
        <p:spPr>
          <a:xfrm>
            <a:off x="4079165" y="2215766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8" name="Straight Connector 12">
            <a:extLst>
              <a:ext uri="{FF2B5EF4-FFF2-40B4-BE49-F238E27FC236}">
                <a16:creationId xmlns:a16="http://schemas.microsoft.com/office/drawing/2014/main" id="{67E0D762-E538-4262-9E38-38E4F7673257}"/>
              </a:ext>
            </a:extLst>
          </p:cNvPr>
          <p:cNvCxnSpPr/>
          <p:nvPr/>
        </p:nvCxnSpPr>
        <p:spPr>
          <a:xfrm>
            <a:off x="4150611" y="6327257"/>
            <a:ext cx="6585125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9" name="TextBox 10">
            <a:extLst>
              <a:ext uri="{FF2B5EF4-FFF2-40B4-BE49-F238E27FC236}">
                <a16:creationId xmlns:a16="http://schemas.microsoft.com/office/drawing/2014/main" id="{70812A4C-6628-C0E1-3EA8-C1A721755B6E}"/>
              </a:ext>
            </a:extLst>
          </p:cNvPr>
          <p:cNvSpPr txBox="1"/>
          <p:nvPr/>
        </p:nvSpPr>
        <p:spPr>
          <a:xfrm>
            <a:off x="4011432" y="1922639"/>
            <a:ext cx="2393350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1" dirty="0">
                <a:solidFill>
                  <a:srgbClr val="E97132"/>
                </a:solidFill>
                <a:latin typeface="Aptos"/>
              </a:rPr>
              <a:t>Serialization</a:t>
            </a:r>
            <a:endParaRPr lang="-" sz="1800" b="1" i="0" u="none" strike="noStrike" kern="1200" cap="none" spc="0" baseline="0" dirty="0">
              <a:solidFill>
                <a:srgbClr val="E97132"/>
              </a:solidFill>
              <a:uFillTx/>
              <a:latin typeface="Apto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337C52-E802-B848-2DBA-A510637F6013}"/>
              </a:ext>
            </a:extLst>
          </p:cNvPr>
          <p:cNvSpPr/>
          <p:nvPr/>
        </p:nvSpPr>
        <p:spPr>
          <a:xfrm>
            <a:off x="1244184" y="3429000"/>
            <a:ext cx="2431703" cy="369332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Serialization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5FCD0972-DE2E-F006-0043-AFBE2C1AD6B9}"/>
              </a:ext>
            </a:extLst>
          </p:cNvPr>
          <p:cNvSpPr txBox="1"/>
          <p:nvPr/>
        </p:nvSpPr>
        <p:spPr>
          <a:xfrm>
            <a:off x="4079165" y="2492554"/>
            <a:ext cx="7791721" cy="3016210"/>
          </a:xfrm>
          <a:prstGeom prst="rect">
            <a:avLst/>
          </a:prstGeom>
          <a:noFill/>
          <a:ln w="9528" cap="flat">
            <a:solidFill>
              <a:srgbClr val="00206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Constructors: </a:t>
            </a:r>
          </a:p>
          <a:p>
            <a:pPr marL="914400" lvl="1" indent="-457200">
              <a:buSzPct val="100000"/>
              <a:buFont typeface="Arial" pitchFamily="3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RandomAccessFile(File file, String mode) </a:t>
            </a:r>
          </a:p>
          <a:p>
            <a:pPr marL="914400" lvl="1" indent="-457200">
              <a:buSzPct val="100000"/>
              <a:buFont typeface="Arial" pitchFamily="3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RandomAccessFile(String name, String mode) 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000" b="0" i="0" u="none" strike="noStrike" kern="1200" cap="none" spc="0" baseline="0" dirty="0">
              <a:solidFill>
                <a:srgbClr val="000000"/>
              </a:solidFill>
              <a:uFillTx/>
              <a:latin typeface="Aptos" panose="020B0004020202020204" pitchFamily="34" charset="0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Mode is usually ”r” or ”</a:t>
            </a:r>
            <a:r>
              <a:rPr lang="en-US" sz="2000" b="1" i="0" u="none" strike="noStrike" kern="1200" cap="none" spc="0" baseline="0" dirty="0" err="1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rw</a:t>
            </a:r>
            <a:r>
              <a:rPr lang="en-US" sz="2000" b="1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” .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000" b="0" i="0" u="none" strike="noStrike" kern="1200" cap="none" spc="0" baseline="0" dirty="0">
              <a:solidFill>
                <a:srgbClr val="000000"/>
              </a:solidFill>
              <a:uFillTx/>
              <a:latin typeface="Aptos" panose="020B0004020202020204" pitchFamily="34" charset="0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file pointer can be read and positioned: </a:t>
            </a:r>
          </a:p>
          <a:p>
            <a:pPr marL="914400" lvl="1" indent="-457200">
              <a:buSzPct val="100000"/>
              <a:buFont typeface="Arial" pitchFamily="3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int skipBytes(int) </a:t>
            </a:r>
          </a:p>
          <a:p>
            <a:pPr marL="914400" lvl="1" indent="-457200">
              <a:buSzPct val="100000"/>
              <a:buFont typeface="Arial" pitchFamily="3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void seek(long)</a:t>
            </a:r>
          </a:p>
          <a:p>
            <a:pPr marL="914400" lvl="1" indent="-457200">
              <a:buSzPct val="100000"/>
              <a:buFont typeface="Arial" pitchFamily="3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long getFilePointer()</a:t>
            </a:r>
            <a:endParaRPr lang="-" b="0" i="0" u="none" strike="noStrike" kern="1200" cap="none" spc="0" baseline="0" dirty="0">
              <a:solidFill>
                <a:srgbClr val="C00000"/>
              </a:solidFill>
              <a:uFillTx/>
              <a:latin typeface="Aptos" panose="020B0004020202020204" pitchFamily="34" charset="0"/>
            </a:endParaRPr>
          </a:p>
        </p:txBody>
      </p:sp>
      <p:cxnSp>
        <p:nvCxnSpPr>
          <p:cNvPr id="2" name="Straight Connector 9">
            <a:extLst>
              <a:ext uri="{FF2B5EF4-FFF2-40B4-BE49-F238E27FC236}">
                <a16:creationId xmlns:a16="http://schemas.microsoft.com/office/drawing/2014/main" id="{6BF712FD-DC82-17D6-1FC4-3AD8BDAA8322}"/>
              </a:ext>
            </a:extLst>
          </p:cNvPr>
          <p:cNvCxnSpPr/>
          <p:nvPr/>
        </p:nvCxnSpPr>
        <p:spPr>
          <a:xfrm>
            <a:off x="4079165" y="2207298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6" name="Straight Connector 12">
            <a:extLst>
              <a:ext uri="{FF2B5EF4-FFF2-40B4-BE49-F238E27FC236}">
                <a16:creationId xmlns:a16="http://schemas.microsoft.com/office/drawing/2014/main" id="{EA74D4A5-D1BC-463B-8806-341F9197520B}"/>
              </a:ext>
            </a:extLst>
          </p:cNvPr>
          <p:cNvCxnSpPr/>
          <p:nvPr/>
        </p:nvCxnSpPr>
        <p:spPr>
          <a:xfrm>
            <a:off x="4231564" y="5929324"/>
            <a:ext cx="6585125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7" name="TextBox 10">
            <a:extLst>
              <a:ext uri="{FF2B5EF4-FFF2-40B4-BE49-F238E27FC236}">
                <a16:creationId xmlns:a16="http://schemas.microsoft.com/office/drawing/2014/main" id="{578639CC-17CC-1FE0-7338-B3A9E7CF4042}"/>
              </a:ext>
            </a:extLst>
          </p:cNvPr>
          <p:cNvSpPr txBox="1"/>
          <p:nvPr/>
        </p:nvSpPr>
        <p:spPr>
          <a:xfrm>
            <a:off x="4002965" y="1837963"/>
            <a:ext cx="2393350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1200" cap="none" spc="0" baseline="0" dirty="0">
                <a:solidFill>
                  <a:srgbClr val="E97132"/>
                </a:solidFill>
                <a:uFillTx/>
                <a:latin typeface="Aptos"/>
              </a:rPr>
              <a:t>Random Access</a:t>
            </a:r>
            <a:endParaRPr lang="-" sz="1800" b="1" i="0" u="none" strike="noStrike" kern="1200" cap="none" spc="0" baseline="0" dirty="0">
              <a:solidFill>
                <a:srgbClr val="E97132"/>
              </a:solidFill>
              <a:uFillTx/>
              <a:latin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394EF9-4475-DCBA-167B-7BC973E35776}"/>
              </a:ext>
            </a:extLst>
          </p:cNvPr>
          <p:cNvSpPr/>
          <p:nvPr/>
        </p:nvSpPr>
        <p:spPr>
          <a:xfrm>
            <a:off x="1244184" y="3429000"/>
            <a:ext cx="2431703" cy="369332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Random AccessFile 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1A4A41D6-6183-D0F4-32E0-45DDC8D25496}"/>
              </a:ext>
            </a:extLst>
          </p:cNvPr>
          <p:cNvSpPr txBox="1"/>
          <p:nvPr/>
        </p:nvSpPr>
        <p:spPr>
          <a:xfrm>
            <a:off x="4396145" y="2486673"/>
            <a:ext cx="6512182" cy="4062651"/>
          </a:xfrm>
          <a:prstGeom prst="rect">
            <a:avLst/>
          </a:prstGeom>
          <a:noFill/>
          <a:ln w="9528" cap="flat">
            <a:solidFill>
              <a:srgbClr val="00206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R="0" lvl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dirty="0">
                <a:solidFill>
                  <a:srgbClr val="000000"/>
                </a:solidFill>
                <a:latin typeface="Aptos" panose="020B0004020202020204" pitchFamily="34" charset="0"/>
              </a:rPr>
              <a:t>A class reads the stream character by character. </a:t>
            </a:r>
          </a:p>
          <a:p>
            <a:pPr marR="0" lvl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dirty="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pPr marR="0" lvl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dirty="0">
                <a:solidFill>
                  <a:srgbClr val="000000"/>
                </a:solidFill>
                <a:latin typeface="Aptos" panose="020B0004020202020204" pitchFamily="34" charset="0"/>
              </a:rPr>
              <a:t>Each of them can have zero or more of the following attributes:  </a:t>
            </a:r>
          </a:p>
          <a:p>
            <a:pPr lvl="1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white space, alphabetic, numeric, string quote or comment character.</a:t>
            </a:r>
          </a:p>
          <a:p>
            <a:pPr marR="0" lvl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dirty="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pPr marR="0" lvl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dirty="0">
                <a:solidFill>
                  <a:srgbClr val="000000"/>
                </a:solidFill>
                <a:latin typeface="Aptos" panose="020B0004020202020204" pitchFamily="34" charset="0"/>
              </a:rPr>
              <a:t>types of characters:</a:t>
            </a:r>
          </a:p>
          <a:p>
            <a:pPr marL="914400" marR="0" lvl="1" indent="-4572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Word characters: ranges like ‘a’ to ‘z’ and ‘A’ to ‘Z</a:t>
            </a:r>
          </a:p>
          <a:p>
            <a:pPr marL="914400" marR="0" lvl="1" indent="-4572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Numeric characters: 0,1,…,9</a:t>
            </a:r>
          </a:p>
          <a:p>
            <a:pPr marL="914400" marR="0" lvl="1" indent="-4572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Whitespace characters: ASCII values from 0 to 32</a:t>
            </a:r>
          </a:p>
          <a:p>
            <a:pPr marL="914400" marR="0" lvl="1" indent="-4572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Comment character: /</a:t>
            </a:r>
          </a:p>
          <a:p>
            <a:pPr marL="914400" marR="0" lvl="1" indent="-4572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String quote characters: ‘ and “</a:t>
            </a:r>
          </a:p>
        </p:txBody>
      </p:sp>
      <p:cxnSp>
        <p:nvCxnSpPr>
          <p:cNvPr id="7" name="Straight Connector 9">
            <a:extLst>
              <a:ext uri="{FF2B5EF4-FFF2-40B4-BE49-F238E27FC236}">
                <a16:creationId xmlns:a16="http://schemas.microsoft.com/office/drawing/2014/main" id="{3087966F-3187-2188-8D38-586F93A73735}"/>
              </a:ext>
            </a:extLst>
          </p:cNvPr>
          <p:cNvCxnSpPr/>
          <p:nvPr/>
        </p:nvCxnSpPr>
        <p:spPr>
          <a:xfrm>
            <a:off x="4046405" y="2251395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8" name="Straight Connector 12">
            <a:extLst>
              <a:ext uri="{FF2B5EF4-FFF2-40B4-BE49-F238E27FC236}">
                <a16:creationId xmlns:a16="http://schemas.microsoft.com/office/drawing/2014/main" id="{45F2A92C-2127-049E-C0C1-040F22F9B6C9}"/>
              </a:ext>
            </a:extLst>
          </p:cNvPr>
          <p:cNvCxnSpPr/>
          <p:nvPr/>
        </p:nvCxnSpPr>
        <p:spPr>
          <a:xfrm>
            <a:off x="4396145" y="6708257"/>
            <a:ext cx="6585125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9" name="TextBox 10">
            <a:extLst>
              <a:ext uri="{FF2B5EF4-FFF2-40B4-BE49-F238E27FC236}">
                <a16:creationId xmlns:a16="http://schemas.microsoft.com/office/drawing/2014/main" id="{55CCDAC4-7A14-9394-E526-1D36D00DD0A4}"/>
              </a:ext>
            </a:extLst>
          </p:cNvPr>
          <p:cNvSpPr txBox="1"/>
          <p:nvPr/>
        </p:nvSpPr>
        <p:spPr>
          <a:xfrm>
            <a:off x="3994498" y="1859161"/>
            <a:ext cx="2393350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1200" cap="none" spc="0" baseline="0" dirty="0">
                <a:solidFill>
                  <a:srgbClr val="E97132"/>
                </a:solidFill>
                <a:uFillTx/>
                <a:latin typeface="Aptos"/>
              </a:rPr>
              <a:t>Stream Tokenizer</a:t>
            </a:r>
            <a:endParaRPr lang="-" sz="1800" b="1" i="0" u="none" strike="noStrike" kern="1200" cap="none" spc="0" baseline="0" dirty="0">
              <a:solidFill>
                <a:srgbClr val="E97132"/>
              </a:solidFill>
              <a:uFillTx/>
              <a:latin typeface="Apto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CF23D5-AD6B-B6F8-516C-D55BA6605A20}"/>
              </a:ext>
            </a:extLst>
          </p:cNvPr>
          <p:cNvSpPr/>
          <p:nvPr/>
        </p:nvSpPr>
        <p:spPr>
          <a:xfrm>
            <a:off x="1244184" y="3429000"/>
            <a:ext cx="2431703" cy="369332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</a:rPr>
              <a:t>StreamTokenizer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C443E95-45E2-BAD9-BA32-70DB9BC562A9}"/>
              </a:ext>
            </a:extLst>
          </p:cNvPr>
          <p:cNvSpPr txBox="1"/>
          <p:nvPr/>
        </p:nvSpPr>
        <p:spPr>
          <a:xfrm>
            <a:off x="5488572" y="3321727"/>
            <a:ext cx="2830676" cy="677104"/>
          </a:xfrm>
          <a:prstGeom prst="rect">
            <a:avLst/>
          </a:prstGeom>
          <a:noFill/>
          <a:ln w="28575" cap="flat">
            <a:solidFill>
              <a:srgbClr val="4472C4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800" b="1" i="0" u="none" strike="noStrike" kern="1200" cap="none" spc="0" baseline="0" dirty="0">
                <a:solidFill>
                  <a:srgbClr val="C00000"/>
                </a:solidFill>
                <a:highlight>
                  <a:srgbClr val="FFFFFF"/>
                </a:highlight>
                <a:uFillTx/>
              </a:rPr>
              <a:t>Thank You !!</a:t>
            </a:r>
            <a:endParaRPr lang="en-US" sz="3800" b="0" i="0" u="none" strike="noStrike" kern="1200" cap="none" spc="0" baseline="0" dirty="0">
              <a:solidFill>
                <a:srgbClr val="C00000"/>
              </a:solidFill>
              <a:highlight>
                <a:srgbClr val="FFFFFF"/>
              </a:highlight>
              <a:uFillTx/>
            </a:endParaRPr>
          </a:p>
        </p:txBody>
      </p:sp>
      <p:cxnSp>
        <p:nvCxnSpPr>
          <p:cNvPr id="2" name="Straight Connector 9">
            <a:extLst>
              <a:ext uri="{FF2B5EF4-FFF2-40B4-BE49-F238E27FC236}">
                <a16:creationId xmlns:a16="http://schemas.microsoft.com/office/drawing/2014/main" id="{E686D22F-8822-4254-112B-5F624821B35B}"/>
              </a:ext>
            </a:extLst>
          </p:cNvPr>
          <p:cNvCxnSpPr/>
          <p:nvPr/>
        </p:nvCxnSpPr>
        <p:spPr>
          <a:xfrm>
            <a:off x="4079165" y="2253794"/>
            <a:ext cx="66010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3" name="Straight Connector 12">
            <a:extLst>
              <a:ext uri="{FF2B5EF4-FFF2-40B4-BE49-F238E27FC236}">
                <a16:creationId xmlns:a16="http://schemas.microsoft.com/office/drawing/2014/main" id="{269B3DDA-4BF8-EB20-6863-70144521ADFF}"/>
              </a:ext>
            </a:extLst>
          </p:cNvPr>
          <p:cNvCxnSpPr/>
          <p:nvPr/>
        </p:nvCxnSpPr>
        <p:spPr>
          <a:xfrm>
            <a:off x="4187485" y="5066763"/>
            <a:ext cx="6585125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1116</TotalTime>
  <Words>1004</Words>
  <Application>Microsoft Office PowerPoint</Application>
  <PresentationFormat>Widescreen</PresentationFormat>
  <Paragraphs>259</Paragraphs>
  <Slides>27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Aptos</vt:lpstr>
      <vt:lpstr>Aptos Display</vt:lpstr>
      <vt:lpstr>Arial</vt:lpstr>
      <vt:lpstr>Calibri</vt:lpstr>
      <vt:lpstr>Calibri Light</vt:lpstr>
      <vt:lpstr>ui-sans-serif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Java</dc:title>
  <dc:creator>Dawod Kabha</dc:creator>
  <cp:lastModifiedBy>Ameen Ikteelat</cp:lastModifiedBy>
  <cp:revision>115</cp:revision>
  <dcterms:created xsi:type="dcterms:W3CDTF">2023-12-24T19:10:34Z</dcterms:created>
  <dcterms:modified xsi:type="dcterms:W3CDTF">2025-01-29T23:09:45Z</dcterms:modified>
</cp:coreProperties>
</file>