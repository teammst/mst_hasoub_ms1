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553" r:id="rId2"/>
    <p:sldId id="501" r:id="rId3"/>
    <p:sldId id="554" r:id="rId4"/>
    <p:sldId id="555" r:id="rId5"/>
    <p:sldId id="557" r:id="rId6"/>
    <p:sldId id="556" r:id="rId7"/>
    <p:sldId id="558" r:id="rId8"/>
    <p:sldId id="559" r:id="rId9"/>
    <p:sldId id="569" r:id="rId10"/>
    <p:sldId id="561" r:id="rId11"/>
    <p:sldId id="564" r:id="rId12"/>
    <p:sldId id="562" r:id="rId13"/>
    <p:sldId id="563" r:id="rId14"/>
    <p:sldId id="560" r:id="rId15"/>
    <p:sldId id="565" r:id="rId16"/>
    <p:sldId id="566" r:id="rId17"/>
    <p:sldId id="570" r:id="rId18"/>
    <p:sldId id="567" r:id="rId19"/>
    <p:sldId id="568" r:id="rId20"/>
    <p:sldId id="571" r:id="rId21"/>
    <p:sldId id="573" r:id="rId22"/>
    <p:sldId id="575" r:id="rId23"/>
    <p:sldId id="576" r:id="rId24"/>
    <p:sldId id="577" r:id="rId25"/>
    <p:sldId id="574" r:id="rId26"/>
    <p:sldId id="572" r:id="rId27"/>
    <p:sldId id="578" r:id="rId28"/>
    <p:sldId id="581" r:id="rId29"/>
    <p:sldId id="579" r:id="rId30"/>
    <p:sldId id="580" r:id="rId31"/>
    <p:sldId id="585" r:id="rId32"/>
    <p:sldId id="588" r:id="rId33"/>
    <p:sldId id="584" r:id="rId34"/>
    <p:sldId id="586" r:id="rId35"/>
    <p:sldId id="589" r:id="rId36"/>
    <p:sldId id="552" r:id="rId3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7" autoAdjust="0"/>
    <p:restoredTop sz="65750" autoAdjust="0"/>
  </p:normalViewPr>
  <p:slideViewPr>
    <p:cSldViewPr snapToGrid="0">
      <p:cViewPr varScale="1">
        <p:scale>
          <a:sx n="77" d="100"/>
          <a:sy n="77" d="100"/>
        </p:scale>
        <p:origin x="18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F0ABF-35CD-409A-AADE-6F050794A73B}" type="datetimeFigureOut">
              <a:rPr lang="LID4096" smtClean="0"/>
              <a:t>02/01/2025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A5F15-E733-4980-9547-C96FF9F61CC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445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960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6703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4842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17402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5864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4CF25-82CF-EFC8-5F81-0DC90720BBA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D114C-B5FD-53FB-8D9D-0B05B9AFDE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46BBC-0849-D2CC-7BA3-08F64C21A90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B1BD139-F98F-4566-9DE7-70C63AF0B46D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04E92-6979-145C-37F5-F9AF91521AE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7B27C-2A4A-1ACA-2263-225531FBE7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E1B267-D15F-43B0-90EE-A47AEBCD0D22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82240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929F-ECFF-9E20-7BE9-8A74602FB43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EA513-F36B-20E5-AC0C-9F5668F3C5B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E7656-397F-087A-1551-6B3D5DF1628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C6EF0E-5E64-433C-A04E-5A8404662968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AF5B7-AA8E-C6AA-784E-9A92D027945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7E724-58B7-AC72-CE39-2B025333ED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2A5ED2-E00C-4B5D-93B1-B31F6EA43E05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58520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049A-AE2F-20C9-46B8-8D1622F1F2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F7F91-CC65-785F-818A-8DA02C816F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F9B2F-4D3F-1FE0-10A2-B6450C4D35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2B24D00-042B-47A1-9C3A-BE49637DCBAD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0B1C4-8D5E-BE73-5D6F-E74C64B3570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BC1F7-BED1-DEE1-DDFB-530D9138A8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1B88AD-EDDD-4284-A607-9D8D894A9C8B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05849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2096-43D1-4803-A7BF-5CFB9952A39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472E1-2C86-B3DE-9ABD-B856737C86C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FC853-6251-C7E5-E26C-F76110980CB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C21CF-D239-F6AE-1C3A-889234BED6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4F9E0F-738F-4002-B64B-0195C40617A3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B9970-CE7B-67FD-9A27-B4893AF0908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7BFA5-C157-AEAA-EF44-78E453D3B3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816020-A30C-4825-BE74-11E25A55E7CE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9960125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ADAC-31E8-0AC9-A094-DBA9B1023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EBB43-15A2-3279-D588-1A5B7E469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957B0-F7A7-C2FC-6492-8C8B3E7C5FC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9001BF-D13D-C79B-D5F4-63DAC8CA64D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37774-BE9F-A624-AC5C-DBBC310023E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E01000-4DEE-13E4-1BB3-4860D23F29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64DE96-114F-4772-BA34-5DA5898EEBAD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A0CD3-A79B-C6FD-0604-ED325A9813C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00F7EC-2797-1DCF-FD23-78A1D6CABAA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D1D39C-ED41-42B7-9733-0801D5744F4E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020481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CFC6-A4D1-4D83-CB5B-82B93E34EDC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BA8E38-48E2-AE23-45CD-C78EDDEB0A3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85F949-1A2E-4745-B37A-0C932D4B9D01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F8107-9F1B-7203-1C5A-73AB056D8C1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A1324-226C-7EFB-6ECE-F000250A309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8B3201-95E3-495D-8DC5-3C2881327390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429331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FFFC9-DA39-4E4C-7143-09C23CE0633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324C72-8C60-49ED-94C0-EF1D874DA855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2DE1C4-EC3B-91F3-97AA-D3711964AC6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1F5A4-4E62-1CB2-CB16-B92213538A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E1CD839-075A-42B7-9FD1-C12433B15448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58373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DF50-3D74-CCFB-3C75-FE6B709CB9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9BFFA-647C-E7A3-A1D7-D0D16D278D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F8516-77E4-7E18-9E45-0E7AC4D9954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F02C0-0079-7F7A-63F1-04326E813F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ABF1CE-D462-4F02-86B8-29E2916EF3A1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8F335-C9F6-8E71-E966-DC6DBB018C4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900FC-4BAE-F3BB-3F23-F3E65651FE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2E644C-4843-4160-925A-22768EAC8656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15271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639A-C015-C333-FD79-8409DE6965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94D8E7-9E69-E2DB-83F7-275D7471285F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-" sz="3200"/>
            </a:lvl1pPr>
          </a:lstStyle>
          <a:p>
            <a:pPr lvl="0"/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2823A-E635-AD3F-2EE5-96B2B7BC1C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3F9D7-7572-CCC7-05A3-AB65C42253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32BBBB-4AA1-4C48-9BE6-B162EC911B39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A7572-AA73-A3E6-4231-6325A9972E8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818DE-5100-9ACB-E65B-990DF04672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2CA2B7-5C4E-4106-B43E-ED76D6FA1B5A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87368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5E3D-E4E9-347A-0F5F-70886F084BE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C9B55-7D63-4211-2223-BEC81F94A96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8B25E-DA38-4DCA-9D73-F93B20211C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A569D8-AD1E-4938-BE27-D40C2AA6A7FF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BE3E4-16C1-4F9E-DD28-614FCE3EFAC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C20FA-A57E-AA07-65F5-0BA007F17B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95F3DF-1D6B-4FCE-990D-DB68FA9789E6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0549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5B7C9-8652-4289-F434-6F19416F5325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C97CE-DDB4-F820-7ED4-622D2E1E934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00F6D-DAF6-4C65-E752-8794489AE4F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E8BB64-95F8-470C-85E5-44CD0866CBC8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1319A-8E05-57BF-B9B1-055407857D9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C0BEF-11E1-3D35-22A6-D178354F332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D7F145-5F01-4FD2-86BE-72236DA5FF35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56314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455CA-6AA4-7C0C-6538-8CF02B0FA0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0E157-3C8A-91DA-A0BF-828E03E06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E49D-9C4D-2428-6234-243905F2159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C06A802-606F-4AA0-BBCB-32F3D08B2299}" type="datetime1">
              <a:rPr lang="-"/>
              <a:pPr lvl="0"/>
              <a:t>2/1/2025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4D3EE-EDA8-C827-35CA-E35E2566495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9637-2997-30E0-C35B-6B123CA7DE0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FF6B547A-1EC7-4757-816F-F7AB2A0E1FDA}" type="slidenum">
              <a:t>‹#›</a:t>
            </a:fld>
            <a:endParaRPr lang="-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F9CE-9B96-BFDB-5096-F9BB201CCD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251F09F3-1E5E-A067-82E1-6CF477C37137}"/>
              </a:ext>
            </a:extLst>
          </p:cNvPr>
          <p:cNvCxnSpPr/>
          <p:nvPr/>
        </p:nvCxnSpPr>
        <p:spPr>
          <a:xfrm>
            <a:off x="411409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CA88C090-70B3-BAE1-4F14-8493BC72102A}"/>
              </a:ext>
            </a:extLst>
          </p:cNvPr>
          <p:cNvCxnSpPr/>
          <p:nvPr/>
        </p:nvCxnSpPr>
        <p:spPr>
          <a:xfrm>
            <a:off x="4007449" y="6206817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9C5D55BF-A63C-2D0F-F29A-490EE5A968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E15B2D-46AC-568A-183E-B8D4287DAC81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Content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13E56-099E-B3F6-45E6-59E8F35C86AE}"/>
              </a:ext>
            </a:extLst>
          </p:cNvPr>
          <p:cNvSpPr txBox="1"/>
          <p:nvPr/>
        </p:nvSpPr>
        <p:spPr>
          <a:xfrm>
            <a:off x="4340815" y="2401044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Threads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Threads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Executers</a:t>
            </a:r>
          </a:p>
        </p:txBody>
      </p:sp>
    </p:spTree>
    <p:extLst>
      <p:ext uri="{BB962C8B-B14F-4D97-AF65-F5344CB8AC3E}">
        <p14:creationId xmlns:p14="http://schemas.microsoft.com/office/powerpoint/2010/main" val="40889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52732" y="657897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What is Multitasking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5AD733-0F94-8CB0-5E9D-3F828310D09E}"/>
              </a:ext>
            </a:extLst>
          </p:cNvPr>
          <p:cNvSpPr txBox="1"/>
          <p:nvPr/>
        </p:nvSpPr>
        <p:spPr>
          <a:xfrm>
            <a:off x="4096164" y="2415553"/>
            <a:ext cx="669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he-IL" dirty="0">
                <a:latin typeface="+mj-lt"/>
              </a:rPr>
              <a:t>Running at the same time (concurrently) and performing different tasks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00407-E94E-B95F-A905-D8B7BE89EC89}"/>
              </a:ext>
            </a:extLst>
          </p:cNvPr>
          <p:cNvSpPr txBox="1"/>
          <p:nvPr/>
        </p:nvSpPr>
        <p:spPr>
          <a:xfrm>
            <a:off x="4152733" y="2937193"/>
            <a:ext cx="692764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he-IL" dirty="0"/>
              <a:t>For example, a Web browser can do several things at the same time: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98463" algn="l"/>
              </a:tabLst>
            </a:pPr>
            <a:endParaRPr lang="en-US" altLang="he-IL" dirty="0"/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98463" algn="l"/>
              </a:tabLst>
            </a:pPr>
            <a:r>
              <a:rPr lang="en-US" altLang="he-IL" dirty="0"/>
              <a:t>scroll a page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98463" algn="l"/>
              </a:tabLst>
            </a:pPr>
            <a:endParaRPr lang="en-US" altLang="he-IL" dirty="0"/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98463" algn="l"/>
              </a:tabLst>
            </a:pPr>
            <a:r>
              <a:rPr lang="en-US" altLang="he-IL" dirty="0"/>
              <a:t>download a file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98463" algn="l"/>
              </a:tabLst>
            </a:pPr>
            <a:endParaRPr lang="en-US" altLang="he-IL" dirty="0"/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98463" algn="l"/>
              </a:tabLst>
            </a:pPr>
            <a:r>
              <a:rPr lang="en-US" altLang="he-IL" dirty="0"/>
              <a:t>play animation, sound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98463" algn="l"/>
              </a:tabLst>
            </a:pPr>
            <a:endParaRPr lang="en-US" altLang="he-IL" dirty="0"/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98463" algn="l"/>
              </a:tabLst>
            </a:pPr>
            <a:r>
              <a:rPr lang="en-US" altLang="he-IL" dirty="0"/>
              <a:t>print page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98463" algn="l"/>
              </a:tabLst>
            </a:pPr>
            <a:endParaRPr lang="en-US" altLang="he-IL" dirty="0"/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98463" algn="l"/>
              </a:tabLst>
            </a:pPr>
            <a:r>
              <a:rPr lang="en-US" altLang="he-IL" dirty="0"/>
              <a:t>load a new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52732" y="657897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97E303-B617-4039-A2FB-233548B6D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775" y="2409224"/>
            <a:ext cx="5657850" cy="39909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C3973-A400-2226-2654-1BEAE26DF7C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What is Multitasking ?</a:t>
            </a:r>
          </a:p>
        </p:txBody>
      </p:sp>
    </p:spTree>
    <p:extLst>
      <p:ext uri="{BB962C8B-B14F-4D97-AF65-F5344CB8AC3E}">
        <p14:creationId xmlns:p14="http://schemas.microsoft.com/office/powerpoint/2010/main" val="941119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52732" y="657897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What is a Thread?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7FF931-2AFD-59F0-58B1-69F2E0A1B8E2}"/>
              </a:ext>
            </a:extLst>
          </p:cNvPr>
          <p:cNvSpPr txBox="1"/>
          <p:nvPr/>
        </p:nvSpPr>
        <p:spPr>
          <a:xfrm>
            <a:off x="4231340" y="2419552"/>
            <a:ext cx="69386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Thread is an independent path of execution within a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threads can run concurrently within a program.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thread in Java is created and controlled by the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java.lang.Thread class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Java program can have many threads, and these threads can run concurrently, either asynchronously or synchronously.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thread has a priority. Threads with higher priority are executed in preference to threads with lower priority.</a:t>
            </a:r>
          </a:p>
        </p:txBody>
      </p:sp>
    </p:spTree>
    <p:extLst>
      <p:ext uri="{BB962C8B-B14F-4D97-AF65-F5344CB8AC3E}">
        <p14:creationId xmlns:p14="http://schemas.microsoft.com/office/powerpoint/2010/main" val="975790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5754223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What is a Process?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520118-1881-7FB4-075D-0BB8AEC04E9E}"/>
              </a:ext>
            </a:extLst>
          </p:cNvPr>
          <p:cNvSpPr txBox="1"/>
          <p:nvPr/>
        </p:nvSpPr>
        <p:spPr>
          <a:xfrm>
            <a:off x="4276164" y="2544686"/>
            <a:ext cx="63201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process has a self-contained execution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process generally has a complete, private set of basic run-time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Threads are sometimes called lightweight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processes and threads provide an execution environment, but creating a new thread requires fewer resources than creating a new process.</a:t>
            </a:r>
          </a:p>
        </p:txBody>
      </p:sp>
    </p:spTree>
    <p:extLst>
      <p:ext uri="{BB962C8B-B14F-4D97-AF65-F5344CB8AC3E}">
        <p14:creationId xmlns:p14="http://schemas.microsoft.com/office/powerpoint/2010/main" val="598630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52732" y="657897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Thread VS. Process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69A779-6BAB-4A26-933B-440C58F0E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232" y="2743553"/>
            <a:ext cx="3363974" cy="332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8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480507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C3973-A400-2226-2654-1BEAE26DF7C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What is a Multithreading 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39A7D8-2556-2E6B-046D-DABB0115C1E4}"/>
              </a:ext>
            </a:extLst>
          </p:cNvPr>
          <p:cNvSpPr/>
          <p:nvPr/>
        </p:nvSpPr>
        <p:spPr>
          <a:xfrm>
            <a:off x="4209303" y="2483503"/>
            <a:ext cx="67585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Multithreading means that you have multiple </a:t>
            </a:r>
            <a:r>
              <a:rPr lang="en-US" i="1" dirty="0">
                <a:solidFill>
                  <a:srgbClr val="C00000"/>
                </a:solidFill>
                <a:latin typeface="+mj-lt"/>
              </a:rPr>
              <a:t>threads</a:t>
            </a:r>
            <a:r>
              <a:rPr lang="en-US" i="1" dirty="0">
                <a:solidFill>
                  <a:srgbClr val="000000"/>
                </a:solidFill>
                <a:latin typeface="+mj-lt"/>
              </a:rPr>
              <a:t> of </a:t>
            </a:r>
            <a:r>
              <a:rPr lang="en-US" i="1" dirty="0">
                <a:solidFill>
                  <a:srgbClr val="C00000"/>
                </a:solidFill>
                <a:latin typeface="+mj-lt"/>
              </a:rPr>
              <a:t>execution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 inside the same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A thread is like a separate CPU executing your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a multithreaded application is like an application that has multiple CPUs executing different parts of the code at the same time. 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39D905-FE18-4649-BBC8-83DF5F8A5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865" y="2144326"/>
            <a:ext cx="1562966" cy="184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04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19655" y="581808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C3973-A400-2226-2654-1BEAE26DF7C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Why to use Multithreading 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556CA6-09D4-CE82-0652-7A826E196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516" y="2523844"/>
            <a:ext cx="5016368" cy="295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9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96164" y="4849898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C3973-A400-2226-2654-1BEAE26DF7C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Why to use Multithreading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2B76D2-B512-03A7-C806-B14636A7AA79}"/>
              </a:ext>
            </a:extLst>
          </p:cNvPr>
          <p:cNvSpPr txBox="1"/>
          <p:nvPr/>
        </p:nvSpPr>
        <p:spPr>
          <a:xfrm>
            <a:off x="4258235" y="223044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Improve application performance.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Better resource utilization.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Simplify modeling real-world problems.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Perform asynchronous or background processing. </a:t>
            </a:r>
          </a:p>
        </p:txBody>
      </p:sp>
    </p:spTree>
    <p:extLst>
      <p:ext uri="{BB962C8B-B14F-4D97-AF65-F5344CB8AC3E}">
        <p14:creationId xmlns:p14="http://schemas.microsoft.com/office/powerpoint/2010/main" val="4203615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2" y="4885757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Thread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C3973-A400-2226-2654-1BEAE26DF7C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Create New Thread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90909-23EF-AC71-24B4-C648C75BB95E}"/>
              </a:ext>
            </a:extLst>
          </p:cNvPr>
          <p:cNvSpPr txBox="1"/>
          <p:nvPr/>
        </p:nvSpPr>
        <p:spPr>
          <a:xfrm>
            <a:off x="4450093" y="2430410"/>
            <a:ext cx="6096000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he-IL" sz="1800" u="sng" dirty="0">
                <a:latin typeface="+mj-lt"/>
              </a:rPr>
              <a:t>There are 2 ways for defining and creating threads</a:t>
            </a:r>
          </a:p>
          <a:p>
            <a:pPr>
              <a:lnSpc>
                <a:spcPct val="150000"/>
              </a:lnSpc>
            </a:pPr>
            <a:endParaRPr lang="en-US" altLang="he-IL" sz="1800" u="sng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he-IL" sz="1800" dirty="0">
                <a:latin typeface="+mj-lt"/>
              </a:rPr>
              <a:t>Subclassing Thread and Overriding run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he-IL" sz="1800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he-IL" sz="1800" dirty="0">
                <a:latin typeface="+mj-lt"/>
              </a:rPr>
              <a:t>Implementing the Runnable interface</a:t>
            </a:r>
          </a:p>
        </p:txBody>
      </p:sp>
    </p:spTree>
    <p:extLst>
      <p:ext uri="{BB962C8B-B14F-4D97-AF65-F5344CB8AC3E}">
        <p14:creationId xmlns:p14="http://schemas.microsoft.com/office/powerpoint/2010/main" val="1055657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19655" y="6714557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Thread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C3973-A400-2226-2654-1BEAE26DF7C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Create New Thread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A1F2856-5CAF-417A-9E05-DE00C7FD35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58755" y="2330623"/>
            <a:ext cx="7178040" cy="42622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he-IL" sz="1800" b="1" dirty="0">
                <a:solidFill>
                  <a:schemeClr val="tx1"/>
                </a:solidFill>
                <a:latin typeface="+mj-lt"/>
              </a:rPr>
              <a:t>Implementing Runnable</a:t>
            </a:r>
          </a:p>
          <a:p>
            <a:pPr marL="0" indent="0">
              <a:buNone/>
            </a:pPr>
            <a:endParaRPr lang="en-US" altLang="he-IL" sz="1800" b="1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en-US" altLang="he-IL" sz="1800" dirty="0">
                <a:solidFill>
                  <a:schemeClr val="tx1"/>
                </a:solidFill>
                <a:latin typeface="+mj-lt"/>
              </a:rPr>
              <a:t>Allows your class to extend some other class</a:t>
            </a:r>
          </a:p>
          <a:p>
            <a:pPr lvl="1"/>
            <a:r>
              <a:rPr lang="en-US" altLang="he-IL" sz="1800" dirty="0">
                <a:solidFill>
                  <a:schemeClr val="tx1"/>
                </a:solidFill>
                <a:latin typeface="+mj-lt"/>
              </a:rPr>
              <a:t>Is good if you want light-weight runnable objects</a:t>
            </a:r>
          </a:p>
          <a:p>
            <a:pPr lvl="1"/>
            <a:r>
              <a:rPr lang="en-US" altLang="he-IL" sz="1800" dirty="0">
                <a:solidFill>
                  <a:schemeClr val="tx1"/>
                </a:solidFill>
                <a:latin typeface="+mj-lt"/>
              </a:rPr>
              <a:t>That’s what interfaces are for</a:t>
            </a:r>
          </a:p>
          <a:p>
            <a:pPr lvl="1"/>
            <a:r>
              <a:rPr lang="en-US" altLang="he-IL" sz="1800" dirty="0">
                <a:solidFill>
                  <a:schemeClr val="tx1"/>
                </a:solidFill>
                <a:latin typeface="+mj-lt"/>
              </a:rPr>
              <a:t>Problems – might be less convenient for coding </a:t>
            </a:r>
          </a:p>
          <a:p>
            <a:endParaRPr lang="en-US" altLang="he-IL" sz="1800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r>
              <a:rPr lang="en-US" altLang="he-IL" sz="1800" b="1" dirty="0">
                <a:solidFill>
                  <a:schemeClr val="tx1"/>
                </a:solidFill>
                <a:latin typeface="+mj-lt"/>
              </a:rPr>
              <a:t>Sub classing Thread</a:t>
            </a:r>
          </a:p>
          <a:p>
            <a:pPr marL="0" indent="0">
              <a:buNone/>
            </a:pPr>
            <a:endParaRPr lang="en-US" altLang="he-IL" sz="1800" b="1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en-US" altLang="he-IL" sz="1800" dirty="0">
                <a:solidFill>
                  <a:schemeClr val="tx1"/>
                </a:solidFill>
                <a:latin typeface="+mj-lt"/>
              </a:rPr>
              <a:t>Allows direct access to Thread attributes and methods</a:t>
            </a:r>
          </a:p>
          <a:p>
            <a:pPr lvl="1"/>
            <a:r>
              <a:rPr lang="en-US" altLang="he-IL" sz="1800" dirty="0">
                <a:solidFill>
                  <a:schemeClr val="tx1"/>
                </a:solidFill>
                <a:latin typeface="+mj-lt"/>
              </a:rPr>
              <a:t>Less coding</a:t>
            </a:r>
          </a:p>
          <a:p>
            <a:pPr lvl="1"/>
            <a:r>
              <a:rPr lang="en-US" altLang="he-IL" sz="1800" dirty="0">
                <a:solidFill>
                  <a:schemeClr val="tx1"/>
                </a:solidFill>
                <a:latin typeface="+mj-lt"/>
              </a:rPr>
              <a:t>Problems – single inheritance in Java – your class cannot extend another class</a:t>
            </a:r>
          </a:p>
        </p:txBody>
      </p:sp>
    </p:spTree>
    <p:extLst>
      <p:ext uri="{BB962C8B-B14F-4D97-AF65-F5344CB8AC3E}">
        <p14:creationId xmlns:p14="http://schemas.microsoft.com/office/powerpoint/2010/main" val="2341174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837073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98949" y="660698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Thread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C3973-A400-2226-2654-1BEAE26DF7CF}"/>
              </a:ext>
            </a:extLst>
          </p:cNvPr>
          <p:cNvSpPr txBox="1"/>
          <p:nvPr/>
        </p:nvSpPr>
        <p:spPr>
          <a:xfrm>
            <a:off x="4096164" y="407948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Create New Thread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8ED076-EB12-4C1E-9D60-56C0DE407E7B}"/>
              </a:ext>
            </a:extLst>
          </p:cNvPr>
          <p:cNvSpPr/>
          <p:nvPr/>
        </p:nvSpPr>
        <p:spPr>
          <a:xfrm>
            <a:off x="4298949" y="1031254"/>
            <a:ext cx="6763512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SimpleThread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 {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3F7F5F"/>
                </a:solidFill>
                <a:latin typeface="Consolas" panose="020B0609020204030204" pitchFamily="49" charset="0"/>
              </a:rPr>
              <a:t>//override run and extends thread </a:t>
            </a: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SimpleThread(String 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super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sz="1400" dirty="0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 { </a:t>
            </a:r>
          </a:p>
          <a:p>
            <a:r>
              <a:rPr lang="nn-NO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10;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 {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System.</a:t>
            </a:r>
            <a:r>
              <a:rPr lang="en-U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getName());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System.</a:t>
            </a:r>
            <a:r>
              <a:rPr lang="en-U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.println(Thread.currentThread().getPriority());</a:t>
            </a: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lvl="1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sleep((</a:t>
            </a:r>
            <a:r>
              <a:rPr lang="en-US" sz="1400" b="1" i="1" dirty="0">
                <a:solidFill>
                  <a:srgbClr val="7F0055"/>
                </a:solidFill>
                <a:latin typeface="Consolas" panose="020B0609020204030204" pitchFamily="49" charset="0"/>
              </a:rPr>
              <a:t>long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)(Math.random() * 1000));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(InterruptedException 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	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.getStackTrace();}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}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"DONE! "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getName());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(String[] 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SimpleThread(</a:t>
            </a:r>
            <a:r>
              <a:rPr lang="en-US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"thread1"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).start(); </a:t>
            </a: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SimpleThread(</a:t>
            </a:r>
            <a:r>
              <a:rPr lang="en-US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"thread2"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).start(); 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"Hi Assaf"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+Thread.currentThread().getPriority());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8147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837073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98949" y="660698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Thread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C3973-A400-2226-2654-1BEAE26DF7CF}"/>
              </a:ext>
            </a:extLst>
          </p:cNvPr>
          <p:cNvSpPr txBox="1"/>
          <p:nvPr/>
        </p:nvSpPr>
        <p:spPr>
          <a:xfrm>
            <a:off x="4096164" y="407948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Create New Thread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0D104E-BDC1-4397-B124-638ACC1BA382}"/>
              </a:ext>
            </a:extLst>
          </p:cNvPr>
          <p:cNvSpPr/>
          <p:nvPr/>
        </p:nvSpPr>
        <p:spPr>
          <a:xfrm>
            <a:off x="4298949" y="1043729"/>
            <a:ext cx="666887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SimpleRunnable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Runnable {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run() {</a:t>
            </a:r>
          </a:p>
          <a:p>
            <a:endParaRPr lang="nn-NO" sz="14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r>
              <a:rPr lang="nn-NO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10;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 {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Thread.currentThread().getName());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.println(Thread.currentThread().getPriority());</a:t>
            </a: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Thread.</a:t>
            </a:r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sleep((</a:t>
            </a:r>
            <a:r>
              <a:rPr lang="en-US" sz="1400" b="1" i="1" dirty="0">
                <a:solidFill>
                  <a:srgbClr val="7F0055"/>
                </a:solidFill>
                <a:latin typeface="Consolas" panose="020B0609020204030204" pitchFamily="49" charset="0"/>
              </a:rPr>
              <a:t>long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)(Math.random() * 3000));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} </a:t>
            </a: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(InterruptedException 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{}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			  }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"DONE! "</a:t>
            </a:r>
            <a:r>
              <a:rPr lang="en-U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Thread.currentThread(). getName());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(String[] 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SimpleRunnable 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runner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SimpleRunnable 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Thread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t1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Thread(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runner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 “Apple thread"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b="1" u="sng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Thread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t2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Thread(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runner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 “Banana thread"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	t1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.start(); </a:t>
            </a:r>
          </a:p>
          <a:p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	t2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.start(); } </a:t>
            </a:r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3433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52732" y="657897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Thread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Thread  Lifecycle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B48C78-5EEC-0142-B17D-F8E04FFC2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732" y="2475099"/>
            <a:ext cx="615315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96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5628718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States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Thread  States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23C289-8B9B-491D-9938-2959F2C89CAC}"/>
              </a:ext>
            </a:extLst>
          </p:cNvPr>
          <p:cNvSpPr/>
          <p:nvPr/>
        </p:nvSpPr>
        <p:spPr>
          <a:xfrm>
            <a:off x="4096164" y="2506116"/>
            <a:ext cx="6947422" cy="2846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he-IL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New Thread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 Thread is created but not yet started.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he-IL" b="1" dirty="0">
              <a:latin typeface="+mj-lt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No system resource have been allocated for it yet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he-IL" dirty="0">
              <a:latin typeface="+mj-lt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Can only be started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he-IL" dirty="0">
              <a:latin typeface="+mj-lt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Calling any method besides causes an </a:t>
            </a:r>
            <a:r>
              <a:rPr lang="en-US" altLang="he-IL" dirty="0">
                <a:solidFill>
                  <a:srgbClr val="C00000"/>
                </a:solidFill>
                <a:latin typeface="+mj-lt"/>
              </a:rPr>
              <a:t>IllegalThreadStateException</a:t>
            </a:r>
            <a:r>
              <a:rPr lang="en-US" altLang="he-IL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361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96164" y="5261163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States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Thread  States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99798-C291-A944-7A36-8AC38D4D3B0F}"/>
              </a:ext>
            </a:extLst>
          </p:cNvPr>
          <p:cNvSpPr txBox="1"/>
          <p:nvPr/>
        </p:nvSpPr>
        <p:spPr>
          <a:xfrm>
            <a:off x="4096164" y="2367169"/>
            <a:ext cx="71545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he-IL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Runnable: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Thread is ready to run and waiting for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CPU</a:t>
            </a:r>
            <a:r>
              <a:rPr lang="en-US" dirty="0"/>
              <a:t> time.</a:t>
            </a:r>
            <a:endParaRPr lang="en-US" altLang="he-IL" b="1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  <a:p>
            <a:endParaRPr lang="en-US" altLang="he-IL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j-lt"/>
              </a:rPr>
              <a:t>When a </a:t>
            </a:r>
            <a:r>
              <a:rPr lang="en-US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+mj-lt"/>
              </a:rPr>
              <a:t>start() 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j-lt"/>
              </a:rPr>
              <a:t>method is called over thread processed by the thread scheduler</a:t>
            </a:r>
            <a:r>
              <a:rPr lang="en-US" altLang="he-IL" dirty="0">
                <a:latin typeface="+mj-lt"/>
              </a:rPr>
              <a:t> </a:t>
            </a:r>
          </a:p>
          <a:p>
            <a:pPr marL="1657350" lvl="3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Case A: Can be a running thread  (Running State)</a:t>
            </a:r>
          </a:p>
          <a:p>
            <a:pPr marL="1657350" lvl="3" indent="-285750" fontAlgn="base">
              <a:buFont typeface="Arial" panose="020B0604020202020204" pitchFamily="34" charset="0"/>
              <a:buChar char="•"/>
            </a:pPr>
            <a:endParaRPr lang="en-US" dirty="0">
              <a:solidFill>
                <a:srgbClr val="273239"/>
              </a:solidFill>
              <a:highlight>
                <a:srgbClr val="FFFFFF"/>
              </a:highlight>
              <a:latin typeface="+mj-lt"/>
            </a:endParaRPr>
          </a:p>
          <a:p>
            <a:pPr marL="1657350" lvl="3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Case B: Can not be a running thread (Blocked State)</a:t>
            </a:r>
          </a:p>
        </p:txBody>
      </p:sp>
    </p:spTree>
    <p:extLst>
      <p:ext uri="{BB962C8B-B14F-4D97-AF65-F5344CB8AC3E}">
        <p14:creationId xmlns:p14="http://schemas.microsoft.com/office/powerpoint/2010/main" val="3157742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4741211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States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Thread  States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99798-C291-A944-7A36-8AC38D4D3B0F}"/>
              </a:ext>
            </a:extLst>
          </p:cNvPr>
          <p:cNvSpPr txBox="1"/>
          <p:nvPr/>
        </p:nvSpPr>
        <p:spPr>
          <a:xfrm>
            <a:off x="4096164" y="236267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he-IL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Running</a:t>
            </a:r>
          </a:p>
          <a:p>
            <a:endParaRPr lang="en-US" altLang="he-IL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Creates the system resources necessary to run the thread</a:t>
            </a:r>
          </a:p>
          <a:p>
            <a:r>
              <a:rPr lang="en-US" altLang="he-IL" dirty="0"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Schedules the thread to 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he-IL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Calls the thread's run method 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2533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19655" y="6103847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States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Thread  States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DCA4A-9202-73AB-7F72-FEACF13553D7}"/>
              </a:ext>
            </a:extLst>
          </p:cNvPr>
          <p:cNvSpPr txBox="1"/>
          <p:nvPr/>
        </p:nvSpPr>
        <p:spPr>
          <a:xfrm>
            <a:off x="4096163" y="2367169"/>
            <a:ext cx="75220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he-IL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Not Runnable (Blocked)</a:t>
            </a:r>
          </a:p>
          <a:p>
            <a:pPr marL="0" indent="0">
              <a:buNone/>
              <a:defRPr/>
            </a:pPr>
            <a:endParaRPr lang="en-US" altLang="he-IL" sz="1800" b="1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altLang="he-IL" sz="1800" dirty="0">
                <a:latin typeface="+mj-lt"/>
              </a:rPr>
              <a:t>A thread becomes Not Runnable when one of these events occurs:</a:t>
            </a:r>
          </a:p>
          <a:p>
            <a:pPr marL="0" indent="0">
              <a:buNone/>
              <a:defRPr/>
            </a:pPr>
            <a:r>
              <a:rPr lang="en-US" altLang="he-IL" sz="1800" dirty="0">
                <a:latin typeface="+mj-lt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he-IL" dirty="0">
                <a:latin typeface="+mj-lt"/>
              </a:rPr>
              <a:t>It’s </a:t>
            </a:r>
            <a: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sleep()</a:t>
            </a:r>
            <a:r>
              <a:rPr lang="en-US" altLang="he-IL" dirty="0">
                <a:latin typeface="+mj-lt"/>
              </a:rPr>
              <a:t>, </a:t>
            </a:r>
            <a: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yield() </a:t>
            </a:r>
            <a:r>
              <a:rPr lang="en-US" altLang="he-IL" dirty="0">
                <a:latin typeface="+mj-lt"/>
              </a:rPr>
              <a:t>method is invoked.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altLang="he-IL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he-IL" dirty="0">
                <a:latin typeface="+mj-lt"/>
              </a:rPr>
              <a:t>One thread uses </a:t>
            </a:r>
            <a: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join() </a:t>
            </a:r>
            <a:r>
              <a:rPr lang="en-US" altLang="he-IL" dirty="0">
                <a:latin typeface="+mj-lt"/>
              </a:rPr>
              <a:t>on another and becomes blocked.</a:t>
            </a:r>
          </a:p>
          <a:p>
            <a:pPr lvl="1">
              <a:defRPr/>
            </a:pPr>
            <a:r>
              <a:rPr lang="en-US" altLang="he-IL" dirty="0">
                <a:latin typeface="+mj-lt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he-IL" dirty="0">
                <a:latin typeface="+mj-lt"/>
              </a:rPr>
              <a:t>The thread calls the </a:t>
            </a:r>
            <a: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wait() </a:t>
            </a:r>
            <a:r>
              <a:rPr lang="en-US" altLang="he-IL" dirty="0">
                <a:latin typeface="+mj-lt"/>
              </a:rPr>
              <a:t>method to wait for a specific condition to be satisfied.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altLang="he-IL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he-IL" dirty="0">
                <a:latin typeface="+mj-lt"/>
              </a:rPr>
              <a:t>The thread is blocked on I/O.</a:t>
            </a:r>
          </a:p>
        </p:txBody>
      </p:sp>
    </p:spTree>
    <p:extLst>
      <p:ext uri="{BB962C8B-B14F-4D97-AF65-F5344CB8AC3E}">
        <p14:creationId xmlns:p14="http://schemas.microsoft.com/office/powerpoint/2010/main" val="918590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19655" y="6103847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States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Thread  States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DCA4A-9202-73AB-7F72-FEACF13553D7}"/>
              </a:ext>
            </a:extLst>
          </p:cNvPr>
          <p:cNvSpPr txBox="1"/>
          <p:nvPr/>
        </p:nvSpPr>
        <p:spPr>
          <a:xfrm>
            <a:off x="4096163" y="2367169"/>
            <a:ext cx="7790543" cy="309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he-IL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Terminated (Dead)</a:t>
            </a:r>
          </a:p>
          <a:p>
            <a:pPr marL="0" indent="0">
              <a:buNone/>
              <a:defRPr/>
            </a:pPr>
            <a:endParaRPr lang="en-US" altLang="he-IL" sz="1800" b="1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The run method must terminate naturally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Stop() </a:t>
            </a:r>
            <a:r>
              <a:rPr lang="en-US" altLang="he-IL" dirty="0">
                <a:latin typeface="+mj-lt"/>
              </a:rPr>
              <a:t>method – </a:t>
            </a:r>
            <a:r>
              <a:rPr lang="en-US" altLang="he-IL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deprecated!!!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This method is inherently unsafe. Stopping a thread with </a:t>
            </a:r>
            <a:r>
              <a:rPr lang="en-US" altLang="he-IL" dirty="0" err="1">
                <a:latin typeface="+mj-lt"/>
              </a:rPr>
              <a:t>Thread.stop</a:t>
            </a:r>
            <a:r>
              <a:rPr lang="en-US" altLang="he-IL" dirty="0">
                <a:latin typeface="+mj-lt"/>
              </a:rPr>
              <a:t> causes it to unlock all of the monitors that it has locked (as a natural consequence of the unchecked </a:t>
            </a:r>
            <a:r>
              <a:rPr lang="en-US" altLang="he-IL" dirty="0" err="1">
                <a:latin typeface="+mj-lt"/>
              </a:rPr>
              <a:t>ThreadDeath</a:t>
            </a:r>
            <a:r>
              <a:rPr lang="en-US" altLang="he-IL" dirty="0">
                <a:latin typeface="+mj-lt"/>
              </a:rPr>
              <a:t> exception propagating up the stack)</a:t>
            </a:r>
          </a:p>
        </p:txBody>
      </p:sp>
    </p:spTree>
    <p:extLst>
      <p:ext uri="{BB962C8B-B14F-4D97-AF65-F5344CB8AC3E}">
        <p14:creationId xmlns:p14="http://schemas.microsoft.com/office/powerpoint/2010/main" val="4148054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643160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Methods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Thread  Methods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466EB6-285F-1790-37E3-68B7C2FC3F17}"/>
              </a:ext>
            </a:extLst>
          </p:cNvPr>
          <p:cNvSpPr txBox="1"/>
          <p:nvPr/>
        </p:nvSpPr>
        <p:spPr>
          <a:xfrm>
            <a:off x="4120010" y="2450022"/>
            <a:ext cx="73861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j-lt"/>
              </a:rPr>
              <a:t>start():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Starts the execution of the thread.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j-lt"/>
              </a:rPr>
              <a:t>run():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Entry point for the thread.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j-lt"/>
              </a:rPr>
              <a:t>sleep(long millis):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Puts the thread to sleep for the specified milliseconds.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j-lt"/>
              </a:rPr>
              <a:t>join():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Waits for the thread to die.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j-lt"/>
              </a:rPr>
              <a:t>yield():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Causes the currently executing thread to temporarily pause and allow other threads to execute.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j-lt"/>
              </a:rPr>
              <a:t>interrupt():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Interrupts the thread.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99185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509345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Methods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Start  Method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466EB6-285F-1790-37E3-68B7C2FC3F17}"/>
              </a:ext>
            </a:extLst>
          </p:cNvPr>
          <p:cNvSpPr txBox="1"/>
          <p:nvPr/>
        </p:nvSpPr>
        <p:spPr>
          <a:xfrm>
            <a:off x="4120010" y="2450022"/>
            <a:ext cx="73861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j-lt"/>
              </a:rPr>
              <a:t>Starting a thread by calling the </a:t>
            </a:r>
            <a:r>
              <a:rPr lang="en-US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highlight>
                  <a:srgbClr val="FFFFFF"/>
                </a:highlight>
                <a:latin typeface="+mj-lt"/>
              </a:rPr>
              <a:t>start() 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j-lt"/>
              </a:rPr>
              <a:t>function.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 i="0" dirty="0">
              <a:solidFill>
                <a:srgbClr val="273239"/>
              </a:solidFill>
              <a:effectLst/>
              <a:highlight>
                <a:srgbClr val="FFFFFF"/>
              </a:highlight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j-lt"/>
              </a:rPr>
              <a:t>Q: why don’t we directly call the overridden run() function? </a:t>
            </a:r>
            <a:endParaRPr lang="LID4096" dirty="0"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LID4096" dirty="0"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A: 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The purpose of start() is to create a separate call stack for the thread. A separate call stack is created by it, and then run() is called by JVM.</a:t>
            </a:r>
            <a:endParaRPr lang="LID4096" altLang="LID4096" dirty="0">
              <a:solidFill>
                <a:srgbClr val="273239"/>
              </a:solidFill>
              <a:highlight>
                <a:srgbClr val="FFFFFF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2845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558452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Methods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Sleep  Method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466EB6-285F-1790-37E3-68B7C2FC3F17}"/>
              </a:ext>
            </a:extLst>
          </p:cNvPr>
          <p:cNvSpPr txBox="1"/>
          <p:nvPr/>
        </p:nvSpPr>
        <p:spPr>
          <a:xfrm>
            <a:off x="4096164" y="2417797"/>
            <a:ext cx="706445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altLang="he-IL" sz="1800" kern="1200" dirty="0">
                <a:latin typeface="+mj-lt"/>
              </a:rPr>
              <a:t>Move</a:t>
            </a:r>
            <a:r>
              <a:rPr lang="en-US" altLang="he-IL" sz="1800" dirty="0">
                <a:latin typeface="+mj-lt"/>
              </a:rPr>
              <a:t> the thread to a non-Runnable state for a period (ms)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altLang="he-IL" sz="1800" dirty="0">
              <a:latin typeface="+mj-lt"/>
            </a:endParaRP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altLang="he-IL" sz="1800" dirty="0">
                <a:latin typeface="+mj-lt"/>
              </a:rPr>
              <a:t>Usually, the simplest way to delay threads or main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altLang="he-IL" sz="1800" dirty="0">
              <a:latin typeface="+mj-lt"/>
            </a:endParaRP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altLang="he-IL" sz="1800" dirty="0">
                <a:latin typeface="+mj-lt"/>
              </a:rPr>
              <a:t>Note: blocks the thread  at least to the specified time – not exactly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dirty="0">
              <a:highlight>
                <a:srgbClr val="FFFFFF"/>
              </a:highlight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throws </a:t>
            </a:r>
            <a: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InterruptedException </a:t>
            </a:r>
            <a:b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</a:br>
            <a:endParaRPr lang="en-US" altLang="he-IL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sz="1600" dirty="0">
                <a:latin typeface="+mj-lt"/>
              </a:rPr>
              <a:t>When thread are out of the blocking state before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he-IL" sz="1600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sz="1600" dirty="0">
                <a:latin typeface="+mj-lt"/>
              </a:rPr>
              <a:t>Might happen due to OS activity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dirty="0">
              <a:highlight>
                <a:srgbClr val="FFFFFF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5335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558452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Methods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Join  Method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466EB6-285F-1790-37E3-68B7C2FC3F17}"/>
              </a:ext>
            </a:extLst>
          </p:cNvPr>
          <p:cNvSpPr txBox="1"/>
          <p:nvPr/>
        </p:nvSpPr>
        <p:spPr>
          <a:xfrm>
            <a:off x="4096164" y="2417797"/>
            <a:ext cx="744390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altLang="he-IL" sz="1800" dirty="0">
                <a:latin typeface="+mj-lt"/>
              </a:rPr>
              <a:t>Move the running thread to a non-Runnable state until a specific thread ends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altLang="he-IL" sz="1800" dirty="0">
              <a:latin typeface="+mj-lt"/>
            </a:endParaRP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altLang="he-IL" sz="1800" dirty="0">
                <a:latin typeface="+mj-lt"/>
              </a:rPr>
              <a:t>Delays the caller until the referenced thread ends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altLang="he-IL" sz="1800" dirty="0">
              <a:latin typeface="+mj-lt"/>
            </a:endParaRP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altLang="he-IL" sz="1800" dirty="0">
                <a:latin typeface="+mj-lt"/>
              </a:rPr>
              <a:t>Is absolute – not like priority</a:t>
            </a:r>
            <a:endParaRPr lang="he-IL" sz="1800" dirty="0">
              <a:latin typeface="+mj-lt"/>
            </a:endParaRP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dirty="0">
              <a:highlight>
                <a:srgbClr val="FFFFFF"/>
              </a:highlight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throws </a:t>
            </a:r>
            <a: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InterruptedException </a:t>
            </a:r>
            <a:b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</a:br>
            <a:endParaRPr lang="en-US" altLang="he-IL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sz="1600" dirty="0">
                <a:latin typeface="+mj-lt"/>
              </a:rPr>
              <a:t>When thread are out of the blocking state before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he-IL" sz="1600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sz="1600" dirty="0">
                <a:latin typeface="+mj-lt"/>
              </a:rPr>
              <a:t>Might happen due to OS activity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dirty="0">
              <a:highlight>
                <a:srgbClr val="FFFFFF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47193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19655" y="518332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Methods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Yield  Method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466EB6-285F-1790-37E3-68B7C2FC3F17}"/>
              </a:ext>
            </a:extLst>
          </p:cNvPr>
          <p:cNvSpPr txBox="1"/>
          <p:nvPr/>
        </p:nvSpPr>
        <p:spPr>
          <a:xfrm>
            <a:off x="4007449" y="2413336"/>
            <a:ext cx="7443903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altLang="he-IL" sz="1800" dirty="0">
                <a:latin typeface="+mj-lt"/>
              </a:rPr>
              <a:t>Move the Running thread to the Rannable pool (Equals to sleep(0))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altLang="he-IL" sz="1800" dirty="0">
              <a:latin typeface="+mj-lt"/>
            </a:endParaRP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altLang="he-IL" sz="1800" kern="1200" dirty="0">
                <a:latin typeface="+mj-lt"/>
              </a:rPr>
              <a:t>Usually</a:t>
            </a:r>
            <a:r>
              <a:rPr lang="en-US" altLang="he-IL" sz="1800" dirty="0">
                <a:latin typeface="+mj-lt"/>
              </a:rPr>
              <a:t> for giving other low priority thread a chance to run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dirty="0">
              <a:highlight>
                <a:srgbClr val="FFFFFF"/>
              </a:highlight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throws </a:t>
            </a:r>
            <a: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InterruptedException </a:t>
            </a:r>
            <a:br>
              <a:rPr lang="en-US" altLang="he-IL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</a:br>
            <a:endParaRPr lang="en-US" altLang="he-IL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sz="1600" dirty="0">
                <a:latin typeface="+mj-lt"/>
              </a:rPr>
              <a:t>When thread are out of the blocking state before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he-IL" sz="1600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sz="1600" dirty="0">
                <a:latin typeface="+mj-lt"/>
              </a:rPr>
              <a:t>Might happen due to OS activity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endParaRPr lang="en-US" dirty="0">
              <a:highlight>
                <a:srgbClr val="FFFFFF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2763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319370" y="443305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Methods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Suspend  Method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466EB6-285F-1790-37E3-68B7C2FC3F17}"/>
              </a:ext>
            </a:extLst>
          </p:cNvPr>
          <p:cNvSpPr txBox="1"/>
          <p:nvPr/>
        </p:nvSpPr>
        <p:spPr>
          <a:xfrm>
            <a:off x="4120009" y="2450022"/>
            <a:ext cx="70644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The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j-lt"/>
              </a:rPr>
              <a:t> suspend() 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method of 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j-lt"/>
              </a:rPr>
              <a:t>thread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 class puts the thread from running to </a:t>
            </a:r>
            <a:r>
              <a:rPr lang="en-US" dirty="0">
                <a:solidFill>
                  <a:srgbClr val="C00000"/>
                </a:solidFill>
                <a:highlight>
                  <a:srgbClr val="FFFFFF"/>
                </a:highlight>
                <a:latin typeface="+mj-lt"/>
              </a:rPr>
              <a:t>waiting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 state.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dirty="0">
              <a:solidFill>
                <a:srgbClr val="273239"/>
              </a:solidFill>
              <a:highlight>
                <a:srgbClr val="FFFFFF"/>
              </a:highlight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The suspended thread is often resumed using the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j-lt"/>
              </a:rPr>
              <a:t>resume() 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method.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dirty="0">
              <a:solidFill>
                <a:srgbClr val="273239"/>
              </a:solidFill>
              <a:highlight>
                <a:srgbClr val="FFFFFF"/>
              </a:highlight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j-lt"/>
              </a:rPr>
              <a:t>suspend() 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and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FF"/>
                </a:highlight>
                <a:latin typeface="+mj-lt"/>
              </a:rPr>
              <a:t> resume() </a:t>
            </a:r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+mj-lt"/>
              </a:rPr>
              <a:t>method is deprecated in the latest Java version.</a:t>
            </a:r>
          </a:p>
        </p:txBody>
      </p:sp>
    </p:spTree>
    <p:extLst>
      <p:ext uri="{BB962C8B-B14F-4D97-AF65-F5344CB8AC3E}">
        <p14:creationId xmlns:p14="http://schemas.microsoft.com/office/powerpoint/2010/main" val="2152525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4821893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Methods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Inter-thread Communication Methods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466EB6-285F-1790-37E3-68B7C2FC3F17}"/>
              </a:ext>
            </a:extLst>
          </p:cNvPr>
          <p:cNvSpPr txBox="1"/>
          <p:nvPr/>
        </p:nvSpPr>
        <p:spPr>
          <a:xfrm>
            <a:off x="4120010" y="2450022"/>
            <a:ext cx="6270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Mechanism by which threads can communicate with each other.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4F479C-D8AC-3FBB-5326-91B0169F13AA}"/>
              </a:ext>
            </a:extLst>
          </p:cNvPr>
          <p:cNvSpPr txBox="1"/>
          <p:nvPr/>
        </p:nvSpPr>
        <p:spPr>
          <a:xfrm>
            <a:off x="3940361" y="2975307"/>
            <a:ext cx="75254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j-lt"/>
              </a:rPr>
              <a:t>wait():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Causes the current thread to wait until another thread invokes notify().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j-lt"/>
              </a:rPr>
              <a:t>notify():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Wakes up a single thread that is waiting on this object's monitor.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j-lt"/>
              </a:rPr>
              <a:t>notifyAll():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Wakes up all threads that are waiting on this object's monitor. </a:t>
            </a:r>
          </a:p>
        </p:txBody>
      </p:sp>
    </p:spTree>
    <p:extLst>
      <p:ext uri="{BB962C8B-B14F-4D97-AF65-F5344CB8AC3E}">
        <p14:creationId xmlns:p14="http://schemas.microsoft.com/office/powerpoint/2010/main" val="4261296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3920422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ptos Display"/>
              </a:rPr>
              <a:t>Synchronization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83240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What is  Synchronization?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B4CAE5-038E-71DF-FC82-7B9D6907B065}"/>
              </a:ext>
            </a:extLst>
          </p:cNvPr>
          <p:cNvSpPr txBox="1"/>
          <p:nvPr/>
        </p:nvSpPr>
        <p:spPr>
          <a:xfrm>
            <a:off x="4348700" y="2549436"/>
            <a:ext cx="6268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j-lt"/>
              </a:rPr>
              <a:t>It is the mechanism that bounds the access of multiple threads to share a common resource hence is suggested to be useful where only one thread at a time is granted the access to run over.</a:t>
            </a:r>
            <a:endParaRPr lang="LID4096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06071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4203827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ptos Display"/>
              </a:rPr>
              <a:t>Synchronization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83240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Why Synchronization?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EE19E0-3E4F-B853-DB74-6D90F09162DB}"/>
              </a:ext>
            </a:extLst>
          </p:cNvPr>
          <p:cNvSpPr txBox="1"/>
          <p:nvPr/>
        </p:nvSpPr>
        <p:spPr>
          <a:xfrm>
            <a:off x="4096164" y="250567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prevent thread interference.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ensure consistency of shared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manage access to shared resources.</a:t>
            </a:r>
          </a:p>
        </p:txBody>
      </p:sp>
    </p:spTree>
    <p:extLst>
      <p:ext uri="{BB962C8B-B14F-4D97-AF65-F5344CB8AC3E}">
        <p14:creationId xmlns:p14="http://schemas.microsoft.com/office/powerpoint/2010/main" val="1930823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8" y="5050493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ptos Display"/>
              </a:rPr>
              <a:t>Synchronization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83240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Synchronized 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199685-AD36-2EBB-4AD6-FC03A8203495}"/>
              </a:ext>
            </a:extLst>
          </p:cNvPr>
          <p:cNvSpPr txBox="1"/>
          <p:nvPr/>
        </p:nvSpPr>
        <p:spPr>
          <a:xfrm>
            <a:off x="4248239" y="24847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LID4096" dirty="0"/>
              <a:t> </a:t>
            </a:r>
            <a:r>
              <a:rPr lang="LID4096" dirty="0">
                <a:solidFill>
                  <a:schemeClr val="accent5">
                    <a:lumMod val="75000"/>
                  </a:schemeClr>
                </a:solidFill>
              </a:rPr>
              <a:t>synchronized</a:t>
            </a:r>
            <a:r>
              <a:rPr lang="LID4096" dirty="0"/>
              <a:t> </a:t>
            </a:r>
            <a:r>
              <a:rPr lang="LID4096" dirty="0">
                <a:solidFill>
                  <a:schemeClr val="accent1">
                    <a:lumMod val="75000"/>
                  </a:schemeClr>
                </a:solidFill>
              </a:rPr>
              <a:t>void</a:t>
            </a:r>
            <a:r>
              <a:rPr lang="LID4096" dirty="0"/>
              <a:t> method() {</a:t>
            </a:r>
          </a:p>
          <a:p>
            <a:r>
              <a:rPr lang="LID4096" dirty="0"/>
              <a:t>    // synchronized code</a:t>
            </a:r>
          </a:p>
          <a:p>
            <a:r>
              <a:rPr lang="LID4096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1B3B45-F3E5-B4F1-6CD4-3541FF8A379A}"/>
              </a:ext>
            </a:extLst>
          </p:cNvPr>
          <p:cNvSpPr txBox="1"/>
          <p:nvPr/>
        </p:nvSpPr>
        <p:spPr>
          <a:xfrm>
            <a:off x="4248239" y="378672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LID4096" dirty="0"/>
              <a:t> </a:t>
            </a:r>
            <a:r>
              <a:rPr lang="LID4096" dirty="0">
                <a:solidFill>
                  <a:schemeClr val="accent5"/>
                </a:solidFill>
              </a:rPr>
              <a:t>synchronized static </a:t>
            </a:r>
            <a:r>
              <a:rPr lang="LID4096" dirty="0">
                <a:solidFill>
                  <a:schemeClr val="accent1">
                    <a:lumMod val="75000"/>
                  </a:schemeClr>
                </a:solidFill>
              </a:rPr>
              <a:t>void</a:t>
            </a:r>
            <a:r>
              <a:rPr lang="LID4096" dirty="0"/>
              <a:t> staticMethod() {</a:t>
            </a:r>
          </a:p>
          <a:p>
            <a:r>
              <a:rPr lang="LID4096" dirty="0"/>
              <a:t>    // synchronized code</a:t>
            </a:r>
          </a:p>
          <a:p>
            <a:r>
              <a:rPr lang="LID4096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8857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7" y="457636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ptos Display"/>
              </a:rPr>
              <a:t>Synchronization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83240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Synchronized Block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2C268-8193-4F20-4DB4-FFF4C9B65360}"/>
              </a:ext>
            </a:extLst>
          </p:cNvPr>
          <p:cNvSpPr txBox="1"/>
          <p:nvPr/>
        </p:nvSpPr>
        <p:spPr>
          <a:xfrm>
            <a:off x="4348700" y="270987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public void </a:t>
            </a:r>
            <a:r>
              <a:rPr lang="LID4096" dirty="0"/>
              <a:t>method() {</a:t>
            </a:r>
          </a:p>
          <a:p>
            <a:r>
              <a:rPr lang="LID4096" dirty="0"/>
              <a:t>    </a:t>
            </a:r>
            <a:r>
              <a:rPr lang="LID4096" dirty="0">
                <a:solidFill>
                  <a:schemeClr val="accent5"/>
                </a:solidFill>
              </a:rPr>
              <a:t>synchronized</a:t>
            </a:r>
            <a:r>
              <a:rPr lang="LID4096" dirty="0"/>
              <a:t>(</a:t>
            </a:r>
            <a:r>
              <a:rPr lang="LID4096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this</a:t>
            </a:r>
            <a:r>
              <a:rPr lang="LID4096" dirty="0"/>
              <a:t>) {</a:t>
            </a:r>
          </a:p>
          <a:p>
            <a:r>
              <a:rPr lang="LID4096" dirty="0"/>
              <a:t>        // synchronized code</a:t>
            </a:r>
          </a:p>
          <a:p>
            <a:r>
              <a:rPr lang="LID4096" dirty="0"/>
              <a:t>    }</a:t>
            </a:r>
          </a:p>
          <a:p>
            <a:r>
              <a:rPr lang="LID4096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4712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608342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ptos Display"/>
              </a:rPr>
              <a:t>Reentrant Lock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83240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Lock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838B9-D7BB-361E-10BB-0F7E9EBE1772}"/>
              </a:ext>
            </a:extLst>
          </p:cNvPr>
          <p:cNvSpPr txBox="1"/>
          <p:nvPr/>
        </p:nvSpPr>
        <p:spPr>
          <a:xfrm>
            <a:off x="4096164" y="24438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More flexible locking mechanism than synchronized.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7025B5-C576-E772-EF6E-E22746D0C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665" y="3096112"/>
            <a:ext cx="5672998" cy="270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75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543996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ptos Display"/>
              </a:rPr>
              <a:t>Dead Lock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83240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Lock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3C17F3-634C-E541-20D5-0265E38F6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182" y="2427114"/>
            <a:ext cx="4182533" cy="275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23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543996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ptos Display"/>
              </a:rPr>
              <a:t>Dead Lock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83240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2FDEE9-3D0C-4F52-B306-F164F3C1E89E}"/>
              </a:ext>
            </a:extLst>
          </p:cNvPr>
          <p:cNvSpPr/>
          <p:nvPr/>
        </p:nvSpPr>
        <p:spPr>
          <a:xfrm>
            <a:off x="4348700" y="2538625"/>
            <a:ext cx="6096000" cy="25423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Is two threads, each waiting for a lock from the other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Is not detected or avoided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Can be avoided by: </a:t>
            </a:r>
          </a:p>
          <a:p>
            <a:pPr lvl="1">
              <a:lnSpc>
                <a:spcPct val="150000"/>
              </a:lnSpc>
            </a:pPr>
            <a:r>
              <a:rPr lang="en-US" altLang="he-IL" dirty="0">
                <a:latin typeface="+mj-lt"/>
              </a:rPr>
              <a:t>Deciding on the order to obtain locks </a:t>
            </a:r>
          </a:p>
          <a:p>
            <a:pPr lvl="1">
              <a:lnSpc>
                <a:spcPct val="150000"/>
              </a:lnSpc>
            </a:pPr>
            <a:r>
              <a:rPr lang="en-US" altLang="he-IL" dirty="0">
                <a:latin typeface="+mj-lt"/>
              </a:rPr>
              <a:t>Adhering to this order throughout </a:t>
            </a:r>
          </a:p>
          <a:p>
            <a:pPr lvl="1">
              <a:lnSpc>
                <a:spcPct val="150000"/>
              </a:lnSpc>
            </a:pPr>
            <a:r>
              <a:rPr lang="en-US" altLang="he-IL" dirty="0">
                <a:latin typeface="+mj-lt"/>
              </a:rPr>
              <a:t>Releasing locks in reverse order </a:t>
            </a:r>
          </a:p>
        </p:txBody>
      </p:sp>
    </p:spTree>
    <p:extLst>
      <p:ext uri="{BB962C8B-B14F-4D97-AF65-F5344CB8AC3E}">
        <p14:creationId xmlns:p14="http://schemas.microsoft.com/office/powerpoint/2010/main" val="21882558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82532" y="6185027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ptos Display"/>
              </a:rPr>
              <a:t>Daemon Thread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83240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Daemon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F21A8-566F-F10F-1FE9-ABA4E6256EC8}"/>
              </a:ext>
            </a:extLst>
          </p:cNvPr>
          <p:cNvSpPr txBox="1"/>
          <p:nvPr/>
        </p:nvSpPr>
        <p:spPr>
          <a:xfrm>
            <a:off x="4182532" y="2406177"/>
            <a:ext cx="71712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he-IL" dirty="0">
                <a:latin typeface="+mj-lt"/>
              </a:rPr>
              <a:t>Threads keep on running even after main thread ends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Means that the VM still ‘on the air’ until the last thread dies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he-IL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To kill a thread when system exits it must be a daemon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he-IL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Thread can be set to behave as daemon via </a:t>
            </a:r>
            <a:r>
              <a:rPr lang="en-US" altLang="he-IL" i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setDaemon(boolean)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he-IL" i="1" dirty="0">
              <a:latin typeface="+mj-lt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dirty="0">
                <a:latin typeface="+mj-lt"/>
              </a:rPr>
              <a:t>Thread can be checked via </a:t>
            </a:r>
            <a:r>
              <a:rPr lang="en-US" altLang="he-IL" i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isDaemon()</a:t>
            </a:r>
          </a:p>
          <a:p>
            <a:pPr lvl="1"/>
            <a:endParaRPr lang="en-US" altLang="he-IL" i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he-IL" dirty="0">
                <a:latin typeface="+mj-lt"/>
              </a:rPr>
              <a:t>Garbage collection is a daemon thread </a:t>
            </a:r>
          </a:p>
          <a:p>
            <a:pPr lvl="1"/>
            <a:r>
              <a:rPr lang="en-US" altLang="he-IL" dirty="0">
                <a:latin typeface="+mj-lt"/>
              </a:rPr>
              <a:t>therefore, doesn’t last after system exit</a:t>
            </a:r>
          </a:p>
          <a:p>
            <a:pPr lvl="1"/>
            <a:r>
              <a:rPr lang="en-US" altLang="he-IL" dirty="0">
                <a:latin typeface="+mj-lt"/>
              </a:rPr>
              <a:t>That’s why sometimes object may never get the </a:t>
            </a:r>
            <a:r>
              <a:rPr lang="en-US" altLang="he-IL" dirty="0">
                <a:solidFill>
                  <a:schemeClr val="accent1"/>
                </a:solidFill>
                <a:latin typeface="+mj-lt"/>
              </a:rPr>
              <a:t>finalize()</a:t>
            </a:r>
            <a:r>
              <a:rPr lang="en-US" altLang="he-IL" dirty="0">
                <a:latin typeface="+mj-lt"/>
              </a:rPr>
              <a:t> call </a:t>
            </a:r>
            <a:endParaRPr lang="hu-HU" altLang="he-I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99437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82530" y="5566961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Aptos Display"/>
              </a:rPr>
              <a:t>Executor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83240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Executor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789326-C28C-5AC1-CD92-CE1C5E68A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034" y="2704799"/>
            <a:ext cx="61245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882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3A46-384F-31A3-6B6F-F27183B887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Threads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C6C3CDE1-7AC5-C80F-6C86-F506DE0B3CEF}"/>
              </a:ext>
            </a:extLst>
          </p:cNvPr>
          <p:cNvCxnSpPr/>
          <p:nvPr/>
        </p:nvCxnSpPr>
        <p:spPr>
          <a:xfrm>
            <a:off x="4105130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17F3CDB7-6730-D658-250A-BC9A4A7A0865}"/>
              </a:ext>
            </a:extLst>
          </p:cNvPr>
          <p:cNvCxnSpPr/>
          <p:nvPr/>
        </p:nvCxnSpPr>
        <p:spPr>
          <a:xfrm>
            <a:off x="4007449" y="430733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0CE43091-1225-AA04-DB73-337FFDD88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891024-6B0C-5D0D-EA47-37B794387A40}"/>
              </a:ext>
            </a:extLst>
          </p:cNvPr>
          <p:cNvSpPr txBox="1"/>
          <p:nvPr/>
        </p:nvSpPr>
        <p:spPr>
          <a:xfrm>
            <a:off x="6142376" y="2940458"/>
            <a:ext cx="2526579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/>
              <a:t>Thank You !!</a:t>
            </a:r>
            <a:endParaRPr lang="LID4096" sz="3500" dirty="0"/>
          </a:p>
        </p:txBody>
      </p:sp>
    </p:spTree>
    <p:extLst>
      <p:ext uri="{BB962C8B-B14F-4D97-AF65-F5344CB8AC3E}">
        <p14:creationId xmlns:p14="http://schemas.microsoft.com/office/powerpoint/2010/main" val="428484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5140</TotalTime>
  <Words>1615</Words>
  <Application>Microsoft Office PowerPoint</Application>
  <PresentationFormat>Widescreen</PresentationFormat>
  <Paragraphs>359</Paragraphs>
  <Slides>36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Consolas</vt:lpstr>
      <vt:lpstr>ui-sans-serif</vt:lpstr>
      <vt:lpstr>Office Theme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  <vt:lpstr>Threads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Dawod Kabha</dc:creator>
  <cp:lastModifiedBy>Ameen Ikteelat</cp:lastModifiedBy>
  <cp:revision>63</cp:revision>
  <dcterms:created xsi:type="dcterms:W3CDTF">2024-05-31T14:40:11Z</dcterms:created>
  <dcterms:modified xsi:type="dcterms:W3CDTF">2025-02-01T18:55:28Z</dcterms:modified>
</cp:coreProperties>
</file>