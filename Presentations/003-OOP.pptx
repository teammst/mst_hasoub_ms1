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6858000" cx="12192000"/>
  <p:notesSz cx="6858000" cy="9144000"/>
  <p:embeddedFontLst>
    <p:embeddedFont>
      <p:font typeface="Play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hitrrNWGOSgSYBu/o25YtDeip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customschemas.google.com/relationships/presentationmetadata" Target="metadata"/><Relationship Id="rId5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/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" type="body"/>
          </p:nvPr>
        </p:nvSpPr>
        <p:spPr>
          <a:xfrm>
            <a:off x="838203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2" type="body"/>
          </p:nvPr>
        </p:nvSpPr>
        <p:spPr>
          <a:xfrm>
            <a:off x="6172200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7"/>
          <p:cNvSpPr txBox="1"/>
          <p:nvPr>
            <p:ph type="ctrTitle"/>
          </p:nvPr>
        </p:nvSpPr>
        <p:spPr>
          <a:xfrm>
            <a:off x="1524003" y="1122361"/>
            <a:ext cx="9144000" cy="2387598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" type="subTitle"/>
          </p:nvPr>
        </p:nvSpPr>
        <p:spPr>
          <a:xfrm>
            <a:off x="1524003" y="3602041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8"/>
          <p:cNvSpPr txBox="1"/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8"/>
          <p:cNvSpPr txBox="1"/>
          <p:nvPr>
            <p:ph idx="1" type="body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9"/>
          <p:cNvSpPr txBox="1"/>
          <p:nvPr>
            <p:ph type="title"/>
          </p:nvPr>
        </p:nvSpPr>
        <p:spPr>
          <a:xfrm>
            <a:off x="831847" y="1709735"/>
            <a:ext cx="10515600" cy="28527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1" type="body"/>
          </p:nvPr>
        </p:nvSpPr>
        <p:spPr>
          <a:xfrm>
            <a:off x="831847" y="4589465"/>
            <a:ext cx="10515600" cy="1500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>
                <a:solidFill>
                  <a:srgbClr val="76767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9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/>
          <p:nvPr>
            <p:ph type="title"/>
          </p:nvPr>
        </p:nvSpPr>
        <p:spPr>
          <a:xfrm>
            <a:off x="839784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" type="body"/>
          </p:nvPr>
        </p:nvSpPr>
        <p:spPr>
          <a:xfrm>
            <a:off x="839784" y="1681160"/>
            <a:ext cx="5157782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839784" y="2505071"/>
            <a:ext cx="5157782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3" type="body"/>
          </p:nvPr>
        </p:nvSpPr>
        <p:spPr>
          <a:xfrm>
            <a:off x="6172200" y="1681160"/>
            <a:ext cx="5183184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4" type="body"/>
          </p:nvPr>
        </p:nvSpPr>
        <p:spPr>
          <a:xfrm>
            <a:off x="6172200" y="2505071"/>
            <a:ext cx="5183184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2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/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" type="body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3"/>
          <p:cNvSpPr txBox="1"/>
          <p:nvPr>
            <p:ph idx="2" type="body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3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3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3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4"/>
          <p:cNvSpPr txBox="1"/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/>
          <p:nvPr>
            <p:ph idx="2" type="pic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4"/>
          <p:cNvSpPr txBox="1"/>
          <p:nvPr>
            <p:ph idx="1" type="body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54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/>
          <p:cNvSpPr txBox="1"/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" type="body"/>
          </p:nvPr>
        </p:nvSpPr>
        <p:spPr>
          <a:xfrm rot="5400000">
            <a:off x="3920335" y="-1256505"/>
            <a:ext cx="4351336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5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5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/>
          <p:nvPr>
            <p:ph type="title"/>
          </p:nvPr>
        </p:nvSpPr>
        <p:spPr>
          <a:xfrm rot="5400000">
            <a:off x="7133436" y="1956596"/>
            <a:ext cx="5811834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" type="body"/>
          </p:nvPr>
        </p:nvSpPr>
        <p:spPr>
          <a:xfrm rot="5400000">
            <a:off x="1799434" y="-596102"/>
            <a:ext cx="5811834" cy="7734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6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6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6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0" type="dt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1" type="ftr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89" name="Google Shape;89;p2"/>
          <p:cNvCxnSpPr/>
          <p:nvPr/>
        </p:nvCxnSpPr>
        <p:spPr>
          <a:xfrm>
            <a:off x="4114094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0" name="Google Shape;90;p2"/>
          <p:cNvCxnSpPr/>
          <p:nvPr/>
        </p:nvCxnSpPr>
        <p:spPr>
          <a:xfrm>
            <a:off x="4340815" y="6173159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Content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4340815" y="2401044"/>
            <a:ext cx="60960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&amp; Object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99" name="Google Shape;99;p1"/>
          <p:cNvCxnSpPr/>
          <p:nvPr/>
        </p:nvCxnSpPr>
        <p:spPr>
          <a:xfrm>
            <a:off x="4114094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0" name="Google Shape;100;p1"/>
          <p:cNvCxnSpPr/>
          <p:nvPr/>
        </p:nvCxnSpPr>
        <p:spPr>
          <a:xfrm>
            <a:off x="4340815" y="6576571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1" name="Google Shape;101;p1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Class &amp; Object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9276" y="2668482"/>
            <a:ext cx="7060658" cy="374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From Class to Object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4370668" y="6570010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Class &amp; Object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7290" y="2724271"/>
            <a:ext cx="5358116" cy="335191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From Class to Object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21" name="Google Shape;121;p4"/>
          <p:cNvCxnSpPr/>
          <p:nvPr/>
        </p:nvCxnSpPr>
        <p:spPr>
          <a:xfrm>
            <a:off x="4066534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4209303" y="6740340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487" y="2741152"/>
            <a:ext cx="4252007" cy="390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Play"/>
                <a:ea typeface="Play"/>
                <a:cs typeface="Play"/>
                <a:sym typeface="Play"/>
              </a:rPr>
              <a:t>Constructor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From Class to Object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32" name="Google Shape;132;p5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/>
          <p:nvPr/>
        </p:nvCxnSpPr>
        <p:spPr>
          <a:xfrm>
            <a:off x="4285595" y="6749305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Class &amp; Object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1295" y="3197230"/>
            <a:ext cx="6137405" cy="24277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From Class to Object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43" name="Google Shape;143;p6"/>
          <p:cNvCxnSpPr/>
          <p:nvPr/>
        </p:nvCxnSpPr>
        <p:spPr>
          <a:xfrm>
            <a:off x="4162321" y="2244242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4" name="Google Shape;144;p6"/>
          <p:cNvCxnSpPr/>
          <p:nvPr/>
        </p:nvCxnSpPr>
        <p:spPr>
          <a:xfrm>
            <a:off x="4185812" y="664172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5" name="Google Shape;145;p6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Class &amp; Object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3853" y="2940153"/>
            <a:ext cx="4820825" cy="356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From Class to Object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54" name="Google Shape;154;p7"/>
          <p:cNvCxnSpPr/>
          <p:nvPr/>
        </p:nvCxnSpPr>
        <p:spPr>
          <a:xfrm>
            <a:off x="4114094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5" name="Google Shape;155;p7"/>
          <p:cNvCxnSpPr/>
          <p:nvPr/>
        </p:nvCxnSpPr>
        <p:spPr>
          <a:xfrm>
            <a:off x="4209303" y="6247281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3463" y="3078519"/>
            <a:ext cx="3488803" cy="23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4007450" y="3995625"/>
            <a:ext cx="4012800" cy="1200600"/>
          </a:xfrm>
          <a:prstGeom prst="rect">
            <a:avLst/>
          </a:prstGeom>
          <a:noFill/>
          <a:ln cap="flat" cmpd="sng" w="9525">
            <a:solidFill>
              <a:srgbClr val="E971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int x = 3, y = 5;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Box b1 = new Box(5, 6, 7);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Box b2 = b1;</a:t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Class &amp; Object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Initiates and values assignments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67" name="Google Shape;167;p8"/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8" name="Google Shape;168;p8"/>
          <p:cNvCxnSpPr/>
          <p:nvPr/>
        </p:nvCxnSpPr>
        <p:spPr>
          <a:xfrm>
            <a:off x="4281021" y="6543116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OOP Principles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4740" y="2789444"/>
            <a:ext cx="5238379" cy="311683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4007449" y="1813628"/>
            <a:ext cx="194974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OOP </a:t>
            </a:r>
            <a:endParaRPr sz="2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0" name="Google Shape;180;p9"/>
          <p:cNvCxnSpPr/>
          <p:nvPr/>
        </p:nvCxnSpPr>
        <p:spPr>
          <a:xfrm>
            <a:off x="4105130" y="5404599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Encapsulation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049" y="2853007"/>
            <a:ext cx="51435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4007449" y="1813628"/>
            <a:ext cx="194974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Encapsulation </a:t>
            </a:r>
            <a:endParaRPr sz="2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2" name="Google Shape;192;p10"/>
          <p:cNvCxnSpPr/>
          <p:nvPr/>
        </p:nvCxnSpPr>
        <p:spPr>
          <a:xfrm>
            <a:off x="4209303" y="6480364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Encapsulation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4130481" y="2811046"/>
            <a:ext cx="660107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Encapsulation is the concept of bundling the data (variables) and the methods (functions) that operate on the data into a single unit, called an object.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object details are hidden from the outside world. Only specific, exposed methods can access and modify the object’s data.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Public, private, and protected keywords are used to control the visibility of class members.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130481" y="1785080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is an encapsulation 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03" name="Google Shape;203;p11"/>
          <p:cNvCxnSpPr/>
          <p:nvPr/>
        </p:nvCxnSpPr>
        <p:spPr>
          <a:xfrm>
            <a:off x="4185812" y="623392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4" name="Google Shape;204;p11"/>
          <p:cNvCxnSpPr/>
          <p:nvPr/>
        </p:nvCxnSpPr>
        <p:spPr>
          <a:xfrm>
            <a:off x="4397407" y="677619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Encapsulation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4185812" y="671691"/>
            <a:ext cx="7669087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Account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balance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8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Private variable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Public method to get the balance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getBalance()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balance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Public method to deposit money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deposit(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 </a:t>
            </a:r>
            <a:b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 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balance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Public method to withdraw money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withdraw(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b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 0 &amp;&amp; 	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balance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balance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4185812" y="144207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Example of encapsulation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14" name="Google Shape;214;p12"/>
          <p:cNvCxnSpPr/>
          <p:nvPr/>
        </p:nvCxnSpPr>
        <p:spPr>
          <a:xfrm>
            <a:off x="4087201" y="2226313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5" name="Google Shape;215;p12"/>
          <p:cNvCxnSpPr/>
          <p:nvPr/>
        </p:nvCxnSpPr>
        <p:spPr>
          <a:xfrm>
            <a:off x="4209303" y="6247281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Inheritance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2710" y="2847158"/>
            <a:ext cx="6250765" cy="310028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>
            <a:off x="4130481" y="1785080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is an Inheritance 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25" name="Google Shape;225;p16"/>
          <p:cNvCxnSpPr/>
          <p:nvPr/>
        </p:nvCxnSpPr>
        <p:spPr>
          <a:xfrm>
            <a:off x="4087201" y="2235277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6" name="Google Shape;226;p16"/>
          <p:cNvCxnSpPr/>
          <p:nvPr/>
        </p:nvCxnSpPr>
        <p:spPr>
          <a:xfrm>
            <a:off x="4222304" y="6720136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Inheritance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Hmod06_inheritance" id="229" name="Google Shape;2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6639" y="2610077"/>
            <a:ext cx="4519476" cy="1820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Hmod06_inheritance" id="230" name="Google Shape;2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5802" y="4687425"/>
            <a:ext cx="5000625" cy="19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6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Example of Inheritance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37" name="Google Shape;237;p17"/>
          <p:cNvCxnSpPr/>
          <p:nvPr/>
        </p:nvCxnSpPr>
        <p:spPr>
          <a:xfrm>
            <a:off x="4185811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8" name="Google Shape;238;p17"/>
          <p:cNvCxnSpPr/>
          <p:nvPr/>
        </p:nvCxnSpPr>
        <p:spPr>
          <a:xfrm>
            <a:off x="4209303" y="6585666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39" name="Google Shape;2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7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Inheritance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Hmod06_inheritance" id="241" name="Google Shape;2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8542" y="3174355"/>
            <a:ext cx="6250765" cy="246740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Example of Inheritance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48" name="Google Shape;248;p13"/>
          <p:cNvCxnSpPr/>
          <p:nvPr/>
        </p:nvCxnSpPr>
        <p:spPr>
          <a:xfrm>
            <a:off x="4123059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9" name="Google Shape;249;p13"/>
          <p:cNvCxnSpPr/>
          <p:nvPr/>
        </p:nvCxnSpPr>
        <p:spPr>
          <a:xfrm>
            <a:off x="4209303" y="6605869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Inheritance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2707" y="2832862"/>
            <a:ext cx="6250766" cy="331290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Allowed Inheritance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59" name="Google Shape;259;p14"/>
          <p:cNvCxnSpPr/>
          <p:nvPr/>
        </p:nvCxnSpPr>
        <p:spPr>
          <a:xfrm>
            <a:off x="4114094" y="2233516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0" name="Google Shape;260;p14"/>
          <p:cNvCxnSpPr/>
          <p:nvPr/>
        </p:nvCxnSpPr>
        <p:spPr>
          <a:xfrm>
            <a:off x="4209303" y="6561046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61" name="Google Shape;2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Inheritance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0965" y="3356177"/>
            <a:ext cx="6250765" cy="310975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4"/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Not- Allowed Inheritance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70" name="Google Shape;270;p15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1" name="Google Shape;271;p15"/>
          <p:cNvCxnSpPr/>
          <p:nvPr/>
        </p:nvCxnSpPr>
        <p:spPr>
          <a:xfrm>
            <a:off x="4305369" y="5828214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72" name="Google Shape;2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Inheritance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4105130" y="2511508"/>
            <a:ext cx="6978060" cy="26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Constructors</a:t>
            </a:r>
            <a:endParaRPr/>
          </a:p>
          <a:p>
            <a:pPr indent="-1905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Private attributes &amp; operations (inherited but not reachable)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Static attributes &amp; operations </a:t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4007449" y="1861118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is not inherited?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81" name="Google Shape;281;p18"/>
          <p:cNvCxnSpPr/>
          <p:nvPr/>
        </p:nvCxnSpPr>
        <p:spPr>
          <a:xfrm>
            <a:off x="4185811" y="2295174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2" name="Google Shape;282;p18"/>
          <p:cNvCxnSpPr/>
          <p:nvPr/>
        </p:nvCxnSpPr>
        <p:spPr>
          <a:xfrm>
            <a:off x="4727365" y="667829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3" name="Google Shape;2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8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4130481" y="3588663"/>
            <a:ext cx="52998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 is the ability of an entity to take several forms.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 object-oriented programming, it refers to the ability of an object to take different forms of objects.</a:t>
            </a:r>
            <a:endParaRPr/>
          </a:p>
        </p:txBody>
      </p:sp>
      <p:pic>
        <p:nvPicPr>
          <p:cNvPr id="286" name="Google Shape;2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9782" y="2534697"/>
            <a:ext cx="3271300" cy="267428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 txBox="1"/>
          <p:nvPr/>
        </p:nvSpPr>
        <p:spPr>
          <a:xfrm>
            <a:off x="4130481" y="1785080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is a Polymorphism 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293" name="Google Shape;293;p19"/>
          <p:cNvCxnSpPr/>
          <p:nvPr/>
        </p:nvCxnSpPr>
        <p:spPr>
          <a:xfrm>
            <a:off x="4130481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4" name="Google Shape;294;p19"/>
          <p:cNvCxnSpPr/>
          <p:nvPr/>
        </p:nvCxnSpPr>
        <p:spPr>
          <a:xfrm>
            <a:off x="4727365" y="667829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95" name="Google Shape;2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9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7296" y="2854275"/>
            <a:ext cx="3335446" cy="272672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9"/>
          <p:cNvSpPr txBox="1"/>
          <p:nvPr/>
        </p:nvSpPr>
        <p:spPr>
          <a:xfrm>
            <a:off x="4007450" y="3248150"/>
            <a:ext cx="5207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Method polymorphism</a:t>
            </a:r>
            <a:endParaRPr/>
          </a:p>
          <a:p>
            <a:pPr indent="-1905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905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Object Polymorphism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4130481" y="1785080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Polymorphism Types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05" name="Google Shape;305;p20"/>
          <p:cNvCxnSpPr/>
          <p:nvPr/>
        </p:nvCxnSpPr>
        <p:spPr>
          <a:xfrm>
            <a:off x="4078236" y="2244242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6" name="Google Shape;306;p20"/>
          <p:cNvCxnSpPr/>
          <p:nvPr/>
        </p:nvCxnSpPr>
        <p:spPr>
          <a:xfrm>
            <a:off x="4727365" y="667829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07" name="Google Shape;3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0416" y="3290048"/>
            <a:ext cx="3158502" cy="240253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/>
        </p:nvSpPr>
        <p:spPr>
          <a:xfrm>
            <a:off x="4007449" y="3216158"/>
            <a:ext cx="495818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Overriding: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lay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The Method fun is defined in the parent class base.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lay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 the  class Derived we are overriding the behavior of  the method fun.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Overloading: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lay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 same class we are overloading fun (make some other copies) 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4007449" y="1837965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Method Polymorphism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17" name="Google Shape;317;p21"/>
          <p:cNvCxnSpPr/>
          <p:nvPr/>
        </p:nvCxnSpPr>
        <p:spPr>
          <a:xfrm>
            <a:off x="4054104" y="2235891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8" name="Google Shape;318;p21"/>
          <p:cNvCxnSpPr/>
          <p:nvPr/>
        </p:nvCxnSpPr>
        <p:spPr>
          <a:xfrm>
            <a:off x="4209303" y="610788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19" name="Google Shape;3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4277043" y="2471402"/>
            <a:ext cx="615519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Remember that the Object class is the root of all classes in Java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class declaration with no extends clause, implicitly uses "extends Object"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Object’s methods that are usually overridden are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toString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equals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hashCode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108118" y="1791974"/>
            <a:ext cx="237580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Object Class </a:t>
            </a:r>
            <a:endParaRPr sz="2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28" name="Google Shape;328;p22"/>
          <p:cNvCxnSpPr/>
          <p:nvPr/>
        </p:nvCxnSpPr>
        <p:spPr>
          <a:xfrm>
            <a:off x="4105129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9" name="Google Shape;329;p22"/>
          <p:cNvCxnSpPr/>
          <p:nvPr/>
        </p:nvCxnSpPr>
        <p:spPr>
          <a:xfrm>
            <a:off x="4209303" y="6588645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3451770" y="2804902"/>
            <a:ext cx="4924499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Subclass has all Functionality of Superclass.</a:t>
            </a:r>
            <a:endParaRPr/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Subclass instance can be used in same place where super class instance is used.</a:t>
            </a:r>
            <a:endParaRPr/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 we can make multi  forms by creating deferent objects from deferent forms(classes) and refer them to the same reference variable</a:t>
            </a:r>
            <a:endParaRPr/>
          </a:p>
          <a:p>
            <a:pPr indent="-1333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33" name="Google Shape;3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4424" y="4398974"/>
            <a:ext cx="3917577" cy="19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2"/>
          <p:cNvSpPr txBox="1"/>
          <p:nvPr/>
        </p:nvSpPr>
        <p:spPr>
          <a:xfrm>
            <a:off x="4007449" y="1838823"/>
            <a:ext cx="317844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Objects Polymorphism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40" name="Google Shape;340;p23"/>
          <p:cNvCxnSpPr/>
          <p:nvPr/>
        </p:nvCxnSpPr>
        <p:spPr>
          <a:xfrm>
            <a:off x="4087200" y="2208155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1" name="Google Shape;341;p23"/>
          <p:cNvCxnSpPr/>
          <p:nvPr/>
        </p:nvCxnSpPr>
        <p:spPr>
          <a:xfrm>
            <a:off x="4727365" y="667829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3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4007449" y="2599782"/>
            <a:ext cx="6922237" cy="1477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Collections of objects with the same class type are called homogenous collections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Collections of objects with different class types are called heterogeneous collections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4833684" y="4796097"/>
            <a:ext cx="4498576" cy="1569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Object[] objects = new Object[5];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objects[0] = new Box(3, 2, 5);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objects[1] = "AAA";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objects[2] = new Date();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4007448" y="1838823"/>
            <a:ext cx="291058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Objects Polymorphism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52" name="Google Shape;352;p24"/>
          <p:cNvCxnSpPr/>
          <p:nvPr/>
        </p:nvCxnSpPr>
        <p:spPr>
          <a:xfrm>
            <a:off x="4096165" y="2226313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53" name="Google Shape;353;p24"/>
          <p:cNvCxnSpPr/>
          <p:nvPr/>
        </p:nvCxnSpPr>
        <p:spPr>
          <a:xfrm>
            <a:off x="4727365" y="667829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54" name="Google Shape;3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4096165" y="1997839"/>
            <a:ext cx="466443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instance of  is an operator is used to check the type of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Return true when :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instance referenced to the specific type of the Class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instance referenced to the specific type of the superClass (inheritance)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57" name="Google Shape;3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8281" y="4347862"/>
            <a:ext cx="4190125" cy="2047531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4"/>
          <p:cNvSpPr txBox="1"/>
          <p:nvPr/>
        </p:nvSpPr>
        <p:spPr>
          <a:xfrm>
            <a:off x="4087425" y="1856091"/>
            <a:ext cx="243344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Instance Of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64" name="Google Shape;364;p25"/>
          <p:cNvCxnSpPr/>
          <p:nvPr/>
        </p:nvCxnSpPr>
        <p:spPr>
          <a:xfrm>
            <a:off x="4078236" y="2244242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5" name="Google Shape;365;p25"/>
          <p:cNvCxnSpPr/>
          <p:nvPr/>
        </p:nvCxnSpPr>
        <p:spPr>
          <a:xfrm>
            <a:off x="4355401" y="6725617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66" name="Google Shape;3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5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6614" y="2408514"/>
            <a:ext cx="3673124" cy="19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5"/>
          <p:cNvSpPr txBox="1"/>
          <p:nvPr/>
        </p:nvSpPr>
        <p:spPr>
          <a:xfrm>
            <a:off x="3974661" y="4284555"/>
            <a:ext cx="771917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Final class – cannot be inherited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Usually required for system classes 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Some basic behaviors that mustn’t be extended or changed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Final method cannot be overridden 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Forces sub-classes to use a specific implementation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Final variable can have only one assignment [constant]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Defines a constant values</a:t>
            </a:r>
            <a:endParaRPr/>
          </a:p>
          <a:p>
            <a:pPr indent="-342900" lvl="2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Local variables can also be defined as final </a:t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Final &amp; polymorphism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76" name="Google Shape;376;p26"/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7" name="Google Shape;377;p26"/>
          <p:cNvCxnSpPr/>
          <p:nvPr/>
        </p:nvCxnSpPr>
        <p:spPr>
          <a:xfrm>
            <a:off x="4633307" y="671665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78" name="Google Shape;3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6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Polymorphism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919" y="3021549"/>
            <a:ext cx="3752788" cy="344658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6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Final &amp; polymorphism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87" name="Google Shape;387;p27"/>
          <p:cNvCxnSpPr/>
          <p:nvPr/>
        </p:nvCxnSpPr>
        <p:spPr>
          <a:xfrm>
            <a:off x="4185812" y="2262171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8" name="Google Shape;388;p27"/>
          <p:cNvCxnSpPr/>
          <p:nvPr/>
        </p:nvCxnSpPr>
        <p:spPr>
          <a:xfrm>
            <a:off x="4209303" y="5854561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89" name="Google Shape;3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7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4007449" y="2753180"/>
            <a:ext cx="771203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class that represents an abstract object and therefore can not be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instantiated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Abstract classes may(but not mandatory) have abstract methods.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method that represents an abstract operation and therefore has no body (implementation).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These method must be overridden in non-abstract subclasses to provide an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implementation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class /method cannot be both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final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and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abstract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at the same time</a:t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2" name="Google Shape;392;p27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Abstract class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398" name="Google Shape;398;p28"/>
          <p:cNvCxnSpPr/>
          <p:nvPr/>
        </p:nvCxnSpPr>
        <p:spPr>
          <a:xfrm>
            <a:off x="4078236" y="2237653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9" name="Google Shape;399;p28"/>
          <p:cNvCxnSpPr/>
          <p:nvPr/>
        </p:nvCxnSpPr>
        <p:spPr>
          <a:xfrm>
            <a:off x="4185812" y="6311761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00" name="Google Shape;4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7248" y="2599783"/>
            <a:ext cx="3351223" cy="338413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 txBox="1"/>
          <p:nvPr/>
        </p:nvSpPr>
        <p:spPr>
          <a:xfrm>
            <a:off x="4185812" y="1868321"/>
            <a:ext cx="268604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Abstract Example</a:t>
            </a:r>
            <a:endParaRPr sz="2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09" name="Google Shape;409;p29"/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>
            <a:off x="4310726" y="5912139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8932" y="2846294"/>
            <a:ext cx="5654832" cy="238528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9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0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20" name="Google Shape;420;p30"/>
          <p:cNvCxnSpPr/>
          <p:nvPr/>
        </p:nvCxnSpPr>
        <p:spPr>
          <a:xfrm>
            <a:off x="4185812" y="2253207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1" name="Google Shape;421;p30"/>
          <p:cNvCxnSpPr/>
          <p:nvPr/>
        </p:nvCxnSpPr>
        <p:spPr>
          <a:xfrm>
            <a:off x="4372846" y="575961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4071596" y="2819654"/>
            <a:ext cx="6990852" cy="2545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"</a:t>
            </a:r>
            <a:r>
              <a:rPr b="0" i="0" lang="en-US" sz="18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public interface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" is a contract between client code and the class that implements that interface.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Java interface is a formal declaration of such contract in which all methods contain no implementation.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Many, unrelated classes can implement the same interface 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class can implement many, unrelated interfaces 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31" name="Google Shape;431;p31"/>
          <p:cNvCxnSpPr/>
          <p:nvPr/>
        </p:nvCxnSpPr>
        <p:spPr>
          <a:xfrm>
            <a:off x="4123059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2" name="Google Shape;432;p31"/>
          <p:cNvCxnSpPr/>
          <p:nvPr/>
        </p:nvCxnSpPr>
        <p:spPr>
          <a:xfrm>
            <a:off x="4570070" y="649471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4233450" y="2792924"/>
            <a:ext cx="771637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Interfaces can contain: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final variables (constants)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abstract methods</a:t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static methods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default methods (will be discussed later)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 non-abstract class implements an interface if and only if:</a:t>
            </a:r>
            <a:endParaRPr/>
          </a:p>
          <a:p>
            <a:pPr indent="-2286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it declares that it implements the interface (using the implements keyword)</a:t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it implements all of the abstract methods of the interface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42" name="Google Shape;442;p32"/>
          <p:cNvCxnSpPr/>
          <p:nvPr/>
        </p:nvCxnSpPr>
        <p:spPr>
          <a:xfrm>
            <a:off x="4123058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43" name="Google Shape;443;p32"/>
          <p:cNvCxnSpPr/>
          <p:nvPr/>
        </p:nvCxnSpPr>
        <p:spPr>
          <a:xfrm>
            <a:off x="4570070" y="649471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44" name="Google Shape;4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2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5646" y="2814000"/>
            <a:ext cx="4026236" cy="345783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2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53" name="Google Shape;453;p33"/>
          <p:cNvCxnSpPr/>
          <p:nvPr/>
        </p:nvCxnSpPr>
        <p:spPr>
          <a:xfrm>
            <a:off x="4105129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4" name="Google Shape;454;p33"/>
          <p:cNvCxnSpPr/>
          <p:nvPr/>
        </p:nvCxnSpPr>
        <p:spPr>
          <a:xfrm>
            <a:off x="4381812" y="664711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55" name="Google Shape;4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148" y="3988741"/>
            <a:ext cx="3886657" cy="2372666"/>
          </a:xfrm>
          <a:prstGeom prst="rect">
            <a:avLst/>
          </a:prstGeom>
          <a:noFill/>
          <a:ln cap="flat" cmpd="sng" w="952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458" name="Google Shape;45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802" y="3988741"/>
            <a:ext cx="3886657" cy="2359380"/>
          </a:xfrm>
          <a:prstGeom prst="rect">
            <a:avLst/>
          </a:prstGeom>
          <a:noFill/>
          <a:ln cap="flat" cmpd="sng" w="952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459" name="Google Shape;459;p33"/>
          <p:cNvSpPr/>
          <p:nvPr/>
        </p:nvSpPr>
        <p:spPr>
          <a:xfrm>
            <a:off x="6438097" y="2640404"/>
            <a:ext cx="3325416" cy="852860"/>
          </a:xfrm>
          <a:prstGeom prst="rect">
            <a:avLst/>
          </a:prstGeom>
          <a:solidFill>
            <a:srgbClr val="156082"/>
          </a:solidFill>
          <a:ln cap="flat" cmpd="sng" w="19025">
            <a:solidFill>
              <a:srgbClr val="0C44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לשתי המחלקות יש במקרה פעולה זהה, אבל מסיבה כלשהי איננו רוצים שיהיה אבא משותף</a:t>
            </a:r>
            <a:endParaRPr/>
          </a:p>
        </p:txBody>
      </p:sp>
      <p:sp>
        <p:nvSpPr>
          <p:cNvPr id="460" name="Google Shape;460;p33"/>
          <p:cNvSpPr/>
          <p:nvPr/>
        </p:nvSpPr>
        <p:spPr>
          <a:xfrm>
            <a:off x="8819391" y="5548140"/>
            <a:ext cx="3154167" cy="58661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4715976" y="5647993"/>
            <a:ext cx="3197812" cy="586615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68" name="Google Shape;468;p34"/>
          <p:cNvCxnSpPr/>
          <p:nvPr/>
        </p:nvCxnSpPr>
        <p:spPr>
          <a:xfrm>
            <a:off x="4185812" y="2253207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69" name="Google Shape;469;p34"/>
          <p:cNvCxnSpPr/>
          <p:nvPr/>
        </p:nvCxnSpPr>
        <p:spPr>
          <a:xfrm>
            <a:off x="4319059" y="6476789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70" name="Google Shape;4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4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070" y="2673652"/>
            <a:ext cx="5048246" cy="2333621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4"/>
          <p:cNvSpPr/>
          <p:nvPr/>
        </p:nvSpPr>
        <p:spPr>
          <a:xfrm>
            <a:off x="6855288" y="5137328"/>
            <a:ext cx="4805748" cy="1097280"/>
          </a:xfrm>
          <a:prstGeom prst="rect">
            <a:avLst/>
          </a:prstGeom>
          <a:solidFill>
            <a:srgbClr val="156082"/>
          </a:solidFill>
          <a:ln cap="flat" cmpd="sng" w="19025">
            <a:solidFill>
              <a:srgbClr val="0C44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מאחר ואובייקטים מסוגים שונים, ללא אבא משותף, יכולים להיות פרמטרים למתודה או חלק ממערך המחלקה, היא חייבת לקבל  Object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4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5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80" name="Google Shape;480;p35"/>
          <p:cNvCxnSpPr/>
          <p:nvPr/>
        </p:nvCxnSpPr>
        <p:spPr>
          <a:xfrm>
            <a:off x="4055416" y="2244242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81" name="Google Shape;481;p35"/>
          <p:cNvCxnSpPr/>
          <p:nvPr/>
        </p:nvCxnSpPr>
        <p:spPr>
          <a:xfrm>
            <a:off x="4570070" y="649471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82" name="Google Shape;48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5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5507" y="3725381"/>
            <a:ext cx="3998744" cy="2627080"/>
          </a:xfrm>
          <a:prstGeom prst="rect">
            <a:avLst/>
          </a:prstGeom>
          <a:noFill/>
          <a:ln cap="flat" cmpd="sng" w="952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485" name="Google Shape;48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5377" y="3749689"/>
            <a:ext cx="3998744" cy="2604083"/>
          </a:xfrm>
          <a:prstGeom prst="rect">
            <a:avLst/>
          </a:prstGeom>
          <a:noFill/>
          <a:ln cap="flat" cmpd="sng" w="952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pic>
      <p:cxnSp>
        <p:nvCxnSpPr>
          <p:cNvPr id="486" name="Google Shape;486;p35"/>
          <p:cNvCxnSpPr/>
          <p:nvPr/>
        </p:nvCxnSpPr>
        <p:spPr>
          <a:xfrm>
            <a:off x="6006166" y="3960345"/>
            <a:ext cx="1263582" cy="0"/>
          </a:xfrm>
          <a:prstGeom prst="straightConnector1">
            <a:avLst/>
          </a:prstGeom>
          <a:noFill/>
          <a:ln cap="flat" cmpd="sng" w="444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87" name="Google Shape;487;p35"/>
          <p:cNvSpPr/>
          <p:nvPr/>
        </p:nvSpPr>
        <p:spPr>
          <a:xfrm>
            <a:off x="8559144" y="5597785"/>
            <a:ext cx="3504977" cy="64635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4419600" y="5509064"/>
            <a:ext cx="3410754" cy="725537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35"/>
          <p:cNvCxnSpPr/>
          <p:nvPr/>
        </p:nvCxnSpPr>
        <p:spPr>
          <a:xfrm>
            <a:off x="9952340" y="3930021"/>
            <a:ext cx="1263582" cy="0"/>
          </a:xfrm>
          <a:prstGeom prst="straightConnector1">
            <a:avLst/>
          </a:prstGeom>
          <a:noFill/>
          <a:ln cap="flat" cmpd="sng" w="444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0" name="Google Shape;490;p35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496" name="Google Shape;496;p36"/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97" name="Google Shape;497;p36"/>
          <p:cNvCxnSpPr/>
          <p:nvPr/>
        </p:nvCxnSpPr>
        <p:spPr>
          <a:xfrm>
            <a:off x="4570070" y="6691941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98" name="Google Shape;4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6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2115" y="3161124"/>
            <a:ext cx="3768535" cy="719477"/>
          </a:xfrm>
          <a:prstGeom prst="rect">
            <a:avLst/>
          </a:prstGeom>
          <a:noFill/>
          <a:ln cap="flat" cmpd="sng" w="952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01" name="Google Shape;50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2115" y="4138346"/>
            <a:ext cx="6433489" cy="2038106"/>
          </a:xfrm>
          <a:prstGeom prst="rect">
            <a:avLst/>
          </a:prstGeom>
          <a:noFill/>
          <a:ln cap="flat" cmpd="sng" w="9525">
            <a:solidFill>
              <a:srgbClr val="156082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02" name="Google Shape;502;p36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08" name="Google Shape;508;p37"/>
          <p:cNvCxnSpPr/>
          <p:nvPr/>
        </p:nvCxnSpPr>
        <p:spPr>
          <a:xfrm>
            <a:off x="4185812" y="2244242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9" name="Google Shape;509;p37"/>
          <p:cNvCxnSpPr/>
          <p:nvPr/>
        </p:nvCxnSpPr>
        <p:spPr>
          <a:xfrm>
            <a:off x="4570070" y="649471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10" name="Google Shape;5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7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1868" y="2783487"/>
            <a:ext cx="5098932" cy="3603836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13" name="Google Shape;513;p37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19" name="Google Shape;519;p38"/>
          <p:cNvCxnSpPr/>
          <p:nvPr/>
        </p:nvCxnSpPr>
        <p:spPr>
          <a:xfrm>
            <a:off x="4096165" y="2235277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20" name="Google Shape;520;p38"/>
          <p:cNvCxnSpPr/>
          <p:nvPr/>
        </p:nvCxnSpPr>
        <p:spPr>
          <a:xfrm>
            <a:off x="4381811" y="649471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21" name="Google Shape;5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8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472" y="2726142"/>
            <a:ext cx="4643944" cy="3396725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24" name="Google Shape;524;p38"/>
          <p:cNvSpPr/>
          <p:nvPr/>
        </p:nvSpPr>
        <p:spPr>
          <a:xfrm>
            <a:off x="6395944" y="2726142"/>
            <a:ext cx="2837703" cy="157569"/>
          </a:xfrm>
          <a:prstGeom prst="rect">
            <a:avLst/>
          </a:prstGeom>
          <a:noFill/>
          <a:ln cap="flat" cmpd="sng" w="349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8"/>
          <p:cNvSpPr/>
          <p:nvPr/>
        </p:nvSpPr>
        <p:spPr>
          <a:xfrm>
            <a:off x="5098302" y="5339168"/>
            <a:ext cx="2405156" cy="676557"/>
          </a:xfrm>
          <a:prstGeom prst="rect">
            <a:avLst/>
          </a:prstGeom>
          <a:noFill/>
          <a:ln cap="flat" cmpd="sng" w="349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8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32" name="Google Shape;532;p39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33" name="Google Shape;533;p39"/>
          <p:cNvCxnSpPr/>
          <p:nvPr/>
        </p:nvCxnSpPr>
        <p:spPr>
          <a:xfrm>
            <a:off x="4209303" y="667401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34" name="Google Shape;53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9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9794" y="2911624"/>
            <a:ext cx="4863740" cy="3430515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37" name="Google Shape;537;p39"/>
          <p:cNvSpPr/>
          <p:nvPr/>
        </p:nvSpPr>
        <p:spPr>
          <a:xfrm>
            <a:off x="5282771" y="5468468"/>
            <a:ext cx="2937864" cy="699249"/>
          </a:xfrm>
          <a:prstGeom prst="rect">
            <a:avLst/>
          </a:prstGeom>
          <a:noFill/>
          <a:ln cap="flat" cmpd="sng" w="349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6320118" y="2911624"/>
            <a:ext cx="2850776" cy="163270"/>
          </a:xfrm>
          <a:prstGeom prst="rect">
            <a:avLst/>
          </a:prstGeom>
          <a:noFill/>
          <a:ln cap="flat" cmpd="sng" w="349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0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45" name="Google Shape;545;p40"/>
          <p:cNvCxnSpPr/>
          <p:nvPr/>
        </p:nvCxnSpPr>
        <p:spPr>
          <a:xfrm>
            <a:off x="4078235" y="2235277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46" name="Google Shape;546;p40"/>
          <p:cNvCxnSpPr/>
          <p:nvPr/>
        </p:nvCxnSpPr>
        <p:spPr>
          <a:xfrm>
            <a:off x="4376885" y="6301532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47" name="Google Shape;54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0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8853" y="2672753"/>
            <a:ext cx="4906159" cy="3150647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50" name="Google Shape;550;p40"/>
          <p:cNvSpPr/>
          <p:nvPr/>
        </p:nvSpPr>
        <p:spPr>
          <a:xfrm>
            <a:off x="5867931" y="2672753"/>
            <a:ext cx="1796893" cy="213877"/>
          </a:xfrm>
          <a:prstGeom prst="rect">
            <a:avLst/>
          </a:prstGeom>
          <a:noFill/>
          <a:ln cap="flat" cmpd="sng" w="349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0"/>
          <p:cNvSpPr txBox="1"/>
          <p:nvPr/>
        </p:nvSpPr>
        <p:spPr>
          <a:xfrm>
            <a:off x="4007449" y="1838823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57" name="Google Shape;557;p41"/>
          <p:cNvCxnSpPr/>
          <p:nvPr/>
        </p:nvCxnSpPr>
        <p:spPr>
          <a:xfrm>
            <a:off x="4123059" y="2136208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8" name="Google Shape;558;p41"/>
          <p:cNvCxnSpPr/>
          <p:nvPr/>
        </p:nvCxnSpPr>
        <p:spPr>
          <a:xfrm>
            <a:off x="4585428" y="6629188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3686" y="2161798"/>
            <a:ext cx="5665926" cy="319759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1"/>
          <p:cNvSpPr/>
          <p:nvPr/>
        </p:nvSpPr>
        <p:spPr>
          <a:xfrm>
            <a:off x="5129260" y="4030615"/>
            <a:ext cx="4374778" cy="497194"/>
          </a:xfrm>
          <a:prstGeom prst="rect">
            <a:avLst/>
          </a:prstGeom>
          <a:noFill/>
          <a:ln cap="flat" cmpd="sng" w="349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7002" y="5473094"/>
            <a:ext cx="7516587" cy="928692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64" name="Google Shape;564;p41"/>
          <p:cNvSpPr txBox="1"/>
          <p:nvPr/>
        </p:nvSpPr>
        <p:spPr>
          <a:xfrm>
            <a:off x="4027371" y="1674060"/>
            <a:ext cx="32892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Play"/>
              <a:buNone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What are interfaces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2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70" name="Google Shape;570;p42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1" name="Google Shape;571;p42"/>
          <p:cNvCxnSpPr/>
          <p:nvPr/>
        </p:nvCxnSpPr>
        <p:spPr>
          <a:xfrm>
            <a:off x="4007449" y="4307330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72" name="Google Shape;57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2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2"/>
          <p:cNvSpPr txBox="1"/>
          <p:nvPr/>
        </p:nvSpPr>
        <p:spPr>
          <a:xfrm>
            <a:off x="4185812" y="1861118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Comparable</a:t>
            </a:r>
            <a:endParaRPr sz="2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75" name="Google Shape;575;p42"/>
          <p:cNvSpPr txBox="1"/>
          <p:nvPr/>
        </p:nvSpPr>
        <p:spPr>
          <a:xfrm>
            <a:off x="4105130" y="2413334"/>
            <a:ext cx="668175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interface used to define the natural ordering of objects.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 only method signature </a:t>
            </a:r>
            <a:r>
              <a:rPr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compareTo(Object o).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 by a class whose objects need to be ordered.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2"/>
          <p:cNvSpPr txBox="1"/>
          <p:nvPr/>
        </p:nvSpPr>
        <p:spPr>
          <a:xfrm>
            <a:off x="3854118" y="4431327"/>
            <a:ext cx="780896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D4D4D4"/>
                </a:highlight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Comparable&lt;</a:t>
            </a:r>
            <a:r>
              <a:rPr lang="en-US" sz="1800">
                <a:solidFill>
                  <a:srgbClr val="000000"/>
                </a:solidFill>
                <a:highlight>
                  <a:srgbClr val="D4D4D4"/>
                </a:highlight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 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compareTo(</a:t>
            </a:r>
            <a:r>
              <a:rPr lang="en-US" sz="1800">
                <a:solidFill>
                  <a:srgbClr val="000000"/>
                </a:solidFill>
                <a:highlight>
                  <a:srgbClr val="D4D4D4"/>
                </a:highlight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other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other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8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Natural ordering by ID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}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3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82" name="Google Shape;582;p43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83" name="Google Shape;583;p43"/>
          <p:cNvCxnSpPr/>
          <p:nvPr/>
        </p:nvCxnSpPr>
        <p:spPr>
          <a:xfrm>
            <a:off x="4007449" y="4307330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84" name="Google Shape;5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3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3"/>
          <p:cNvSpPr txBox="1"/>
          <p:nvPr/>
        </p:nvSpPr>
        <p:spPr>
          <a:xfrm>
            <a:off x="4185812" y="1861118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Comparator</a:t>
            </a:r>
            <a:endParaRPr sz="2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87" name="Google Shape;587;p43"/>
          <p:cNvSpPr txBox="1"/>
          <p:nvPr/>
        </p:nvSpPr>
        <p:spPr>
          <a:xfrm>
            <a:off x="4105130" y="2413334"/>
            <a:ext cx="668175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interface used to define the custom ordering of objects.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 only method signature </a:t>
            </a:r>
            <a:r>
              <a:rPr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compare(Object o1, Object o2)</a:t>
            </a:r>
            <a:endParaRPr sz="18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 by a separate class or through lambda expressions to provide multiple ways to compare objects.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3"/>
          <p:cNvSpPr txBox="1"/>
          <p:nvPr/>
        </p:nvSpPr>
        <p:spPr>
          <a:xfrm>
            <a:off x="4007449" y="4490213"/>
            <a:ext cx="780896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Student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Comparator&lt;Student&gt;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compare(Student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Student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F005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s1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.getName().compareTo(</a:t>
            </a:r>
            <a:r>
              <a:rPr lang="en-US" sz="18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s2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.getName());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Custom ordering by 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4"/>
          <p:cNvSpPr txBox="1"/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cap="flat" cmpd="sng" w="19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algn="tl" dir="5400000" dist="19046">
              <a:srgbClr val="000000">
                <a:alpha val="62745"/>
              </a:srgbClr>
            </a:outerShdw>
          </a:effectLst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OOP</a:t>
            </a:r>
            <a:endParaRPr/>
          </a:p>
        </p:txBody>
      </p:sp>
      <p:cxnSp>
        <p:nvCxnSpPr>
          <p:cNvPr id="594" name="Google Shape;594;p44"/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95" name="Google Shape;595;p44"/>
          <p:cNvCxnSpPr/>
          <p:nvPr/>
        </p:nvCxnSpPr>
        <p:spPr>
          <a:xfrm>
            <a:off x="4007449" y="4307330"/>
            <a:ext cx="6577581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cap="flat" cmpd="sng" w="95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OOP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4"/>
          <p:cNvSpPr txBox="1"/>
          <p:nvPr/>
        </p:nvSpPr>
        <p:spPr>
          <a:xfrm>
            <a:off x="6142375" y="2940450"/>
            <a:ext cx="3277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!!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2024-05-31T14:40:11Z</dcterms:created>
  <dc:creator>Dawod Kabha</dc:creator>
</cp:coreProperties>
</file>