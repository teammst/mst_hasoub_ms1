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Play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S0/8qBlohkZtyviGyE6fSYJch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090A21-BB85-4B49-AF4F-D33F1DB5454D}">
  <a:tblStyle styleId="{F4090A21-BB85-4B49-AF4F-D33F1DB545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070" autoAdjust="0"/>
  </p:normalViewPr>
  <p:slideViewPr>
    <p:cSldViewPr snapToGrid="0">
      <p:cViewPr varScale="1">
        <p:scale>
          <a:sx n="74" d="100"/>
          <a:sy n="74" d="100"/>
        </p:scale>
        <p:origin x="19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800" dirty="0">
              <a:solidFill>
                <a:srgbClr val="000000"/>
              </a:solidFill>
              <a:effectLst/>
              <a:highlight>
                <a:srgbClr val="E8F2FE"/>
              </a:highlight>
              <a:latin typeface="Consolas" panose="020B0609020204030204" pitchFamily="49" charset="0"/>
            </a:endParaRPr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body" idx="2"/>
          </p:nvPr>
        </p:nvSpPr>
        <p:spPr>
          <a:xfrm>
            <a:off x="6172200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9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9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2400"/>
              <a:buNone/>
              <a:defRPr sz="2400">
                <a:solidFill>
                  <a:srgbClr val="76767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2"/>
          </p:nvPr>
        </p:nvSpPr>
        <p:spPr>
          <a:xfrm>
            <a:off x="839784" y="2505071"/>
            <a:ext cx="5157782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4"/>
          </p:nvPr>
        </p:nvSpPr>
        <p:spPr>
          <a:xfrm>
            <a:off x="6172200" y="2505071"/>
            <a:ext cx="5183184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3920335" y="-1256505"/>
            <a:ext cx="4351336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7133436" y="1956596"/>
            <a:ext cx="5811834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1799434" y="-596102"/>
            <a:ext cx="5811834" cy="773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7676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sz="4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85" name="Google Shape;85;p1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" name="Google Shape;86;p1"/>
          <p:cNvCxnSpPr/>
          <p:nvPr/>
        </p:nvCxnSpPr>
        <p:spPr>
          <a:xfrm>
            <a:off x="4201411" y="6059929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7" name="Google Shape;87;p1"/>
          <p:cNvSpPr txBox="1"/>
          <p:nvPr/>
        </p:nvSpPr>
        <p:spPr>
          <a:xfrm>
            <a:off x="4313115" y="2623130"/>
            <a:ext cx="6279459" cy="320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Basic Syntax 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 Why Using Generics?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 Classes and Interfaces 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 Methods 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Bounded Types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Wildcards Generic Types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96" name="Google Shape;96;p2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7" name="Google Shape;97;p2"/>
          <p:cNvCxnSpPr/>
          <p:nvPr/>
        </p:nvCxnSpPr>
        <p:spPr>
          <a:xfrm>
            <a:off x="4245028" y="5690466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8" name="Google Shape;98;p2"/>
          <p:cNvSpPr txBox="1"/>
          <p:nvPr/>
        </p:nvSpPr>
        <p:spPr>
          <a:xfrm>
            <a:off x="4245028" y="2623130"/>
            <a:ext cx="6451174" cy="2535439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Generics introduced by Java JDK 1.5.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Generics means parameterized types.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Generics add the type safety.</a:t>
            </a:r>
            <a:endParaRPr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Generics does not work with primitive types (int, float, char, …).</a:t>
            </a: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07" name="Google Shape;107;p3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" name="Google Shape;108;p3"/>
          <p:cNvCxnSpPr/>
          <p:nvPr/>
        </p:nvCxnSpPr>
        <p:spPr>
          <a:xfrm>
            <a:off x="4469504" y="6149093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4007449" y="1884468"/>
            <a:ext cx="2294741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5531132" y="3144237"/>
            <a:ext cx="3192060" cy="2585319"/>
          </a:xfrm>
          <a:prstGeom prst="rect">
            <a:avLst/>
          </a:prstGeom>
          <a:noFill/>
          <a:ln w="28575" cap="flat" cmpd="sng">
            <a:solidFill>
              <a:srgbClr val="10486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public class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Box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&lt;T&gt;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private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t;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public void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 t)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.t = t;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 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18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079165" y="2253794"/>
            <a:ext cx="6096003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type parameter that will be replaced with a concrete type when the class is instantiated.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0" name="Google Shape;120;p4"/>
          <p:cNvCxnSpPr/>
          <p:nvPr/>
        </p:nvCxnSpPr>
        <p:spPr>
          <a:xfrm>
            <a:off x="4239222" y="6124578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4"/>
          <p:cNvSpPr txBox="1"/>
          <p:nvPr/>
        </p:nvSpPr>
        <p:spPr>
          <a:xfrm>
            <a:off x="4223266" y="2412690"/>
            <a:ext cx="6601081" cy="3471080"/>
          </a:xfrm>
          <a:prstGeom prst="rect">
            <a:avLst/>
          </a:prstGeom>
          <a:noFill/>
          <a:ln w="2857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Generics can be achieved by specifying Object Type and using proper casting when it required 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6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 why we use generics ??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By using Object , java Compiler doesn’t have  info about the type of the data so , 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Explicit Casts must be employed to retrieve the stored data.</a:t>
            </a:r>
            <a:endParaRPr dirty="0"/>
          </a:p>
          <a:p>
            <a:pPr marL="285750" marR="0" lvl="0" indent="-1714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Several type mismatch errors can’t be found till runtime </a:t>
            </a:r>
            <a:endParaRPr sz="1800" b="0" i="0" u="none" strike="noStrike" cap="none" dirty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Why Generics?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30" name="Google Shape;130;p5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1" name="Google Shape;131;p5"/>
          <p:cNvCxnSpPr/>
          <p:nvPr/>
        </p:nvCxnSpPr>
        <p:spPr>
          <a:xfrm>
            <a:off x="4126211" y="4911745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Why Generics?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6211" y="2576514"/>
            <a:ext cx="6989284" cy="202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41" name="Google Shape;141;p6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2" name="Google Shape;142;p6"/>
          <p:cNvCxnSpPr/>
          <p:nvPr/>
        </p:nvCxnSpPr>
        <p:spPr>
          <a:xfrm>
            <a:off x="4111544" y="661525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4007451" y="1884475"/>
            <a:ext cx="375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Why Use Generics?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942" y="3429000"/>
            <a:ext cx="6447727" cy="3017574"/>
          </a:xfrm>
          <a:prstGeom prst="rect">
            <a:avLst/>
          </a:prstGeom>
          <a:noFill/>
          <a:ln w="28575" cap="sq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146" name="Google Shape;146;p6"/>
          <p:cNvSpPr txBox="1"/>
          <p:nvPr/>
        </p:nvSpPr>
        <p:spPr>
          <a:xfrm>
            <a:off x="4331704" y="2623130"/>
            <a:ext cx="1606109" cy="369291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Type safety: </a:t>
            </a:r>
            <a:endParaRPr dirty="0"/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53" name="Google Shape;153;p7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4" name="Google Shape;154;p7"/>
          <p:cNvCxnSpPr/>
          <p:nvPr/>
        </p:nvCxnSpPr>
        <p:spPr>
          <a:xfrm>
            <a:off x="4305498" y="6120838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55" name="Google Shape;15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4007449" y="1884468"/>
            <a:ext cx="2470624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Why Use Generics?</a:t>
            </a:r>
            <a:endParaRPr sz="1800" b="1" i="0" u="none" strike="noStrike" cap="none" dirty="0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5498" y="3839684"/>
            <a:ext cx="6615290" cy="1965246"/>
          </a:xfrm>
          <a:prstGeom prst="rect">
            <a:avLst/>
          </a:prstGeom>
          <a:noFill/>
          <a:ln w="25400" cap="sq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158" name="Google Shape;158;p7"/>
          <p:cNvSpPr txBox="1"/>
          <p:nvPr/>
        </p:nvSpPr>
        <p:spPr>
          <a:xfrm>
            <a:off x="4331703" y="2623130"/>
            <a:ext cx="1970487" cy="369291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code reusability</a:t>
            </a:r>
            <a:endParaRPr dirty="0"/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6" name="Google Shape;166;p8"/>
          <p:cNvCxnSpPr/>
          <p:nvPr/>
        </p:nvCxnSpPr>
        <p:spPr>
          <a:xfrm>
            <a:off x="4079165" y="4935720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67" name="Google Shape;16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4007449" y="1884468"/>
            <a:ext cx="5506004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Generic is Working with references Data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4331704" y="2782665"/>
            <a:ext cx="6096003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List&lt;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stringList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new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&lt;&gt;();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Map&lt;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map = new HashMap&lt;&gt;();</a:t>
            </a:r>
            <a:endParaRPr dirty="0"/>
          </a:p>
        </p:txBody>
      </p:sp>
      <p:sp>
        <p:nvSpPr>
          <p:cNvPr id="170" name="Google Shape;170;p8"/>
          <p:cNvSpPr txBox="1"/>
          <p:nvPr/>
        </p:nvSpPr>
        <p:spPr>
          <a:xfrm>
            <a:off x="4254492" y="4234869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List&lt;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intList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new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&lt;&gt;(); </a:t>
            </a:r>
            <a:r>
              <a:rPr lang="en-US" sz="1800" b="0" i="0" u="none" strike="noStrike" cap="none" dirty="0">
                <a:solidFill>
                  <a:srgbClr val="C04F15"/>
                </a:solidFill>
                <a:latin typeface="Arial"/>
                <a:ea typeface="Arial"/>
                <a:cs typeface="Arial"/>
                <a:sym typeface="Arial"/>
              </a:rPr>
              <a:t>// This is not allowed</a:t>
            </a:r>
            <a:endParaRPr dirty="0"/>
          </a:p>
        </p:txBody>
      </p:sp>
      <p:sp>
        <p:nvSpPr>
          <p:cNvPr id="171" name="Google Shape;171;p8"/>
          <p:cNvSpPr txBox="1"/>
          <p:nvPr/>
        </p:nvSpPr>
        <p:spPr>
          <a:xfrm>
            <a:off x="4079165" y="2355951"/>
            <a:ext cx="2171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 Types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095122" y="3800255"/>
            <a:ext cx="2000878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Primitive Types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0050074" y="3984922"/>
            <a:ext cx="1228432" cy="8150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23644" y="40580"/>
                </a:moveTo>
                <a:lnTo>
                  <a:pt x="33998" y="17062"/>
                </a:lnTo>
                <a:lnTo>
                  <a:pt x="60000" y="43064"/>
                </a:lnTo>
                <a:lnTo>
                  <a:pt x="86002" y="17062"/>
                </a:lnTo>
                <a:lnTo>
                  <a:pt x="96356" y="40580"/>
                </a:lnTo>
                <a:lnTo>
                  <a:pt x="76936" y="60000"/>
                </a:lnTo>
                <a:lnTo>
                  <a:pt x="96356" y="79420"/>
                </a:lnTo>
                <a:lnTo>
                  <a:pt x="86002" y="102938"/>
                </a:lnTo>
                <a:lnTo>
                  <a:pt x="60000" y="76936"/>
                </a:lnTo>
                <a:lnTo>
                  <a:pt x="33998" y="102938"/>
                </a:lnTo>
                <a:lnTo>
                  <a:pt x="23644" y="79420"/>
                </a:lnTo>
                <a:lnTo>
                  <a:pt x="43064" y="60000"/>
                </a:lnTo>
                <a:close/>
              </a:path>
            </a:pathLst>
          </a:custGeom>
          <a:solidFill>
            <a:srgbClr val="156082"/>
          </a:solidFill>
          <a:ln w="19025" cap="flat" cmpd="sng">
            <a:solidFill>
              <a:srgbClr val="04243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0680246" y="2725286"/>
            <a:ext cx="1020685" cy="57853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60000" y="0"/>
                </a:ln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156082"/>
          </a:solidFill>
          <a:ln w="19025" cap="flat" cmpd="sng">
            <a:solidFill>
              <a:srgbClr val="04243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 flipH="1">
            <a:off x="10207032" y="2782657"/>
            <a:ext cx="470906" cy="49076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60000" y="0"/>
                </a:lnTo>
                <a:lnTo>
                  <a:pt x="120000" y="0"/>
                </a:lnTo>
                <a:lnTo>
                  <a:pt x="0" y="120000"/>
                </a:lnTo>
                <a:close/>
              </a:path>
            </a:pathLst>
          </a:custGeom>
          <a:solidFill>
            <a:srgbClr val="156082"/>
          </a:solidFill>
          <a:ln w="19025" cap="flat" cmpd="sng">
            <a:solidFill>
              <a:srgbClr val="04243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3" name="Google Shape;183;p9"/>
          <p:cNvCxnSpPr/>
          <p:nvPr/>
        </p:nvCxnSpPr>
        <p:spPr>
          <a:xfrm>
            <a:off x="4185419" y="6693499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84" name="Google Shape;18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4007449" y="1884468"/>
            <a:ext cx="5506004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Generic is Working with references Data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007449" y="2391091"/>
            <a:ext cx="225687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Wrapper Classes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4054193" y="2731623"/>
            <a:ext cx="6096003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use generics with primitive types, you must use their corresponding wrapper classes: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8" name="Google Shape;188;p9"/>
          <p:cNvGraphicFramePr/>
          <p:nvPr/>
        </p:nvGraphicFramePr>
        <p:xfrm>
          <a:off x="4185419" y="3480041"/>
          <a:ext cx="6189500" cy="3036720"/>
        </p:xfrm>
        <a:graphic>
          <a:graphicData uri="http://schemas.openxmlformats.org/drawingml/2006/table">
            <a:tbl>
              <a:tblPr>
                <a:noFill/>
                <a:tableStyleId>{F4090A21-BB85-4B49-AF4F-D33F1DB5454D}</a:tableStyleId>
              </a:tblPr>
              <a:tblGrid>
                <a:gridCol w="309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byte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Byte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short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Short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Integer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long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Long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float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Float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double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Double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boolean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Boolean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char</a:t>
                      </a:r>
                      <a:endParaRPr/>
                    </a:p>
                  </a:txBody>
                  <a:tcPr marL="135750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Character</a:t>
                      </a:r>
                      <a:endParaRPr/>
                    </a:p>
                  </a:txBody>
                  <a:tcPr marL="67875" marR="67875" marT="67875" marB="6787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195" name="Google Shape;195;p10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6" name="Google Shape;196;p10"/>
          <p:cNvCxnSpPr/>
          <p:nvPr/>
        </p:nvCxnSpPr>
        <p:spPr>
          <a:xfrm>
            <a:off x="4185419" y="6693499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97" name="Google Shape;19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/>
          <p:nvPr/>
        </p:nvSpPr>
        <p:spPr>
          <a:xfrm>
            <a:off x="4007449" y="1884468"/>
            <a:ext cx="5506004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Generic is Working with references Data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5085490" y="2623130"/>
            <a:ext cx="4588431" cy="341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class GenericExample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public static void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List&lt;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numbers = new ArrayList&lt;&gt;();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numbers.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numbers.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numbers.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for (Integer number : numbers)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System.out.println(number);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06" name="Google Shape;206;p11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7" name="Google Shape;207;p11"/>
          <p:cNvCxnSpPr/>
          <p:nvPr/>
        </p:nvCxnSpPr>
        <p:spPr>
          <a:xfrm>
            <a:off x="4237201" y="670434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08" name="Google Shape;20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Java Generic Class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7314" y="2379744"/>
            <a:ext cx="4964908" cy="4198641"/>
          </a:xfrm>
          <a:prstGeom prst="rect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pic>
      <p:pic>
        <p:nvPicPr>
          <p:cNvPr id="211" name="Google Shape;21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17" name="Google Shape;217;p12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8" name="Google Shape;218;p12"/>
          <p:cNvCxnSpPr/>
          <p:nvPr/>
        </p:nvCxnSpPr>
        <p:spPr>
          <a:xfrm>
            <a:off x="4095122" y="6650751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3122" y="2411016"/>
            <a:ext cx="4471315" cy="4082503"/>
          </a:xfrm>
          <a:prstGeom prst="rect">
            <a:avLst/>
          </a:prstGeom>
          <a:noFill/>
          <a:ln w="2857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221" name="Google Shape;221;p12"/>
          <p:cNvSpPr txBox="1"/>
          <p:nvPr/>
        </p:nvSpPr>
        <p:spPr>
          <a:xfrm>
            <a:off x="4079165" y="1884468"/>
            <a:ext cx="2499056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Java Generic Method</a:t>
            </a:r>
            <a:endParaRPr sz="1800" b="1" i="0" u="none" strike="noStrike" cap="none" dirty="0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28" name="Google Shape;228;p13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9" name="Google Shape;229;p13"/>
          <p:cNvCxnSpPr/>
          <p:nvPr/>
        </p:nvCxnSpPr>
        <p:spPr>
          <a:xfrm>
            <a:off x="4331704" y="6039447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30" name="Google Shape;23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 txBox="1"/>
          <p:nvPr/>
        </p:nvSpPr>
        <p:spPr>
          <a:xfrm>
            <a:off x="4079165" y="1884468"/>
            <a:ext cx="239335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Bounded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4331704" y="2623130"/>
            <a:ext cx="6096003" cy="341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you to restrict the types that can be used as type arguments for a generic class, interface, or method.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that the type parameters meet certain criteria which is useful for: </a:t>
            </a:r>
            <a:endParaRPr dirty="0"/>
          </a:p>
          <a:p>
            <a:pPr marL="16573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maintaining type safety</a:t>
            </a:r>
            <a:endParaRPr dirty="0"/>
          </a:p>
          <a:p>
            <a:pPr marL="16573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leveraging polymorphism</a:t>
            </a:r>
            <a:endParaRPr dirty="0"/>
          </a:p>
          <a:p>
            <a:pPr marL="1657350" marR="0" lvl="3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Bounded Types :</a:t>
            </a:r>
            <a:b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Upper Bounded Types (extends)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Lower Bounded Types (super)</a:t>
            </a:r>
            <a:endParaRPr dirty="0"/>
          </a:p>
          <a:p>
            <a:pPr marL="7429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39" name="Google Shape;239;p14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40" name="Google Shape;240;p14"/>
          <p:cNvCxnSpPr/>
          <p:nvPr/>
        </p:nvCxnSpPr>
        <p:spPr>
          <a:xfrm>
            <a:off x="4350175" y="6676756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4"/>
          <p:cNvSpPr txBox="1"/>
          <p:nvPr/>
        </p:nvSpPr>
        <p:spPr>
          <a:xfrm>
            <a:off x="4079165" y="1884468"/>
            <a:ext cx="2792687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Upper Bounded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5132316" y="3655204"/>
            <a:ext cx="5020842" cy="2862318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Box&lt;T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Number&gt;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 </a:t>
            </a:r>
            <a:r>
              <a:rPr lang="en-US" sz="1800" b="0" i="0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set(T 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 b="0" i="0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b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 get() {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b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print() {System.</a:t>
            </a:r>
            <a:r>
              <a:rPr lang="en-US" sz="18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-US" sz="1800" b="0" i="0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.doubleValue());}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4079165" y="2299962"/>
            <a:ext cx="7567894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upper bounded type restricts the type parameter to be a specific type or a subtype of that type. This is specified using the extends keyword. 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6075237" y="3005587"/>
            <a:ext cx="2856329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i="0" u="none" strike="noStrike" cap="none">
                <a:solidFill>
                  <a:srgbClr val="163E64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163E64"/>
                </a:solidFill>
                <a:latin typeface="Arial"/>
                <a:ea typeface="Arial"/>
                <a:cs typeface="Arial"/>
                <a:sym typeface="Arial"/>
              </a:rPr>
              <a:t>SomeClass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pic>
        <p:nvPicPr>
          <p:cNvPr id="246" name="Google Shape;24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52" name="Google Shape;252;p15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53" name="Google Shape;253;p15"/>
          <p:cNvCxnSpPr/>
          <p:nvPr/>
        </p:nvCxnSpPr>
        <p:spPr>
          <a:xfrm>
            <a:off x="4350175" y="675988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54" name="Google Shape;2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4079165" y="1884468"/>
            <a:ext cx="2801922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Upper Bounded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4007449" y="2264383"/>
            <a:ext cx="7962878" cy="92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Box class can only be instantiated with types that are subclasses of Number (e.g., Integer, Double), ensuring that the type has a doubleValue() method.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4185949" y="3378159"/>
            <a:ext cx="5767733" cy="3139318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Box&lt;Integer&gt; intBox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Box&lt;&gt;();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intBox.set(10);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intBox.print();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10.0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Box&lt;Double&gt; doubleBox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Box&lt;&gt;();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doubleBox.set(10.5);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doubleBox.print();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10.5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7F5F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Box&lt;String&gt; stringBox = new Box&lt;&gt;();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sng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8" name="Google Shape;25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64" name="Google Shape;264;p16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65" name="Google Shape;265;p16"/>
          <p:cNvCxnSpPr/>
          <p:nvPr/>
        </p:nvCxnSpPr>
        <p:spPr>
          <a:xfrm>
            <a:off x="4350175" y="675988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66" name="Google Shape;2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6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Lower Bounded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4007449" y="2264383"/>
            <a:ext cx="7233205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lower bounded type restricts the type parameter to be a specific type or a supertype of that type. This is specified using the super keyword.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6260713" y="2969998"/>
            <a:ext cx="2809402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i="0" u="none" strike="noStrike" cap="none">
                <a:solidFill>
                  <a:srgbClr val="163E64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163E64"/>
                </a:solidFill>
                <a:latin typeface="Arial"/>
                <a:ea typeface="Arial"/>
                <a:cs typeface="Arial"/>
                <a:sym typeface="Arial"/>
              </a:rPr>
              <a:t>SomeClass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4201768" y="3803474"/>
            <a:ext cx="7565352" cy="2031321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BoxPriter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addNumbers(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D4D4D4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&lt;?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Integer&gt; list)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for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 = 1; i &lt;= 10; i++)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list.add(i);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sng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1" name="Google Shape;2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77" name="Google Shape;277;p17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78" name="Google Shape;278;p17"/>
          <p:cNvCxnSpPr/>
          <p:nvPr/>
        </p:nvCxnSpPr>
        <p:spPr>
          <a:xfrm>
            <a:off x="4350175" y="675988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79" name="Google Shape;27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Lower Bounded Types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4007449" y="2264383"/>
            <a:ext cx="7233205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lower bounded type restricts the type parameter to be a specific type or a supertype of that type. This is specified using the super keyword.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4615863" y="3241804"/>
            <a:ext cx="5811990" cy="3139318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List&lt;Number&gt; 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addNumbers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lang="en-US" sz="18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numberList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[1, 2, 3, 4, 5, 6, 7, 8, 9, 10]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List&lt;Object&gt; 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1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addNumbers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</a:t>
            </a:r>
            <a:r>
              <a:rPr lang="en-US" sz="18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.println(</a:t>
            </a:r>
            <a:r>
              <a:rPr lang="en-US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objectList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[1, 2, 3, 4, 5, 6, 7, 8, 9, 10]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283" name="Google Shape;28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0" name="Google Shape;290;p18"/>
          <p:cNvCxnSpPr/>
          <p:nvPr/>
        </p:nvCxnSpPr>
        <p:spPr>
          <a:xfrm>
            <a:off x="4451774" y="5937848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91" name="Google Shape;29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266069" y="2623130"/>
            <a:ext cx="6770839" cy="313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Wildcards are special symbols used in generics to represent an unknown type. 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Wildcards allow for more flexible and reusable code by letting you specify a range of acceptable types for a generic class, interface, or method.</a:t>
            </a:r>
            <a:endParaRPr dirty="0"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three types of wildcards: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unbounded wildcards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upper bounded wildcards (bounded wildcards)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lower bounded wildcards.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00" name="Google Shape;300;p19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1" name="Google Shape;301;p19"/>
          <p:cNvCxnSpPr/>
          <p:nvPr/>
        </p:nvCxnSpPr>
        <p:spPr>
          <a:xfrm>
            <a:off x="4095122" y="5134282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02" name="Google Shape;30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9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5091882" y="2916497"/>
            <a:ext cx="4591604" cy="2031321"/>
          </a:xfrm>
          <a:prstGeom prst="rect">
            <a:avLst/>
          </a:prstGeom>
          <a:noFill/>
          <a:ln w="2857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Unbounded Wildcard (?)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Upper Bounded Wildcard (? extends Type)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Bounded Wildcard (? super Type)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4079165" y="236026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Wildcards</a:t>
            </a:r>
            <a:endParaRPr/>
          </a:p>
        </p:txBody>
      </p:sp>
      <p:pic>
        <p:nvPicPr>
          <p:cNvPr id="306" name="Google Shape;30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12" name="Google Shape;312;p20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13" name="Google Shape;313;p20"/>
          <p:cNvCxnSpPr/>
          <p:nvPr/>
        </p:nvCxnSpPr>
        <p:spPr>
          <a:xfrm>
            <a:off x="4095122" y="5134282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14" name="Google Shape;31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4095122" y="2493715"/>
            <a:ext cx="7182474" cy="1200332"/>
          </a:xfrm>
          <a:prstGeom prst="rect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unbounded wildcard represents an unknown type. It can be any type, similar to using Object, but it retains generic type information.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Unbounded Wildcard (?)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5334335" y="4096905"/>
            <a:ext cx="3318595" cy="369335"/>
          </a:xfrm>
          <a:prstGeom prst="rect">
            <a:avLst/>
          </a:prstGeom>
          <a:noFill/>
          <a:ln w="9525" cap="flat" cmpd="sng">
            <a:solidFill>
              <a:srgbClr val="215F9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List&lt;</a:t>
            </a:r>
            <a:r>
              <a:rPr lang="en-US" sz="1800" b="1" i="0" u="none" strike="noStrike" cap="none">
                <a:solidFill>
                  <a:srgbClr val="163E64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list = new ArrayList&lt;&gt;();</a:t>
            </a:r>
            <a:endParaRPr/>
          </a:p>
        </p:txBody>
      </p:sp>
      <p:pic>
        <p:nvPicPr>
          <p:cNvPr id="319" name="Google Shape;31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25" name="Google Shape;325;p21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26" name="Google Shape;326;p21"/>
          <p:cNvCxnSpPr/>
          <p:nvPr/>
        </p:nvCxnSpPr>
        <p:spPr>
          <a:xfrm>
            <a:off x="4095122" y="6168761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27" name="Google Shape;32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1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Unbounded Wildcard (?)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3975052" y="3100593"/>
            <a:ext cx="7725875" cy="2585319"/>
          </a:xfrm>
          <a:prstGeom prst="rect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sng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printList(List&lt;?&gt; list)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(Object elem : list) {System.out.println(elem);}}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7F005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List&lt;String&gt; stringList=List.of(</a:t>
            </a:r>
            <a:r>
              <a:rPr lang="en-US" sz="18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List&lt;Integer&gt; intList = List.of(1, 2, 3);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printList(stringList);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apple, banana, cherry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printList(intList);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1, 2, 3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331" name="Google Shape;33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37" name="Google Shape;337;p22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38" name="Google Shape;338;p22"/>
          <p:cNvCxnSpPr/>
          <p:nvPr/>
        </p:nvCxnSpPr>
        <p:spPr>
          <a:xfrm>
            <a:off x="4095122" y="6168761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39" name="Google Shape;33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Upper Bounded Wildcard (? extends Type)</a:t>
            </a:r>
            <a:endParaRPr dirty="0"/>
          </a:p>
        </p:txBody>
      </p:sp>
      <p:sp>
        <p:nvSpPr>
          <p:cNvPr id="342" name="Google Shape;342;p22"/>
          <p:cNvSpPr txBox="1"/>
          <p:nvPr/>
        </p:nvSpPr>
        <p:spPr>
          <a:xfrm>
            <a:off x="4095122" y="2826282"/>
            <a:ext cx="7191710" cy="92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upper bounded wildcard restricts the unknown type to be a specific type or a subtype of that type. This is specified using the extends keyword.</a:t>
            </a:r>
            <a:endParaRPr dirty="0"/>
          </a:p>
        </p:txBody>
      </p:sp>
      <p:sp>
        <p:nvSpPr>
          <p:cNvPr id="343" name="Google Shape;343;p22"/>
          <p:cNvSpPr txBox="1"/>
          <p:nvPr/>
        </p:nvSpPr>
        <p:spPr>
          <a:xfrm>
            <a:off x="4642975" y="4573810"/>
            <a:ext cx="4925891" cy="369335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List&lt;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A02B93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 dirty="0">
                <a:solidFill>
                  <a:srgbClr val="215F9A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list = new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&lt;&gt;();</a:t>
            </a:r>
            <a:endParaRPr dirty="0"/>
          </a:p>
        </p:txBody>
      </p:sp>
      <p:pic>
        <p:nvPicPr>
          <p:cNvPr id="344" name="Google Shape;34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50" name="Google Shape;350;p23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4095122" y="6427372"/>
            <a:ext cx="6585124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52" name="Google Shape;35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Upper Bounded Wildcard (? extends Type)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4173705" y="3009043"/>
            <a:ext cx="7436403" cy="3139318"/>
          </a:xfrm>
          <a:prstGeom prst="rect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sumOfList(List&lt;?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Number&gt; list)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 = 0.0;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(Number num : list) {sum += num.doubleValue();}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sum;}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List&lt;Integer&gt; intList = List.of(1, 2, 3);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List&lt;Double&gt; doubleList = List.of(1.1, 2.2, 3.3);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System.out.println(sumOfList(intList));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6.0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System.out.println(sumOfList(doubleList));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6.6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356" name="Google Shape;35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62" name="Google Shape;362;p24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63" name="Google Shape;363;p24"/>
          <p:cNvCxnSpPr/>
          <p:nvPr/>
        </p:nvCxnSpPr>
        <p:spPr>
          <a:xfrm>
            <a:off x="4087139" y="4965164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64" name="Google Shape;36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4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Bounded Wildcard (? super Type)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4095122" y="2730032"/>
            <a:ext cx="7422623" cy="64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lower bounded wildcard restricts the unknown type to be a specific type or a supertype of that type. This is specified using the super keyword.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5116945" y="3886209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i="0" u="none" strike="noStrike" cap="none">
                <a:solidFill>
                  <a:srgbClr val="215F9A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A02B93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>
                <a:solidFill>
                  <a:srgbClr val="215F9A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list = new ArrayList&lt;&gt;();</a:t>
            </a:r>
            <a:endParaRPr/>
          </a:p>
        </p:txBody>
      </p:sp>
      <p:pic>
        <p:nvPicPr>
          <p:cNvPr id="369" name="Google Shape;36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5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75" name="Google Shape;375;p25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76" name="Google Shape;376;p25"/>
          <p:cNvCxnSpPr/>
          <p:nvPr/>
        </p:nvCxnSpPr>
        <p:spPr>
          <a:xfrm>
            <a:off x="4216453" y="6710836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77" name="Google Shape;37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69" y="3144237"/>
            <a:ext cx="3318595" cy="18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5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Wildcards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4095122" y="2360697"/>
            <a:ext cx="6096003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Bounded Wildcard (? super Type)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4137550" y="2829071"/>
            <a:ext cx="7721943" cy="3693316"/>
          </a:xfrm>
          <a:prstGeom prst="rect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addNumbers(List&lt;?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Integer&gt; list) {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 = 1; i &lt;= 10; i++) {list.add(i);}}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1800"/>
              <a:buFont typeface="Consolas"/>
              <a:buNone/>
            </a:pP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List&lt;Number&gt; numberList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List&lt;Object&gt; objectList = </a:t>
            </a:r>
            <a:r>
              <a:rPr lang="en-US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addNumbers(numberList);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addNumbers(objectList);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System.out.println(numberList);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[1, 2, 3, 4, 5, 6, 7, 8, 9, 10]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System.out.println(objectList); </a:t>
            </a:r>
            <a:r>
              <a:rPr lang="en-US" sz="18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Output: [1, 2, 3, 4, 5, 6, 7, 8, 9, 10]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381" name="Google Shape;38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>
            <a:spLocks noGrp="1"/>
          </p:cNvSpPr>
          <p:nvPr>
            <p:ph type="title"/>
          </p:nvPr>
        </p:nvSpPr>
        <p:spPr>
          <a:xfrm>
            <a:off x="643472" y="623392"/>
            <a:ext cx="3363977" cy="1607058"/>
          </a:xfrm>
          <a:prstGeom prst="rect">
            <a:avLst/>
          </a:prstGeom>
          <a:noFill/>
          <a:ln w="190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19046" dir="5400000" algn="tl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lay"/>
              <a:buNone/>
            </a:pPr>
            <a:r>
              <a:rPr lang="en-US" sz="2800"/>
              <a:t>Generics</a:t>
            </a:r>
            <a:endParaRPr/>
          </a:p>
        </p:txBody>
      </p:sp>
      <p:cxnSp>
        <p:nvCxnSpPr>
          <p:cNvPr id="387" name="Google Shape;387;p26"/>
          <p:cNvCxnSpPr/>
          <p:nvPr/>
        </p:nvCxnSpPr>
        <p:spPr>
          <a:xfrm>
            <a:off x="4079165" y="2253794"/>
            <a:ext cx="6601081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88" name="Google Shape;388;p26"/>
          <p:cNvCxnSpPr/>
          <p:nvPr/>
        </p:nvCxnSpPr>
        <p:spPr>
          <a:xfrm>
            <a:off x="4187485" y="5066763"/>
            <a:ext cx="6585125" cy="0"/>
          </a:xfrm>
          <a:prstGeom prst="straightConnector1">
            <a:avLst/>
          </a:prstGeom>
          <a:noFill/>
          <a:ln w="952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89" name="Google Shape;389;p26"/>
          <p:cNvSpPr txBox="1"/>
          <p:nvPr/>
        </p:nvSpPr>
        <p:spPr>
          <a:xfrm>
            <a:off x="4079165" y="1884468"/>
            <a:ext cx="2746510" cy="36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97132"/>
                </a:solidFill>
                <a:latin typeface="Arial"/>
                <a:ea typeface="Arial"/>
                <a:cs typeface="Arial"/>
                <a:sym typeface="Arial"/>
              </a:rPr>
              <a:t>Generics</a:t>
            </a:r>
            <a:endParaRPr sz="1800" b="1" i="0" u="none" strike="noStrike" cap="none">
              <a:solidFill>
                <a:srgbClr val="E971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5865089" y="3316181"/>
            <a:ext cx="3596527" cy="677104"/>
          </a:xfrm>
          <a:prstGeom prst="rect">
            <a:avLst/>
          </a:prstGeom>
          <a:noFill/>
          <a:ln w="28575" cap="flat" cmpd="sng">
            <a:solidFill>
              <a:srgbClr val="4472C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0055"/>
              </a:buClr>
              <a:buSzPts val="3800"/>
              <a:buFont typeface="Consolas"/>
              <a:buNone/>
            </a:pPr>
            <a:r>
              <a:rPr lang="en-US" sz="3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Thank You !!</a:t>
            </a:r>
            <a:endParaRPr sz="3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1" name="Google Shape;39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86884" y="265121"/>
            <a:ext cx="1099822" cy="453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1430</Words>
  <Application>Microsoft Office PowerPoint</Application>
  <PresentationFormat>Widescreen</PresentationFormat>
  <Paragraphs>238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Consolas</vt:lpstr>
      <vt:lpstr>Play</vt:lpstr>
      <vt:lpstr>Arial</vt:lpstr>
      <vt:lpstr>Office Theme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  <vt:lpstr>Generics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Dawod Kabha</dc:creator>
  <cp:lastModifiedBy>Ameen Ikteelat</cp:lastModifiedBy>
  <cp:revision>24</cp:revision>
  <dcterms:created xsi:type="dcterms:W3CDTF">2024-07-01T18:36:13Z</dcterms:created>
  <dcterms:modified xsi:type="dcterms:W3CDTF">2025-08-09T22:31:13Z</dcterms:modified>
</cp:coreProperties>
</file>