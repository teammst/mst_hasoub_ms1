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369" r:id="rId2"/>
    <p:sldId id="427" r:id="rId3"/>
    <p:sldId id="434" r:id="rId4"/>
    <p:sldId id="460" r:id="rId5"/>
    <p:sldId id="436" r:id="rId6"/>
    <p:sldId id="433" r:id="rId7"/>
    <p:sldId id="435" r:id="rId8"/>
    <p:sldId id="467" r:id="rId9"/>
    <p:sldId id="455" r:id="rId10"/>
    <p:sldId id="461" r:id="rId11"/>
    <p:sldId id="462" r:id="rId12"/>
    <p:sldId id="463" r:id="rId13"/>
    <p:sldId id="464" r:id="rId14"/>
    <p:sldId id="457" r:id="rId15"/>
    <p:sldId id="465" r:id="rId16"/>
    <p:sldId id="468" r:id="rId17"/>
    <p:sldId id="466" r:id="rId18"/>
    <p:sldId id="459" r:id="rId19"/>
    <p:sldId id="441" r:id="rId20"/>
    <p:sldId id="437" r:id="rId21"/>
    <p:sldId id="438" r:id="rId22"/>
    <p:sldId id="480" r:id="rId23"/>
    <p:sldId id="473" r:id="rId24"/>
    <p:sldId id="472" r:id="rId25"/>
    <p:sldId id="474" r:id="rId26"/>
    <p:sldId id="475" r:id="rId27"/>
    <p:sldId id="439" r:id="rId28"/>
    <p:sldId id="440" r:id="rId29"/>
    <p:sldId id="442" r:id="rId30"/>
    <p:sldId id="443" r:id="rId31"/>
    <p:sldId id="445" r:id="rId32"/>
    <p:sldId id="444" r:id="rId33"/>
    <p:sldId id="448" r:id="rId34"/>
    <p:sldId id="449" r:id="rId35"/>
    <p:sldId id="450" r:id="rId36"/>
    <p:sldId id="451" r:id="rId37"/>
    <p:sldId id="452" r:id="rId38"/>
    <p:sldId id="453" r:id="rId39"/>
    <p:sldId id="454" r:id="rId40"/>
    <p:sldId id="481" r:id="rId41"/>
    <p:sldId id="482" r:id="rId42"/>
    <p:sldId id="446" r:id="rId43"/>
    <p:sldId id="471" r:id="rId44"/>
    <p:sldId id="469" r:id="rId45"/>
    <p:sldId id="470" r:id="rId46"/>
    <p:sldId id="476" r:id="rId47"/>
    <p:sldId id="477" r:id="rId48"/>
    <p:sldId id="478" r:id="rId49"/>
    <p:sldId id="479" r:id="rId50"/>
    <p:sldId id="431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75" autoAdjust="0"/>
    <p:restoredTop sz="82014" autoAdjust="0"/>
  </p:normalViewPr>
  <p:slideViewPr>
    <p:cSldViewPr snapToGrid="0">
      <p:cViewPr varScale="1">
        <p:scale>
          <a:sx n="91" d="100"/>
          <a:sy n="91" d="100"/>
        </p:scale>
        <p:origin x="165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340BA-A4A6-4B62-8E9A-2963793F1190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E370C-008A-4A95-8FB8-7E2DBDE87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0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03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60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44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662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96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89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30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70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9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19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213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341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99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511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518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786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811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140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129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734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70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020B1-9E74-C221-EFDC-55B396717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EAF029-5F91-9A53-9452-0EDD488C6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1C6BB-DE04-2426-89E7-2D67AEA4C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0ABB1-921D-6411-9BCA-5E4E72787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330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146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724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515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453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392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2989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553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514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3749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829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569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973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197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205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458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574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442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4CFC3-7205-9557-EECB-8E3F9A761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B4C0A-2792-324A-165C-39245106B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E8E7A5-07D8-FD8F-17A6-BAA6028C6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34FB2-F501-A2F6-0612-E81742F2C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596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68D4F-1895-80F7-9D35-10D2F4705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D0821-2177-ADA4-6D91-20E041BEC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571FE-7846-0B5A-40F4-B9DA51395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C23BF-A688-7F0E-D99D-5F66711C2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415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533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978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487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3559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541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7235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8651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48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55178-9412-A36A-63B8-D90329C16ED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1DEC2D-175B-6C03-DD10-798192449A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A404-0BCA-53EF-A564-9E58B02EFBA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A3AFD2B-C5A7-4CA5-80AB-AF172CE58927}" type="datetime1">
              <a:rPr lang="-"/>
              <a:pPr lvl="0"/>
              <a:t>8/24/2025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FE164-F2A8-E303-C741-4AFAA292F4F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16687-4758-EEC7-07D5-45425114401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3701ECD-7B56-4D5C-A592-647910CAF3E4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62983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38A4-8070-4277-BCD3-81B1E1438B7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7FB8D-5066-8415-B1F5-C9FD96B48E1B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367F-3B69-073F-D484-A5246623671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8CF1134-2455-4816-9EA1-16E48E9AE121}" type="datetime1">
              <a:rPr lang="-"/>
              <a:pPr lvl="0"/>
              <a:t>8/24/2025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6B30A-E185-E788-C9A8-3D797B9DE4B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6D5EF-FCAE-4E17-FF20-6E360E496F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A0D4A8-D7C0-4228-9DD7-5607BFFBDAB0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35098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E5F3-535C-74C3-9EF7-29A865945F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D247E-1485-0900-C42E-2C78F626A9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D8CFE-2121-B6C8-82D2-5E0A05A0091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60A5074-BF05-4AAE-8A44-7D7BFEA6691D}" type="datetime1">
              <a:rPr lang="-"/>
              <a:pPr lvl="0"/>
              <a:t>8/24/2025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DBF15-BB7D-9A45-F393-56CA5AF5FAB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83E34-5617-4A7E-0C63-BF192D464A5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28E16B0-4938-48C9-8A78-8A700CE513C6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90388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41A93BD-66E3-3A63-E271-14B09F721B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869" y="769779"/>
            <a:ext cx="1367181" cy="13671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208D5-6516-68D3-7917-4E31DDA3475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EA371-4313-D611-14BB-8C2A85ED2A7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AC0C1-DFBC-2FF6-8C5F-23D7AD33B1C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AEF70-E293-EA80-A1B5-70758938605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3E531E-FE1E-4792-ACA2-2FDE04151342}" type="datetime1">
              <a:rPr lang="-"/>
              <a:pPr lvl="0"/>
              <a:t>8/24/2025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285D9-93D3-C06D-BF2F-3CB401FA8F2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D4239-C500-D79D-E7E4-B4AD787EC97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DC3340-3468-44D3-A0E9-C05B2A53CC86}" type="slidenum">
              <a:t>‹#›</a:t>
            </a:fld>
            <a:endParaRPr lang="-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A7509C73-6BF5-836E-4F35-1B76A3F38B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3EB9B6D-9528-1C27-BBCB-CD6265B3F04B}"/>
              </a:ext>
            </a:extLst>
          </p:cNvPr>
          <p:cNvSpPr txBox="1">
            <a:spLocks/>
          </p:cNvSpPr>
          <p:nvPr userDrawn="1"/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 Light"/>
              </a:defRPr>
            </a:lvl1pPr>
          </a:lstStyle>
          <a:p>
            <a:pPr algn="ctr"/>
            <a:endParaRPr lang="en-US" sz="2800" dirty="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63277451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AE27-8DA0-7988-D412-BBA713BE2C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A8995-7AFC-8041-453F-35FEA924E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0857AF-8BE7-8DD2-A9D6-20AF4FFE2CF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D484C-CF58-2D9A-8A15-B45BA427ADB5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78D96B-DBA8-4D98-C035-10B8C669DE4F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EE8FB3-E465-33AF-70B3-FE4DFA782CD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72E426C-CF8E-4FD1-8C5F-1B6435DC126B}" type="datetime1">
              <a:rPr lang="-"/>
              <a:pPr lvl="0"/>
              <a:t>8/24/2025</a:t>
            </a:fld>
            <a:endParaRPr lang="-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B39B23-56D0-8171-E3B5-2095AE1776E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740C05-8DCC-28D9-023A-351FECBAF03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3D682B-EC5F-449D-801D-C70BB8E0037E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3258116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75C1-6721-932A-FE42-93A54EC9F5B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0B4D7A-6590-0E56-DE67-D45E101CBE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6F0F782-BB4B-4AB1-BA48-1E5CD87DFAA4}" type="datetime1">
              <a:rPr lang="-"/>
              <a:pPr lvl="0"/>
              <a:t>8/24/2025</a:t>
            </a:fld>
            <a:endParaRPr lang="-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73216-B359-8115-20D2-63A214EB523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62C5A-0B9C-E168-6555-B78F75C4193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CEE1F0C-2E72-4E7D-9A00-D4E66D6F24B3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217763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906F9A-D967-1C62-BAAE-C6DEF5109ED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9A62B6C-6DD8-46F4-ACC0-555BE497C716}" type="datetime1">
              <a:rPr lang="-"/>
              <a:pPr lvl="0"/>
              <a:t>8/24/2025</a:t>
            </a:fld>
            <a:endParaRPr lang="-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9D664F-7494-BF2B-41DD-D43337304E0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E44DD-9F72-24FE-4D2B-EF1387CFC29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64843C4-D3F4-478E-B8C9-03546B9E8B59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4029494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A1C0-66EC-0F2F-ED19-56675122F1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B8635-F11A-E777-EAB6-5603EDAA8B2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86442-5FC0-CB1D-C857-AAD7ED58B11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91F80-B5D8-B200-C69C-6D92B705C68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721A70A-A8A4-48F6-AD98-F9228E14A338}" type="datetime1">
              <a:rPr lang="-"/>
              <a:pPr lvl="0"/>
              <a:t>8/24/2025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BD3E3-51B8-B07E-E0FE-021252190E6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FCE06-03FD-C903-7102-5E40D9A7612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AA7648E-7F5C-44EF-9D93-7E25EEC5EEEA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238743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B9FBE-87DC-E973-DB69-148E7D4CC1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57C4D4-E86B-870B-F930-3BB23F25418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-" sz="3200"/>
            </a:lvl1pPr>
          </a:lstStyle>
          <a:p>
            <a:pPr lvl="0"/>
            <a:endParaRPr lang="-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210D9-1C94-83DB-98F1-648E1771150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3236C-2E8A-5E70-4464-E8020A581C9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999090A-6D78-4E71-A54B-BDCD6FB7B149}" type="datetime1">
              <a:rPr lang="-"/>
              <a:pPr lvl="0"/>
              <a:t>8/24/2025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35CF5-0814-D363-7711-D281198B90F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80902-863F-8BF1-F399-52ADA16FA4D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8AFD22-7088-48A6-A1F6-4D958E6580CF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4244968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1E12-B2DB-B677-0BD0-FAB32C8EFA1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CBC625-E7B9-9DD0-0787-FEBD01037C7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9929F-541D-96D8-5E3A-42FC013E4DD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AD90431-E18B-45DC-8E94-82E2DE1BA2B0}" type="datetime1">
              <a:rPr lang="-"/>
              <a:pPr lvl="0"/>
              <a:t>8/24/2025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0C981-60FB-46EB-43AD-1FBC126A82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29288-8939-77E2-FB4E-05FBA4720A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F7B106-610C-4B1A-B12F-A9DD865EFC3B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66399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005A46-458D-2AE1-20D4-D29A01E9D6C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FE385-7F5E-BD41-A7F1-DCCAF79D537E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7B4FC-609E-8096-12E3-2FFED032565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31DE32E-84CF-4F49-BCD4-6EA239275F10}" type="datetime1">
              <a:rPr lang="-"/>
              <a:pPr lvl="0"/>
              <a:t>8/24/2025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B1718-2464-08F0-D727-2D21CB6123D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50266-4FA4-80D6-C6C9-373F22C8CD6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DD673B-E603-40C6-8B72-9CCD5EE7753B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78915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CFF6B-8190-5049-36D7-234CC87F2A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26C16-13A4-CAB7-4568-B81A2D163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50ACB-01B2-A632-C5A1-0BEAEDF894F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C5E9202-4821-441E-9788-871B6BB11989}" type="datetime1">
              <a:rPr lang="-"/>
              <a:pPr lvl="0"/>
              <a:t>8/24/2025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82CBB-330A-5DE1-E60C-B9FCB7E6D54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BCEDF-B02C-DD9B-AB42-F222A0D9E8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E455E22C-86AE-4FFE-A19A-BF2CA97CF721}" type="slidenum">
              <a:t>‹#›</a:t>
            </a:fld>
            <a:endParaRPr lang="-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8D23F5-66D3-231A-9038-380E435DC30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43472" y="2399056"/>
            <a:ext cx="3363977" cy="3415622"/>
          </a:xfrm>
        </p:spPr>
        <p:txBody>
          <a:bodyPr/>
          <a:lstStyle/>
          <a:p>
            <a:pPr marL="0" lvl="0" indent="0">
              <a:buNone/>
            </a:pPr>
            <a:endParaRPr lang="en-US" sz="4400" b="1" dirty="0"/>
          </a:p>
          <a:p>
            <a:pPr marL="0" lvl="0" indent="0">
              <a:buNone/>
            </a:pPr>
            <a:endParaRPr lang="en-US" sz="4400" b="1" dirty="0"/>
          </a:p>
          <a:p>
            <a:pPr lvl="0"/>
            <a:endParaRPr lang="en-US" sz="4400" b="1" dirty="0"/>
          </a:p>
        </p:txBody>
      </p:sp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E3CA8FCF-698B-139B-1BA4-34C4A87CD0EE}"/>
              </a:ext>
            </a:extLst>
          </p:cNvPr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5" name="Straight Connector 12">
            <a:extLst>
              <a:ext uri="{FF2B5EF4-FFF2-40B4-BE49-F238E27FC236}">
                <a16:creationId xmlns:a16="http://schemas.microsoft.com/office/drawing/2014/main" id="{97CE9E53-6AB6-B8B9-9D90-D8EC50AB266E}"/>
              </a:ext>
            </a:extLst>
          </p:cNvPr>
          <p:cNvCxnSpPr/>
          <p:nvPr/>
        </p:nvCxnSpPr>
        <p:spPr>
          <a:xfrm>
            <a:off x="4201411" y="6059929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7D48283-1C22-8BDD-712C-C33951570D41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latin typeface="Aptos" panose="020B0004020202020204" pitchFamily="34" charset="0"/>
                <a:cs typeface="Aparajita" panose="020B0502040204020203" pitchFamily="18" charset="0"/>
              </a:rPr>
              <a:t>Linux</a:t>
            </a: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 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43D7E6-45A1-D68B-F5B4-725C68D9C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4977" y="2535242"/>
            <a:ext cx="59055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323439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</a:rPr>
              <a:t>Introduction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</a:rPr>
              <a:t>Windows VS. Linux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Linux Commands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</a:rPr>
              <a:t>Bash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2" name="TextBox 10">
            <a:extLst>
              <a:ext uri="{FF2B5EF4-FFF2-40B4-BE49-F238E27FC236}">
                <a16:creationId xmlns:a16="http://schemas.microsoft.com/office/drawing/2014/main" id="{A74FBB53-0533-0E92-CC67-5687ADF9865F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Content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923330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Linux is an open source operating system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Different distributions (or known as distros)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Most common one is Ubuntu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9CF23D5-AD6B-B6F8-516C-D55BA6605A20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Introduction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What is Linux?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5284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200329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Servers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Development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Embedded Systems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Desktop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9CF23D5-AD6B-B6F8-516C-D55BA6605A20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Introduction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Usage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8810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2585323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software that manages computer hardware and software resources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Ensures running programs don’t interfere with each other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Process Management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Memory Management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File </a:t>
            </a:r>
            <a:r>
              <a:rPr lang="en-US" kern="0" dirty="0">
                <a:solidFill>
                  <a:srgbClr val="000000"/>
                </a:solidFill>
                <a:latin typeface="Aptos" panose="020B0004020202020204" pitchFamily="34" charset="0"/>
              </a:rPr>
              <a:t>System Management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kern="0" dirty="0">
                <a:solidFill>
                  <a:srgbClr val="000000"/>
                </a:solidFill>
                <a:latin typeface="Aptos" panose="020B0004020202020204" pitchFamily="34" charset="0"/>
              </a:rPr>
              <a:t>Device Management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kern="0" dirty="0">
                <a:solidFill>
                  <a:srgbClr val="000000"/>
                </a:solidFill>
                <a:latin typeface="Aptos" panose="020B0004020202020204" pitchFamily="34" charset="0"/>
              </a:rPr>
              <a:t>Security and Access Control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kern="0" dirty="0">
                <a:solidFill>
                  <a:srgbClr val="000000"/>
                </a:solidFill>
                <a:latin typeface="Aptos" panose="020B0004020202020204" pitchFamily="34" charset="0"/>
              </a:rPr>
              <a:t>User Interface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9CF23D5-AD6B-B6F8-516C-D55BA6605A20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Introduction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What is an OS?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92131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A2EAA83-E920-0563-B1C6-1030F7A80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361" y="2694844"/>
            <a:ext cx="6585125" cy="3245879"/>
          </a:xfrm>
          <a:prstGeom prst="rect">
            <a:avLst/>
          </a:prstGeom>
        </p:spPr>
      </p:pic>
      <p:sp>
        <p:nvSpPr>
          <p:cNvPr id="3" name="TextBox 10">
            <a:extLst>
              <a:ext uri="{FF2B5EF4-FFF2-40B4-BE49-F238E27FC236}">
                <a16:creationId xmlns:a16="http://schemas.microsoft.com/office/drawing/2014/main" id="{7481957A-FAB0-8694-1925-4498A0A8720D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Features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119BA9-EC42-B8BC-468B-63F6714BC212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Introduction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943129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754326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Named after Linus Torvalds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Combo of </a:t>
            </a:r>
            <a:r>
              <a:rPr lang="en-US" b="1" dirty="0">
                <a:solidFill>
                  <a:srgbClr val="000000"/>
                </a:solidFill>
                <a:latin typeface="Aptos" panose="020B0004020202020204" pitchFamily="34" charset="0"/>
              </a:rPr>
              <a:t>Linu</a:t>
            </a: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s + Uni</a:t>
            </a:r>
            <a:r>
              <a:rPr lang="en-US" b="1" dirty="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Developed it in 1991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Initially was named: </a:t>
            </a:r>
            <a:r>
              <a:rPr lang="en-US" dirty="0" err="1">
                <a:solidFill>
                  <a:srgbClr val="000000"/>
                </a:solidFill>
                <a:latin typeface="Aptos" panose="020B0004020202020204" pitchFamily="34" charset="0"/>
              </a:rPr>
              <a:t>Freax</a:t>
            </a:r>
            <a:endParaRPr lang="en-US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Combo of: </a:t>
            </a:r>
            <a:r>
              <a:rPr lang="en-US" b="1" dirty="0">
                <a:solidFill>
                  <a:srgbClr val="000000"/>
                </a:solidFill>
                <a:latin typeface="Aptos" panose="020B0004020202020204" pitchFamily="34" charset="0"/>
              </a:rPr>
              <a:t>Fre</a:t>
            </a: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e, </a:t>
            </a:r>
            <a:r>
              <a:rPr lang="en-US" b="1" dirty="0">
                <a:solidFill>
                  <a:srgbClr val="000000"/>
                </a:solidFill>
                <a:latin typeface="Aptos" panose="020B0004020202020204" pitchFamily="34" charset="0"/>
              </a:rPr>
              <a:t>Frea</a:t>
            </a: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k, Uni</a:t>
            </a:r>
            <a:r>
              <a:rPr lang="en-US" b="1" dirty="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endParaRPr lang="en-US" b="1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Naming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Introduction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578082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83099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Windows VS. Linux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D6EF2C-9601-9BED-050F-A46C78615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236" y="2412901"/>
            <a:ext cx="619125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255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754326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Linux and Windows. 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Each has its own set of unique features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advantages and disadvantages. 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While it is difficult to say which one is the better choice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it is not as difficult to answer which is the better choice given your needs.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Which is better?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83099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Windows VS. Linux</a:t>
            </a:r>
          </a:p>
        </p:txBody>
      </p:sp>
    </p:spTree>
    <p:extLst>
      <p:ext uri="{BB962C8B-B14F-4D97-AF65-F5344CB8AC3E}">
        <p14:creationId xmlns:p14="http://schemas.microsoft.com/office/powerpoint/2010/main" val="296339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754326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Windows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Closed Source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Need to Purchase a License to use it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Linux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Open</a:t>
            </a: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-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Source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Free or Low Cost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Licensing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83099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Windows VS. Linux</a:t>
            </a:r>
          </a:p>
        </p:txBody>
      </p:sp>
    </p:spTree>
    <p:extLst>
      <p:ext uri="{BB962C8B-B14F-4D97-AF65-F5344CB8AC3E}">
        <p14:creationId xmlns:p14="http://schemas.microsoft.com/office/powerpoint/2010/main" val="1036920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2031325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Windows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Known for its user-friendly GUI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Customization: allows some customization, but is limited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Linux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variety of desktop 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envs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: GNOME, KDE, XFCE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users normally use CLI extensively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UI is </a:t>
            </a: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highly customizable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User Interface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83099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Windows VS. Linux</a:t>
            </a:r>
          </a:p>
        </p:txBody>
      </p:sp>
    </p:spTree>
    <p:extLst>
      <p:ext uri="{BB962C8B-B14F-4D97-AF65-F5344CB8AC3E}">
        <p14:creationId xmlns:p14="http://schemas.microsoft.com/office/powerpoint/2010/main" val="693546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754326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Windows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Wide Compatibility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Limited Open Source software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Linux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Limited Proprietary software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Rich in open source software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Software Support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83099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Windows VS. Linux</a:t>
            </a:r>
          </a:p>
        </p:txBody>
      </p:sp>
    </p:spTree>
    <p:extLst>
      <p:ext uri="{BB962C8B-B14F-4D97-AF65-F5344CB8AC3E}">
        <p14:creationId xmlns:p14="http://schemas.microsoft.com/office/powerpoint/2010/main" val="945386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754326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Windows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Target for malware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Improved security over the years, with features like UAC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Linux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Strong Security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Open Source Advantage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Security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83099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Windows VS. Linux</a:t>
            </a:r>
          </a:p>
        </p:txBody>
      </p:sp>
    </p:spTree>
    <p:extLst>
      <p:ext uri="{BB962C8B-B14F-4D97-AF65-F5344CB8AC3E}">
        <p14:creationId xmlns:p14="http://schemas.microsoft.com/office/powerpoint/2010/main" val="4015505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754326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Windows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kern="0" dirty="0">
                <a:solidFill>
                  <a:srgbClr val="000000"/>
                </a:solidFill>
                <a:latin typeface="Aptos" panose="020B0004020202020204" pitchFamily="34" charset="0"/>
              </a:rPr>
              <a:t>Resource Intensive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kern="0" dirty="0">
                <a:solidFill>
                  <a:srgbClr val="000000"/>
                </a:solidFill>
                <a:latin typeface="Aptos" panose="020B0004020202020204" pitchFamily="34" charset="0"/>
              </a:rPr>
              <a:t>Optimized for GUI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Linux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Efficient and Lightweight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Scalable Performance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Performance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83099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Windows VS. Linux</a:t>
            </a:r>
          </a:p>
        </p:txBody>
      </p:sp>
    </p:spTree>
    <p:extLst>
      <p:ext uri="{BB962C8B-B14F-4D97-AF65-F5344CB8AC3E}">
        <p14:creationId xmlns:p14="http://schemas.microsoft.com/office/powerpoint/2010/main" val="1918822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200329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File System and Management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Updates and Software Management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Community and Support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Use Cases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Other differences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83099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Windows VS. Linux</a:t>
            </a:r>
          </a:p>
        </p:txBody>
      </p:sp>
    </p:spTree>
    <p:extLst>
      <p:ext uri="{BB962C8B-B14F-4D97-AF65-F5344CB8AC3E}">
        <p14:creationId xmlns:p14="http://schemas.microsoft.com/office/powerpoint/2010/main" val="1498644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Quick Comparison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83099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Windows VS. Linux</a:t>
            </a:r>
          </a:p>
        </p:txBody>
      </p:sp>
      <p:pic>
        <p:nvPicPr>
          <p:cNvPr id="8194" name="Picture 2" descr="windows vs linux">
            <a:extLst>
              <a:ext uri="{FF2B5EF4-FFF2-40B4-BE49-F238E27FC236}">
                <a16:creationId xmlns:a16="http://schemas.microsoft.com/office/drawing/2014/main" id="{95A9FC32-B26A-DDA8-EA9F-D849EEF08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385" y="2412873"/>
            <a:ext cx="5445120" cy="4088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685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3374A2-D6DE-A0E9-E5BB-49CEC4A37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945" y="2765326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34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3693319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The Terminal is a text-based interface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where all commands in Linux are run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Usage: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File Management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Process Management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Text Manipulation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Package Management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Networking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Run: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Let’s Open a terminal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Right click -&gt; new terminal window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Terminal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201185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646331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Get current working directory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Always returns the “Absolute Path”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 err="1">
                <a:solidFill>
                  <a:srgbClr val="E97132"/>
                </a:solidFill>
                <a:uFillTx/>
                <a:latin typeface="Aptos"/>
              </a:rPr>
              <a:t>pwd</a:t>
            </a: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 command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214656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477328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Used for listing files and directories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Usage: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‘ls’ – list the files in current directory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‘ls file/folder name’ – list the files / folders per the given input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‘ll’ – not a standard command it is an alias to  ‘ls –l’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ls command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054967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2031325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-r : reverse the order of listing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-l : use long listing format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-t : sort by modification time, newest first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-a : do not ignore entries starting with 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-d : list directories themselves, not their contents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Combining options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ls command options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662166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492AF-314A-4331-41D1-964B03870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4548C674-37F0-AF15-A7CB-9AF4CEB37414}"/>
              </a:ext>
            </a:extLst>
          </p:cNvPr>
          <p:cNvSpPr txBox="1"/>
          <p:nvPr/>
        </p:nvSpPr>
        <p:spPr>
          <a:xfrm>
            <a:off x="4396145" y="2486673"/>
            <a:ext cx="6512182" cy="1477328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Used for list and use the command history used so far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!n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!!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!-n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-c option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ADEFA9CD-9856-67C2-BB02-E16DD81B21D3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CD311BB7-F69E-0509-A9A0-D61EE7AD3C58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013BC10E-0134-BCE0-A4AA-EA313B825E4E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E97132"/>
                </a:solidFill>
                <a:latin typeface="Aptos"/>
              </a:rPr>
              <a:t>history command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11599B-1C6A-FB37-04B5-18439B38C82B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145868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923330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User (Owner)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Group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Others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571402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E97132"/>
                </a:solidFill>
                <a:latin typeface="Aptos"/>
              </a:rPr>
              <a:t>Permission Categories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954909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923330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Read (r)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Write (w)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Execute (x)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E97132"/>
                </a:solidFill>
                <a:latin typeface="Aptos"/>
              </a:rPr>
              <a:t>Permission Types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06830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2308324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chmod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command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Examples: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Add Permission: 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chmod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u+x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file_name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	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(add execute permission for the owner)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Remove Permission: 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chmod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g-w 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file_name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	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(remove write permission for the group)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Set Exact Permissions: 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chmod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u=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rwx,g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=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rx,o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=r 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file_name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</a:t>
            </a:r>
          </a:p>
          <a:p>
            <a:pPr lvl="1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	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(set permissions exactly)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571402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E97132"/>
                </a:solidFill>
                <a:latin typeface="Aptos"/>
              </a:rPr>
              <a:t>Changing Permissions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12978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3416320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Permissions can also be represented using octal numbers</a:t>
            </a:r>
          </a:p>
          <a:p>
            <a:pPr marR="0" lvl="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Each permission type has a numeric value:</a:t>
            </a:r>
          </a:p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Read (r) = 4</a:t>
            </a:r>
          </a:p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Write (w) = 2</a:t>
            </a:r>
          </a:p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Execute (x) = 1</a:t>
            </a:r>
          </a:p>
          <a:p>
            <a:pPr marR="0" lvl="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Combine these values to set permissions:</a:t>
            </a:r>
          </a:p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dirty="0">
                <a:solidFill>
                  <a:srgbClr val="000000"/>
                </a:solidFill>
                <a:latin typeface="Aptos" panose="020B0004020202020204" pitchFamily="34" charset="0"/>
              </a:rPr>
              <a:t>7 = rwx (4+2+1)</a:t>
            </a:r>
          </a:p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dirty="0">
                <a:solidFill>
                  <a:srgbClr val="000000"/>
                </a:solidFill>
                <a:latin typeface="Aptos" panose="020B0004020202020204" pitchFamily="34" charset="0"/>
              </a:rPr>
              <a:t>6 = rw- (4+2)</a:t>
            </a:r>
          </a:p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dirty="0">
                <a:solidFill>
                  <a:srgbClr val="000000"/>
                </a:solidFill>
                <a:latin typeface="Aptos" panose="020B0004020202020204" pitchFamily="34" charset="0"/>
              </a:rPr>
              <a:t>5 = r-x (4+1)</a:t>
            </a:r>
          </a:p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dirty="0">
                <a:solidFill>
                  <a:srgbClr val="000000"/>
                </a:solidFill>
                <a:latin typeface="Aptos" panose="020B0004020202020204" pitchFamily="34" charset="0"/>
              </a:rPr>
              <a:t>4 = r-- (4)</a:t>
            </a:r>
          </a:p>
          <a:p>
            <a:pPr marR="0" lvl="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dirty="0">
                <a:solidFill>
                  <a:srgbClr val="000000"/>
                </a:solidFill>
                <a:latin typeface="Aptos" panose="020B0004020202020204" pitchFamily="34" charset="0"/>
              </a:rPr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 err="1"/>
              <a:t>chmod</a:t>
            </a:r>
            <a:r>
              <a:rPr lang="en-US" dirty="0"/>
              <a:t> 755 </a:t>
            </a:r>
            <a:r>
              <a:rPr lang="en-US" dirty="0" err="1"/>
              <a:t>file_name</a:t>
            </a:r>
            <a:endParaRPr lang="en-US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3676302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E97132"/>
                </a:solidFill>
                <a:latin typeface="Aptos"/>
              </a:rPr>
              <a:t>Changing Permissions (numbers)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4157443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200329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Creates a new directory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Usage: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mkdir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[options] 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directory_name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Create multiple directories at once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 err="1">
                <a:solidFill>
                  <a:srgbClr val="E97132"/>
                </a:solidFill>
                <a:uFillTx/>
                <a:latin typeface="Aptos"/>
              </a:rPr>
              <a:t>mkdir</a:t>
            </a: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 command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716193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2031325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Removes a directory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What happens in case the directory exists?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What if it exist</a:t>
            </a: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s and has some files and folders?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What if it doesn’t exist?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Removing multiple directories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Using relative / absolute path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 err="1">
                <a:solidFill>
                  <a:srgbClr val="E97132"/>
                </a:solidFill>
                <a:uFillTx/>
                <a:latin typeface="Aptos"/>
              </a:rPr>
              <a:t>rmdir</a:t>
            </a: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 command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204157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754326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cd = Change Directory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Changes the current directory to the given one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Relative path / Absolute path</a:t>
            </a:r>
            <a:endParaRPr lang="en-US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The ‘</a:t>
            </a: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..’ directory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The ‘/’ directory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The ‘~’ directory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cd command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101387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754326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Display a line of text to the terminal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Usage: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echo [options] [string]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Example: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echo Hello, World!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echo -e "Line 1\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nLine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2"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echo command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8988492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2308324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/>
              <a:t>redirection is a technique used to change the default input and output sources for commands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Example: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e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cho “Hello MST World!” &gt; “mst.txt”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types of redirection: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&gt;	Overwrite Redirection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&gt;&gt;	Append Redirection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2&gt;&amp;1	Redirects the standard error to the standard output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Redirection &gt;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0347329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477328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Creates a new empty file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Usage: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touch [options] 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file_name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Creating multiple files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What happens if  the file exists?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touch command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220264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3416320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concatenates and displays the contents of files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Usage: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cat [options] [file...]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Concatenate Multiple files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Example: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redirect output to new file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	cat file1.txt file2.txt &gt; combined.txt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Create a New File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	</a:t>
            </a:r>
            <a:r>
              <a:rPr lang="en-US" kern="0" dirty="0">
                <a:solidFill>
                  <a:srgbClr val="000000"/>
                </a:solidFill>
                <a:latin typeface="Aptos" panose="020B0004020202020204" pitchFamily="34" charset="0"/>
              </a:rPr>
              <a:t>cat &gt; newfile.txt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kern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Display line numbers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	cat –n file.txt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cat command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7938775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2585323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Linux is a pager program used for viewing the contents of a file one screen at a time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View multiple files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-N : show line numbers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R="0" lvl="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Navigation:</a:t>
            </a:r>
          </a:p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Scroll up/down [one line / one page]</a:t>
            </a:r>
          </a:p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Go To begin/end</a:t>
            </a:r>
          </a:p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Search forward/backward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q - quit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less command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7328432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2308324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Search for some data inside files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grep “Hello” mst.txt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grep –l “Hello” *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here * means all files, since it is used as a wildcard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-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i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: case insensitive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-c: count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-r: recursively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grep command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0360491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754326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Used to redirect the output of the current command to the input of the next command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Syntax: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command1 | command2 | command3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Example: 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cat mst.txt | grep “Hello”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Pipelining |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8925608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646331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Can be used in order to run multiple commands in one line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Example: cat mst1.txt; cat mst2.txt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The ‘;’ separator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8693260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923330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Used to copy files / directories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cp mst.txt folder/mst2.txt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-r</a:t>
            </a: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: recursive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cp command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4906950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923330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removes files / directories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rm mst.txt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-r: recursive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rm command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0625240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5010F-4413-AFF8-66A5-BC6655037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9861B878-0CE0-9802-5ACC-C6D97CFFC174}"/>
              </a:ext>
            </a:extLst>
          </p:cNvPr>
          <p:cNvSpPr txBox="1"/>
          <p:nvPr/>
        </p:nvSpPr>
        <p:spPr>
          <a:xfrm>
            <a:off x="4396145" y="2486673"/>
            <a:ext cx="6512182" cy="1754326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 err="1">
                <a:solidFill>
                  <a:srgbClr val="000000"/>
                </a:solidFill>
                <a:latin typeface="Aptos" panose="020B0004020202020204" pitchFamily="34" charset="0"/>
              </a:rPr>
              <a:t>ps</a:t>
            </a:r>
            <a:endParaRPr lang="en-US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top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kill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jobs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 err="1">
                <a:solidFill>
                  <a:srgbClr val="000000"/>
                </a:solidFill>
                <a:latin typeface="Aptos" panose="020B0004020202020204" pitchFamily="34" charset="0"/>
              </a:rPr>
              <a:t>fg</a:t>
            </a:r>
            <a:endParaRPr lang="en-US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 err="1">
                <a:solidFill>
                  <a:srgbClr val="000000"/>
                </a:solidFill>
                <a:latin typeface="Aptos" panose="020B0004020202020204" pitchFamily="34" charset="0"/>
              </a:rPr>
              <a:t>bg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E25A17E7-BFDD-79B7-EC8C-D1B7B4386E82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35FDDCA5-8376-DC28-F479-F2DD40B8E47F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67869592-2D75-5179-3F56-43795721A06B}"/>
              </a:ext>
            </a:extLst>
          </p:cNvPr>
          <p:cNvSpPr txBox="1"/>
          <p:nvPr/>
        </p:nvSpPr>
        <p:spPr>
          <a:xfrm>
            <a:off x="3994498" y="1859161"/>
            <a:ext cx="3078964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Process related commands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C44F9F-1704-8F39-896E-D526AF612802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1672998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27310-AB4D-5211-E70E-4F307758C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80C8BAF-80F0-1082-8713-55688CE9740D}"/>
              </a:ext>
            </a:extLst>
          </p:cNvPr>
          <p:cNvSpPr txBox="1"/>
          <p:nvPr/>
        </p:nvSpPr>
        <p:spPr>
          <a:xfrm>
            <a:off x="4396145" y="2486673"/>
            <a:ext cx="6512182" cy="1754326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ping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curl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 err="1">
                <a:solidFill>
                  <a:srgbClr val="000000"/>
                </a:solidFill>
                <a:latin typeface="Aptos" panose="020B0004020202020204" pitchFamily="34" charset="0"/>
              </a:rPr>
              <a:t>wget</a:t>
            </a:r>
            <a:endParaRPr lang="en-US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netstat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ss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apt / </a:t>
            </a:r>
            <a:r>
              <a:rPr lang="en-US" dirty="0" err="1">
                <a:solidFill>
                  <a:srgbClr val="000000"/>
                </a:solidFill>
                <a:latin typeface="Aptos" panose="020B0004020202020204" pitchFamily="34" charset="0"/>
              </a:rPr>
              <a:t>dnf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D222FE17-B06A-BB70-22DF-AB1E338C1C9E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ABBED6E5-219A-5797-F5BF-CEAFA4E277DD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7E6D04F-ADCF-2F55-8942-74002C414A40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ACED6F11-399C-8F42-EBBE-B6CE9A69625C}"/>
              </a:ext>
            </a:extLst>
          </p:cNvPr>
          <p:cNvSpPr txBox="1"/>
          <p:nvPr/>
        </p:nvSpPr>
        <p:spPr>
          <a:xfrm>
            <a:off x="3994498" y="1859161"/>
            <a:ext cx="4903842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Network &amp; package management commands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543860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754326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i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– insert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dd – delete current row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:q! – quit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:</a:t>
            </a:r>
            <a:r>
              <a:rPr lang="en-US" dirty="0" err="1">
                <a:solidFill>
                  <a:srgbClr val="000000"/>
                </a:solidFill>
                <a:latin typeface="Aptos" panose="020B0004020202020204" pitchFamily="34" charset="0"/>
              </a:rPr>
              <a:t>wq</a:t>
            </a: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! – write then quit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/ - searches forward in the file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? – searches backward in the file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vi text editor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6569663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200329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wc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–l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head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tail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more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Other commands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Linux Commands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1923132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Bash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F4482E5-7397-8776-36D9-866EFB0C4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018" y="2731216"/>
            <a:ext cx="7101252" cy="2996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5756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477328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Short for 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Bourne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Again Shell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Command-Line Shell &amp; Scripting language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Widely used in Unix-like OS and macOS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Default Shell for many Linux distros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Known for its versatility and Powerful features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What is Bash?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Bash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4570172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2585323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Command Line Interface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Scripting Language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Interactive Features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Command History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Tab Completion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Job Control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Pipes and Redirection |, &gt;, &lt;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Variables and Control Structures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Aliases and Functions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Key Features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Bash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2448286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477328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Create a new file with extension .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sh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Include a shebang (#!/b</a:t>
            </a: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in/hash) at the top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Write the commands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Make the file executable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Run the file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Basic Usage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Bash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7260876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1477328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Viewing Bash Version</a:t>
            </a:r>
          </a:p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Setting and Using Variables</a:t>
            </a:r>
          </a:p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Creating Aliases</a:t>
            </a:r>
          </a:p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Using Job Control</a:t>
            </a:r>
          </a:p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Scripting (Example)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3333402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Key Commands and Concepts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Bash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2839754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369332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Live Example(s)</a:t>
            </a:r>
            <a:endParaRPr lang="en-US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CD7139FF-F8B5-E333-DAEF-0DDADE88F309}"/>
              </a:ext>
            </a:extLst>
          </p:cNvPr>
          <p:cNvSpPr txBox="1"/>
          <p:nvPr/>
        </p:nvSpPr>
        <p:spPr>
          <a:xfrm>
            <a:off x="3994498" y="1859161"/>
            <a:ext cx="3333402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Script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A0671-C2BC-68AD-E956-8716BEE909F6}"/>
              </a:ext>
            </a:extLst>
          </p:cNvPr>
          <p:cNvSpPr/>
          <p:nvPr/>
        </p:nvSpPr>
        <p:spPr>
          <a:xfrm>
            <a:off x="1244184" y="3429000"/>
            <a:ext cx="2431703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 Display"/>
              </a:rPr>
              <a:t>Bash</a:t>
            </a:r>
            <a:endParaRPr lang="-" sz="240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904538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443E95-45E2-BAD9-BA32-70DB9BC562A9}"/>
              </a:ext>
            </a:extLst>
          </p:cNvPr>
          <p:cNvSpPr txBox="1"/>
          <p:nvPr/>
        </p:nvSpPr>
        <p:spPr>
          <a:xfrm>
            <a:off x="5488572" y="3321727"/>
            <a:ext cx="2830676" cy="677104"/>
          </a:xfrm>
          <a:prstGeom prst="rect">
            <a:avLst/>
          </a:prstGeom>
          <a:noFill/>
          <a:ln w="28575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800" b="1" i="0" u="none" strike="noStrike" kern="1200" cap="none" spc="0" baseline="0" dirty="0">
                <a:solidFill>
                  <a:srgbClr val="C00000"/>
                </a:solidFill>
                <a:highlight>
                  <a:srgbClr val="FFFFFF"/>
                </a:highlight>
                <a:uFillTx/>
              </a:rPr>
              <a:t>Thank You !!</a:t>
            </a:r>
            <a:endParaRPr lang="en-US" sz="3800" b="0" i="0" u="none" strike="noStrike" kern="1200" cap="none" spc="0" baseline="0" dirty="0">
              <a:solidFill>
                <a:srgbClr val="C00000"/>
              </a:solidFill>
              <a:highlight>
                <a:srgbClr val="FFFFFF"/>
              </a:highlight>
              <a:uFillTx/>
            </a:endParaRPr>
          </a:p>
        </p:txBody>
      </p:sp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E686D22F-8822-4254-112B-5F624821B35B}"/>
              </a:ext>
            </a:extLst>
          </p:cNvPr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3" name="Straight Connector 12">
            <a:extLst>
              <a:ext uri="{FF2B5EF4-FFF2-40B4-BE49-F238E27FC236}">
                <a16:creationId xmlns:a16="http://schemas.microsoft.com/office/drawing/2014/main" id="{269B3DDA-4BF8-EB20-6863-70144521ADFF}"/>
              </a:ext>
            </a:extLst>
          </p:cNvPr>
          <p:cNvCxnSpPr/>
          <p:nvPr/>
        </p:nvCxnSpPr>
        <p:spPr>
          <a:xfrm>
            <a:off x="4187485" y="5066763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1889</TotalTime>
  <Words>1420</Words>
  <Application>Microsoft Office PowerPoint</Application>
  <PresentationFormat>Widescreen</PresentationFormat>
  <Paragraphs>386</Paragraphs>
  <Slides>50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Aptos</vt:lpstr>
      <vt:lpstr>Aptos Display</vt:lpstr>
      <vt:lpstr>Arial</vt:lpstr>
      <vt:lpstr>Calibri</vt:lpstr>
      <vt:lpstr>Calibri Light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Java</dc:title>
  <dc:creator>Dawod Kabha</dc:creator>
  <cp:lastModifiedBy>Ameen</cp:lastModifiedBy>
  <cp:revision>309</cp:revision>
  <dcterms:created xsi:type="dcterms:W3CDTF">2023-12-24T19:10:34Z</dcterms:created>
  <dcterms:modified xsi:type="dcterms:W3CDTF">2025-08-24T18:10:57Z</dcterms:modified>
</cp:coreProperties>
</file>